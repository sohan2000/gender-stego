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6858000" cy="9144000"/>
  <p:embeddedFontLst>
    <p:embeddedFont>
      <p:font typeface="Roboto"/>
      <p:regular r:id="rId55"/>
      <p:bold r:id="rId56"/>
      <p:italic r:id="rId57"/>
      <p:boldItalic r:id="rId58"/>
    </p:embeddedFont>
    <p:embeddedFont>
      <p:font typeface="Trispace"/>
      <p:regular r:id="rId59"/>
      <p:bold r:id="rId60"/>
    </p:embeddedFont>
    <p:embeddedFont>
      <p:font typeface="Bebas Neue"/>
      <p:regular r:id="rId61"/>
    </p:embeddedFont>
    <p:embeddedFont>
      <p:font typeface="Maven Pro"/>
      <p:regular r:id="rId62"/>
      <p:bold r:id="rId63"/>
    </p:embeddedFont>
    <p:embeddedFont>
      <p:font typeface="PT Sans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2E40E0-5445-4949-82BA-32F7E7773C31}">
  <a:tblStyle styleId="{7D2E40E0-5445-4949-82BA-32F7E7773C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avenPro-regular.fntdata"/><Relationship Id="rId61" Type="http://schemas.openxmlformats.org/officeDocument/2006/relationships/font" Target="fonts/BebasNeue-regular.fntdata"/><Relationship Id="rId20" Type="http://schemas.openxmlformats.org/officeDocument/2006/relationships/slide" Target="slides/slide15.xml"/><Relationship Id="rId64" Type="http://schemas.openxmlformats.org/officeDocument/2006/relationships/font" Target="fonts/PTSans-regular.fntdata"/><Relationship Id="rId63" Type="http://schemas.openxmlformats.org/officeDocument/2006/relationships/font" Target="fonts/MavenPro-bold.fntdata"/><Relationship Id="rId22" Type="http://schemas.openxmlformats.org/officeDocument/2006/relationships/slide" Target="slides/slide17.xml"/><Relationship Id="rId66" Type="http://schemas.openxmlformats.org/officeDocument/2006/relationships/font" Target="fonts/PTSans-italic.fntdata"/><Relationship Id="rId21" Type="http://schemas.openxmlformats.org/officeDocument/2006/relationships/slide" Target="slides/slide16.xml"/><Relationship Id="rId65" Type="http://schemas.openxmlformats.org/officeDocument/2006/relationships/font" Target="fonts/PTSans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schemas.openxmlformats.org/officeDocument/2006/relationships/font" Target="fonts/PTSans-boldItalic.fntdata"/><Relationship Id="rId60" Type="http://schemas.openxmlformats.org/officeDocument/2006/relationships/font" Target="fonts/Trispace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oboto-italic.fntdata"/><Relationship Id="rId12" Type="http://schemas.openxmlformats.org/officeDocument/2006/relationships/slide" Target="slides/slide7.xml"/><Relationship Id="rId56" Type="http://schemas.openxmlformats.org/officeDocument/2006/relationships/font" Target="fonts/Roboto-bold.fntdata"/><Relationship Id="rId15" Type="http://schemas.openxmlformats.org/officeDocument/2006/relationships/slide" Target="slides/slide10.xml"/><Relationship Id="rId59" Type="http://schemas.openxmlformats.org/officeDocument/2006/relationships/font" Target="fonts/Trispace-regular.fntdata"/><Relationship Id="rId14" Type="http://schemas.openxmlformats.org/officeDocument/2006/relationships/slide" Target="slides/slide9.xml"/><Relationship Id="rId58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f86407590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f86407590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f88d1837e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f88d1837e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f88d1837e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f88d1837e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f88d1837e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f88d1837e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7f28c813b8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7f28c813b8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7f28c813b8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7f28c813b8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86d4dbe5d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86d4dbe5d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f864075906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f864075906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7f28c813b8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7f28c813b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7f28c813b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7f28c813b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d5842b93c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d5842b93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f88d1837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f88d1837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86d4dbe5d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86d4dbe5d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86d4dbe5d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86d4dbe5d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86d4dbe5d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86d4dbe5d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e6d1255e2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e6d1255e2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Simplify Diagram and add stepwise flow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more visuals for each module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success and failure cases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qualitative and quantitative data output for each stage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This gives scope for future work, how to improve.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Draw different architectures for each stage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name for each stage. Group each module (box border)</a:t>
            </a:r>
            <a:endParaRPr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7f28c813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7f28c813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7f28c813b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7f28c813b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86d4dbe5d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86d4dbe5d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Simplify Diagram and add stepwise flow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more visuals for each module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success and failure cases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qualitative and quantitative data output for each stage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This gives scope for future work, how to improve.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Draw different architectures for each stage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name for each stage. Group each module (box border)</a:t>
            </a:r>
            <a:endParaRPr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84a0ad7f1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84a0ad7f1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86d4dbe5d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86d4dbe5d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Simplify Diagram and add stepwise flow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more visuals for each module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success and failure cases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qualitative and quantitative data output for each stage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This gives scope for future work, how to improve.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Draw different architectures for each stage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name for each stage. Group each module (box border)</a:t>
            </a:r>
            <a:endParaRPr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f28c813b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7f28c813b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f88d1837e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2f88d1837e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Simplify Diagram and add stepwise flow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more visuals for each module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success and failure cases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qualitative and quantitative data output for each stage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This gives scope for future work, how to improve.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Draw different architectures for each stage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name for each stage. Group each module (box border)</a:t>
            </a:r>
            <a:endParaRPr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7f28c813b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7f28c813b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e6d1255e2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e6d1255e2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Simplify Diagram and add stepwise flow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more visuals for each module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success and failure cases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qualitative and quantitative data output for each stage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This gives scope for future work, how to improve.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Draw different architectures for each stage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name for each stage. Group each module (box border)</a:t>
            </a:r>
            <a:endParaRPr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7f28c813b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7f28c813b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86d4dbe5d2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86d4dbe5d2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d5842b93c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d5842b93c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86d4dbe5d2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86d4dbe5d2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d5842b93c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d5842b93c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86d4dbe5d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86d4dbe5d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d5842b93c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d5842b93c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86d4dbe5d2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86d4dbe5d2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d5842b93c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d5842b93c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86d4dbe5d2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86d4dbe5d2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d5842b93c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d5842b93c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86d4dbe5d2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86d4dbe5d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d5842b93c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d5842b93c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86d4dbe5d2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86d4dbe5d2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86d4dbe5d2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86d4dbe5d2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86d4dbe5d2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86d4dbe5d2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e3324f414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e3324f414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86d4dbe5d2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86d4dbe5d2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e3324f414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3e3324f414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f864075906_3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f864075906_3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e3324f414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e3324f414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7f28c813b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7f28c813b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7f73c7f3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7f73c7f3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99f2f57a71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99f2f57a71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50050" y="165212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129998" y="3268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650101">
            <a:off x="-1796682" y="-2203059"/>
            <a:ext cx="3817087" cy="3985301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1007425" y="819213"/>
            <a:ext cx="3033000" cy="27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217100" y="3702075"/>
            <a:ext cx="1823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 flipH="1">
            <a:off x="-847382" y="2075875"/>
            <a:ext cx="5842699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638834" y="-220904"/>
            <a:ext cx="2625339" cy="1785511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7542636" y="81040"/>
            <a:ext cx="1521562" cy="1069823"/>
            <a:chOff x="7542636" y="81040"/>
            <a:chExt cx="1521562" cy="1069823"/>
          </a:xfrm>
        </p:grpSpPr>
        <p:sp>
          <p:nvSpPr>
            <p:cNvPr id="20" name="Google Shape;20;p3"/>
            <p:cNvSpPr/>
            <p:nvPr/>
          </p:nvSpPr>
          <p:spPr>
            <a:xfrm>
              <a:off x="8132548" y="810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8737186" y="7529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7542636" y="13924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8048505" y="6820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 txBox="1"/>
          <p:nvPr>
            <p:ph type="title"/>
          </p:nvPr>
        </p:nvSpPr>
        <p:spPr>
          <a:xfrm>
            <a:off x="3525900" y="3189750"/>
            <a:ext cx="490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3"/>
          <p:cNvSpPr txBox="1"/>
          <p:nvPr>
            <p:ph hasCustomPrompt="1" idx="2" type="title"/>
          </p:nvPr>
        </p:nvSpPr>
        <p:spPr>
          <a:xfrm>
            <a:off x="5084000" y="1609750"/>
            <a:ext cx="1789200" cy="108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4523725" y="3162601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 rot="-10492926">
            <a:off x="-1867197" y="3324908"/>
            <a:ext cx="3817099" cy="3985333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" name="Google Shape;32;p4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33" name="Google Shape;33;p4"/>
            <p:cNvSpPr/>
            <p:nvPr/>
          </p:nvSpPr>
          <p:spPr>
            <a:xfrm>
              <a:off x="59978" y="42194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-54470" y="34743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338511" y="29671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338511" y="3830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" name="Google Shape;37;p4"/>
          <p:cNvGrpSpPr/>
          <p:nvPr/>
        </p:nvGrpSpPr>
        <p:grpSpPr>
          <a:xfrm>
            <a:off x="7450103" y="2640103"/>
            <a:ext cx="1597872" cy="2451290"/>
            <a:chOff x="7450103" y="2640103"/>
            <a:chExt cx="1597872" cy="2451290"/>
          </a:xfrm>
        </p:grpSpPr>
        <p:sp>
          <p:nvSpPr>
            <p:cNvPr id="38" name="Google Shape;38;p4"/>
            <p:cNvSpPr/>
            <p:nvPr/>
          </p:nvSpPr>
          <p:spPr>
            <a:xfrm>
              <a:off x="7450103" y="4431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430905" y="42535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8478061" y="26401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8478061" y="37598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8579205" y="33075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5052478" y="3569975"/>
            <a:ext cx="5371040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 rot="10644777">
            <a:off x="-1048849" y="-1303280"/>
            <a:ext cx="4634055" cy="282455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48" name="Google Shape;48;p5"/>
            <p:cNvSpPr/>
            <p:nvPr/>
          </p:nvSpPr>
          <p:spPr>
            <a:xfrm>
              <a:off x="187398" y="836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53072" y="12530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1259298" y="67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-62147" y="4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" name="Google Shape;52;p5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53" name="Google Shape;53;p5"/>
            <p:cNvSpPr/>
            <p:nvPr/>
          </p:nvSpPr>
          <p:spPr>
            <a:xfrm>
              <a:off x="8430903" y="39439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8622155" y="3519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6635180" y="46746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8185647" y="47899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5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1" type="subTitle"/>
          </p:nvPr>
        </p:nvSpPr>
        <p:spPr>
          <a:xfrm>
            <a:off x="5041779" y="2992900"/>
            <a:ext cx="30984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2" type="subTitle"/>
          </p:nvPr>
        </p:nvSpPr>
        <p:spPr>
          <a:xfrm>
            <a:off x="1003675" y="2992900"/>
            <a:ext cx="30984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3" type="subTitle"/>
          </p:nvPr>
        </p:nvSpPr>
        <p:spPr>
          <a:xfrm>
            <a:off x="1003675" y="2674275"/>
            <a:ext cx="30984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4" type="subTitle"/>
          </p:nvPr>
        </p:nvSpPr>
        <p:spPr>
          <a:xfrm>
            <a:off x="5041786" y="2674275"/>
            <a:ext cx="30984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" name="Google Shape;66;p6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67" name="Google Shape;67;p6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" name="Google Shape;70;p6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71" name="Google Shape;71;p6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" name="Google Shape;74;p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7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81" name="Google Shape;81;p7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" name="Google Shape;85;p7"/>
          <p:cNvSpPr txBox="1"/>
          <p:nvPr>
            <p:ph idx="1" type="body"/>
          </p:nvPr>
        </p:nvSpPr>
        <p:spPr>
          <a:xfrm>
            <a:off x="713100" y="1850100"/>
            <a:ext cx="5135400" cy="20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" name="Google Shape;86;p7"/>
          <p:cNvSpPr txBox="1"/>
          <p:nvPr>
            <p:ph type="title"/>
          </p:nvPr>
        </p:nvSpPr>
        <p:spPr>
          <a:xfrm>
            <a:off x="713100" y="1244700"/>
            <a:ext cx="5135400" cy="60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 rot="-6419074">
            <a:off x="4830466" y="-402088"/>
            <a:ext cx="7138425" cy="349137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 rot="5868956">
            <a:off x="-2972528" y="1025449"/>
            <a:ext cx="7138386" cy="349139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" name="Google Shape;91;p8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92" name="Google Shape;92;p8"/>
            <p:cNvSpPr/>
            <p:nvPr/>
          </p:nvSpPr>
          <p:spPr>
            <a:xfrm>
              <a:off x="8409504" y="254378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8107053" y="1250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8030823" y="254364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" name="Google Shape;95;p8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96" name="Google Shape;96;p8"/>
            <p:cNvSpPr/>
            <p:nvPr/>
          </p:nvSpPr>
          <p:spPr>
            <a:xfrm>
              <a:off x="266653" y="25817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713090" y="3958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262648" y="3515377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-137271" y="4115903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1" name="Google Shape;101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" name="Google Shape;104;p9"/>
          <p:cNvSpPr txBox="1"/>
          <p:nvPr>
            <p:ph idx="1" type="subTitle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5" name="Google Shape;105;p9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9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109" name="Google Shape;109;p9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9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/>
          <p:nvPr>
            <p:ph idx="2" type="pic"/>
          </p:nvPr>
        </p:nvSpPr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0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"/>
          <p:cNvSpPr/>
          <p:nvPr/>
        </p:nvSpPr>
        <p:spPr>
          <a:xfrm rot="-6419074">
            <a:off x="4830466" y="-402088"/>
            <a:ext cx="7138425" cy="349137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"/>
          <p:cNvSpPr/>
          <p:nvPr/>
        </p:nvSpPr>
        <p:spPr>
          <a:xfrm rot="5868956">
            <a:off x="-2972528" y="1025449"/>
            <a:ext cx="7138386" cy="349139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11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122" name="Google Shape;122;p11"/>
            <p:cNvSpPr/>
            <p:nvPr/>
          </p:nvSpPr>
          <p:spPr>
            <a:xfrm>
              <a:off x="8409504" y="254378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8107053" y="1250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8030823" y="254364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11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126" name="Google Shape;126;p11"/>
            <p:cNvSpPr/>
            <p:nvPr/>
          </p:nvSpPr>
          <p:spPr>
            <a:xfrm>
              <a:off x="266653" y="25817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713090" y="3958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262648" y="3515377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>
              <a:off x="-137271" y="4115903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1"/>
          <p:cNvSpPr txBox="1"/>
          <p:nvPr>
            <p:ph hasCustomPrompt="1" type="title"/>
          </p:nvPr>
        </p:nvSpPr>
        <p:spPr>
          <a:xfrm>
            <a:off x="1373900" y="2994097"/>
            <a:ext cx="63966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1" name="Google Shape;131;p11"/>
          <p:cNvSpPr txBox="1"/>
          <p:nvPr>
            <p:ph idx="1" type="subTitle"/>
          </p:nvPr>
        </p:nvSpPr>
        <p:spPr>
          <a:xfrm>
            <a:off x="3180375" y="3972588"/>
            <a:ext cx="27837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2" name="Google Shape;132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/>
          <p:nvPr/>
        </p:nvSpPr>
        <p:spPr>
          <a:xfrm>
            <a:off x="4176175" y="2967151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 rot="-10492926">
            <a:off x="-1478272" y="3333183"/>
            <a:ext cx="3817099" cy="3985333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139" name="Google Shape;139;p13"/>
            <p:cNvSpPr/>
            <p:nvPr/>
          </p:nvSpPr>
          <p:spPr>
            <a:xfrm>
              <a:off x="59978" y="42194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-54470" y="34743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338511" y="29671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338511" y="3830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" name="Google Shape;143;p13"/>
          <p:cNvGrpSpPr/>
          <p:nvPr/>
        </p:nvGrpSpPr>
        <p:grpSpPr>
          <a:xfrm>
            <a:off x="7524578" y="2640103"/>
            <a:ext cx="1523397" cy="2294040"/>
            <a:chOff x="7524578" y="2640103"/>
            <a:chExt cx="1523397" cy="2294040"/>
          </a:xfrm>
        </p:grpSpPr>
        <p:sp>
          <p:nvSpPr>
            <p:cNvPr id="144" name="Google Shape;144;p13"/>
            <p:cNvSpPr/>
            <p:nvPr/>
          </p:nvSpPr>
          <p:spPr>
            <a:xfrm>
              <a:off x="7524578" y="42740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8430905" y="42535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8478061" y="26401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8151036" y="37764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8579205" y="33075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13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" name="Google Shape;150;p13"/>
          <p:cNvSpPr txBox="1"/>
          <p:nvPr>
            <p:ph hasCustomPrompt="1" idx="2" type="title"/>
          </p:nvPr>
        </p:nvSpPr>
        <p:spPr>
          <a:xfrm>
            <a:off x="1255644" y="1753825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51" name="Google Shape;151;p13"/>
          <p:cNvSpPr txBox="1"/>
          <p:nvPr>
            <p:ph hasCustomPrompt="1" idx="3" type="title"/>
          </p:nvPr>
        </p:nvSpPr>
        <p:spPr>
          <a:xfrm>
            <a:off x="1255644" y="3258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52" name="Google Shape;152;p13"/>
          <p:cNvSpPr txBox="1"/>
          <p:nvPr>
            <p:ph hasCustomPrompt="1" idx="4" type="title"/>
          </p:nvPr>
        </p:nvSpPr>
        <p:spPr>
          <a:xfrm>
            <a:off x="4684638" y="1753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53" name="Google Shape;153;p13"/>
          <p:cNvSpPr txBox="1"/>
          <p:nvPr>
            <p:ph hasCustomPrompt="1" idx="5" type="title"/>
          </p:nvPr>
        </p:nvSpPr>
        <p:spPr>
          <a:xfrm>
            <a:off x="4684638" y="3258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54" name="Google Shape;154;p13"/>
          <p:cNvSpPr txBox="1"/>
          <p:nvPr>
            <p:ph idx="1" type="subTitle"/>
          </p:nvPr>
        </p:nvSpPr>
        <p:spPr>
          <a:xfrm>
            <a:off x="2307450" y="1753825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5" name="Google Shape;155;p13"/>
          <p:cNvSpPr txBox="1"/>
          <p:nvPr>
            <p:ph idx="6" type="subTitle"/>
          </p:nvPr>
        </p:nvSpPr>
        <p:spPr>
          <a:xfrm>
            <a:off x="5736450" y="1753825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6" name="Google Shape;156;p13"/>
          <p:cNvSpPr txBox="1"/>
          <p:nvPr>
            <p:ph idx="7" type="subTitle"/>
          </p:nvPr>
        </p:nvSpPr>
        <p:spPr>
          <a:xfrm>
            <a:off x="2307450" y="3258824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7" name="Google Shape;157;p13"/>
          <p:cNvSpPr txBox="1"/>
          <p:nvPr>
            <p:ph idx="8" type="subTitle"/>
          </p:nvPr>
        </p:nvSpPr>
        <p:spPr>
          <a:xfrm>
            <a:off x="5736450" y="3258824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8" name="Google Shape;158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4_1_1_2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/>
          <p:nvPr/>
        </p:nvSpPr>
        <p:spPr>
          <a:xfrm flipH="1" rot="1292342">
            <a:off x="-3321456" y="1927346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"/>
          <p:cNvSpPr/>
          <p:nvPr/>
        </p:nvSpPr>
        <p:spPr>
          <a:xfrm rot="4535783">
            <a:off x="6914450" y="2837966"/>
            <a:ext cx="3524110" cy="2396771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14"/>
          <p:cNvGrpSpPr/>
          <p:nvPr/>
        </p:nvGrpSpPr>
        <p:grpSpPr>
          <a:xfrm rot="10800000">
            <a:off x="8514859" y="2937143"/>
            <a:ext cx="511267" cy="2017916"/>
            <a:chOff x="8552930" y="2910118"/>
            <a:chExt cx="511267" cy="2017916"/>
          </a:xfrm>
        </p:grpSpPr>
        <p:sp>
          <p:nvSpPr>
            <p:cNvPr id="163" name="Google Shape;163;p14"/>
            <p:cNvSpPr/>
            <p:nvPr/>
          </p:nvSpPr>
          <p:spPr>
            <a:xfrm>
              <a:off x="8737186" y="3350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8601061" y="46009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" name="Google Shape;166;p14"/>
          <p:cNvGrpSpPr/>
          <p:nvPr/>
        </p:nvGrpSpPr>
        <p:grpSpPr>
          <a:xfrm rot="7347507">
            <a:off x="134581" y="3888252"/>
            <a:ext cx="912282" cy="1615081"/>
            <a:chOff x="133086" y="3408328"/>
            <a:chExt cx="912262" cy="1615044"/>
          </a:xfrm>
        </p:grpSpPr>
        <p:sp>
          <p:nvSpPr>
            <p:cNvPr id="167" name="Google Shape;167;p14"/>
            <p:cNvSpPr/>
            <p:nvPr/>
          </p:nvSpPr>
          <p:spPr>
            <a:xfrm>
              <a:off x="265110" y="340832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85324" y="4098816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1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14"/>
          <p:cNvSpPr txBox="1"/>
          <p:nvPr>
            <p:ph idx="1" type="body"/>
          </p:nvPr>
        </p:nvSpPr>
        <p:spPr>
          <a:xfrm>
            <a:off x="720000" y="1215750"/>
            <a:ext cx="7704000" cy="1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3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/>
          <p:nvPr/>
        </p:nvSpPr>
        <p:spPr>
          <a:xfrm flipH="1">
            <a:off x="-3429082" y="2598063"/>
            <a:ext cx="6095899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 rot="-542519">
            <a:off x="6823253" y="-353355"/>
            <a:ext cx="2625360" cy="1785525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" name="Google Shape;176;p15"/>
          <p:cNvGrpSpPr/>
          <p:nvPr/>
        </p:nvGrpSpPr>
        <p:grpSpPr>
          <a:xfrm>
            <a:off x="7560023" y="54840"/>
            <a:ext cx="1504175" cy="1244157"/>
            <a:chOff x="7560023" y="2814490"/>
            <a:chExt cx="1504175" cy="1244157"/>
          </a:xfrm>
        </p:grpSpPr>
        <p:sp>
          <p:nvSpPr>
            <p:cNvPr id="177" name="Google Shape;177;p15"/>
            <p:cNvSpPr/>
            <p:nvPr/>
          </p:nvSpPr>
          <p:spPr>
            <a:xfrm>
              <a:off x="7560023" y="28144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8552936" y="3421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" name="Google Shape;181;p15"/>
          <p:cNvGrpSpPr/>
          <p:nvPr/>
        </p:nvGrpSpPr>
        <p:grpSpPr>
          <a:xfrm>
            <a:off x="-33427" y="3476090"/>
            <a:ext cx="682702" cy="1547282"/>
            <a:chOff x="-33427" y="3476090"/>
            <a:chExt cx="682702" cy="1547282"/>
          </a:xfrm>
        </p:grpSpPr>
        <p:sp>
          <p:nvSpPr>
            <p:cNvPr id="182" name="Google Shape;182;p15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15"/>
          <p:cNvSpPr txBox="1"/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15"/>
          <p:cNvSpPr txBox="1"/>
          <p:nvPr>
            <p:ph idx="1" type="subTitle"/>
          </p:nvPr>
        </p:nvSpPr>
        <p:spPr>
          <a:xfrm>
            <a:off x="814550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15"/>
          <p:cNvSpPr txBox="1"/>
          <p:nvPr>
            <p:ph idx="2" type="subTitle"/>
          </p:nvPr>
        </p:nvSpPr>
        <p:spPr>
          <a:xfrm>
            <a:off x="3374720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15"/>
          <p:cNvSpPr txBox="1"/>
          <p:nvPr>
            <p:ph idx="3" type="subTitle"/>
          </p:nvPr>
        </p:nvSpPr>
        <p:spPr>
          <a:xfrm>
            <a:off x="5934871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15"/>
          <p:cNvSpPr txBox="1"/>
          <p:nvPr>
            <p:ph idx="4" type="subTitle"/>
          </p:nvPr>
        </p:nvSpPr>
        <p:spPr>
          <a:xfrm>
            <a:off x="814550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0" name="Google Shape;190;p15"/>
          <p:cNvSpPr txBox="1"/>
          <p:nvPr>
            <p:ph idx="5" type="subTitle"/>
          </p:nvPr>
        </p:nvSpPr>
        <p:spPr>
          <a:xfrm>
            <a:off x="3374721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1" name="Google Shape;191;p15"/>
          <p:cNvSpPr txBox="1"/>
          <p:nvPr>
            <p:ph idx="6" type="subTitle"/>
          </p:nvPr>
        </p:nvSpPr>
        <p:spPr>
          <a:xfrm>
            <a:off x="5934864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2" name="Google Shape;19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/>
          <p:nvPr/>
        </p:nvSpPr>
        <p:spPr>
          <a:xfrm flipH="1" rot="4372063">
            <a:off x="-3257636" y="1228893"/>
            <a:ext cx="6095914" cy="349134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"/>
          <p:cNvSpPr/>
          <p:nvPr/>
        </p:nvSpPr>
        <p:spPr>
          <a:xfrm rot="5400000">
            <a:off x="6668857" y="3202942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6" name="Google Shape;196;p16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197" name="Google Shape;197;p16"/>
            <p:cNvSpPr/>
            <p:nvPr/>
          </p:nvSpPr>
          <p:spPr>
            <a:xfrm>
              <a:off x="8457298" y="40525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8505186" y="4750665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" name="Google Shape;201;p16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202" name="Google Shape;202;p16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" name="Google Shape;205;p1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6" name="Google Shape;206;p16"/>
          <p:cNvSpPr txBox="1"/>
          <p:nvPr>
            <p:ph idx="1" type="subTitle"/>
          </p:nvPr>
        </p:nvSpPr>
        <p:spPr>
          <a:xfrm>
            <a:off x="3815975" y="1241705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16"/>
          <p:cNvSpPr txBox="1"/>
          <p:nvPr>
            <p:ph idx="2" type="subTitle"/>
          </p:nvPr>
        </p:nvSpPr>
        <p:spPr>
          <a:xfrm>
            <a:off x="3815984" y="2135039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8" name="Google Shape;208;p16"/>
          <p:cNvSpPr txBox="1"/>
          <p:nvPr>
            <p:ph idx="3" type="subTitle"/>
          </p:nvPr>
        </p:nvSpPr>
        <p:spPr>
          <a:xfrm>
            <a:off x="3815984" y="3028372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9" name="Google Shape;209;p16"/>
          <p:cNvSpPr txBox="1"/>
          <p:nvPr>
            <p:ph idx="4" type="subTitle"/>
          </p:nvPr>
        </p:nvSpPr>
        <p:spPr>
          <a:xfrm>
            <a:off x="3815984" y="3921705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0" name="Google Shape;210;p16"/>
          <p:cNvSpPr txBox="1"/>
          <p:nvPr>
            <p:ph idx="5" type="subTitle"/>
          </p:nvPr>
        </p:nvSpPr>
        <p:spPr>
          <a:xfrm>
            <a:off x="1697075" y="1241705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11" name="Google Shape;211;p16"/>
          <p:cNvSpPr txBox="1"/>
          <p:nvPr>
            <p:ph idx="6" type="subTitle"/>
          </p:nvPr>
        </p:nvSpPr>
        <p:spPr>
          <a:xfrm>
            <a:off x="1697075" y="2135039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12" name="Google Shape;212;p16"/>
          <p:cNvSpPr txBox="1"/>
          <p:nvPr>
            <p:ph idx="7" type="subTitle"/>
          </p:nvPr>
        </p:nvSpPr>
        <p:spPr>
          <a:xfrm>
            <a:off x="1697075" y="3028372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13" name="Google Shape;213;p16"/>
          <p:cNvSpPr txBox="1"/>
          <p:nvPr>
            <p:ph idx="8" type="subTitle"/>
          </p:nvPr>
        </p:nvSpPr>
        <p:spPr>
          <a:xfrm>
            <a:off x="1697075" y="3921705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14" name="Google Shape;214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8" name="Google Shape;218;p17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19" name="Google Shape;219;p17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17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23" name="Google Shape;223;p17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17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17"/>
          <p:cNvSpPr txBox="1"/>
          <p:nvPr>
            <p:ph idx="1" type="subTitle"/>
          </p:nvPr>
        </p:nvSpPr>
        <p:spPr>
          <a:xfrm>
            <a:off x="835000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28" name="Google Shape;228;p17"/>
          <p:cNvSpPr txBox="1"/>
          <p:nvPr>
            <p:ph idx="2" type="subTitle"/>
          </p:nvPr>
        </p:nvSpPr>
        <p:spPr>
          <a:xfrm>
            <a:off x="3494193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29" name="Google Shape;229;p17"/>
          <p:cNvSpPr txBox="1"/>
          <p:nvPr>
            <p:ph idx="3" type="subTitle"/>
          </p:nvPr>
        </p:nvSpPr>
        <p:spPr>
          <a:xfrm>
            <a:off x="835000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17"/>
          <p:cNvSpPr txBox="1"/>
          <p:nvPr>
            <p:ph idx="4" type="subTitle"/>
          </p:nvPr>
        </p:nvSpPr>
        <p:spPr>
          <a:xfrm>
            <a:off x="3494250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31" name="Google Shape;231;p17"/>
          <p:cNvSpPr txBox="1"/>
          <p:nvPr>
            <p:ph idx="5" type="subTitle"/>
          </p:nvPr>
        </p:nvSpPr>
        <p:spPr>
          <a:xfrm>
            <a:off x="6153328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32" name="Google Shape;232;p17"/>
          <p:cNvSpPr txBox="1"/>
          <p:nvPr>
            <p:ph idx="6" type="subTitle"/>
          </p:nvPr>
        </p:nvSpPr>
        <p:spPr>
          <a:xfrm>
            <a:off x="6153449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33" name="Google Shape;233;p17"/>
          <p:cNvSpPr txBox="1"/>
          <p:nvPr>
            <p:ph idx="7" type="subTitle"/>
          </p:nvPr>
        </p:nvSpPr>
        <p:spPr>
          <a:xfrm>
            <a:off x="3494172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34" name="Google Shape;234;p17"/>
          <p:cNvSpPr txBox="1"/>
          <p:nvPr>
            <p:ph idx="8" type="subTitle"/>
          </p:nvPr>
        </p:nvSpPr>
        <p:spPr>
          <a:xfrm>
            <a:off x="3494172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35" name="Google Shape;235;p17"/>
          <p:cNvSpPr txBox="1"/>
          <p:nvPr>
            <p:ph idx="9" type="subTitle"/>
          </p:nvPr>
        </p:nvSpPr>
        <p:spPr>
          <a:xfrm>
            <a:off x="6153497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36" name="Google Shape;236;p17"/>
          <p:cNvSpPr txBox="1"/>
          <p:nvPr>
            <p:ph idx="13" type="subTitle"/>
          </p:nvPr>
        </p:nvSpPr>
        <p:spPr>
          <a:xfrm>
            <a:off x="6153497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37" name="Google Shape;237;p17"/>
          <p:cNvSpPr txBox="1"/>
          <p:nvPr>
            <p:ph idx="14" type="subTitle"/>
          </p:nvPr>
        </p:nvSpPr>
        <p:spPr>
          <a:xfrm>
            <a:off x="835000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38" name="Google Shape;238;p17"/>
          <p:cNvSpPr txBox="1"/>
          <p:nvPr>
            <p:ph idx="15" type="subTitle"/>
          </p:nvPr>
        </p:nvSpPr>
        <p:spPr>
          <a:xfrm>
            <a:off x="835000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39" name="Google Shape;239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/>
          <p:nvPr/>
        </p:nvSpPr>
        <p:spPr>
          <a:xfrm flipH="1" rot="1292342">
            <a:off x="-2419456" y="2200421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 rot="5400000">
            <a:off x="6537482" y="2747717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3" name="Google Shape;243;p18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44" name="Google Shape;244;p18"/>
            <p:cNvSpPr/>
            <p:nvPr/>
          </p:nvSpPr>
          <p:spPr>
            <a:xfrm>
              <a:off x="8495023" y="4363315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8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8"/>
            <p:cNvSpPr/>
            <p:nvPr/>
          </p:nvSpPr>
          <p:spPr>
            <a:xfrm>
              <a:off x="8220061" y="47533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8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" name="Google Shape;248;p18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249" name="Google Shape;249;p18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8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8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" name="Google Shape;252;p18"/>
          <p:cNvSpPr txBox="1"/>
          <p:nvPr>
            <p:ph hasCustomPrompt="1" type="title"/>
          </p:nvPr>
        </p:nvSpPr>
        <p:spPr>
          <a:xfrm>
            <a:off x="2437775" y="704675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53" name="Google Shape;253;p18"/>
          <p:cNvSpPr txBox="1"/>
          <p:nvPr>
            <p:ph idx="1" type="subTitle"/>
          </p:nvPr>
        </p:nvSpPr>
        <p:spPr>
          <a:xfrm>
            <a:off x="2437775" y="1350176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54" name="Google Shape;254;p18"/>
          <p:cNvSpPr txBox="1"/>
          <p:nvPr>
            <p:ph hasCustomPrompt="1" idx="2" type="title"/>
          </p:nvPr>
        </p:nvSpPr>
        <p:spPr>
          <a:xfrm>
            <a:off x="2437775" y="2015963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55" name="Google Shape;255;p18"/>
          <p:cNvSpPr txBox="1"/>
          <p:nvPr>
            <p:ph idx="3" type="subTitle"/>
          </p:nvPr>
        </p:nvSpPr>
        <p:spPr>
          <a:xfrm>
            <a:off x="2437775" y="2660650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56" name="Google Shape;256;p18"/>
          <p:cNvSpPr txBox="1"/>
          <p:nvPr>
            <p:ph hasCustomPrompt="1" idx="4" type="title"/>
          </p:nvPr>
        </p:nvSpPr>
        <p:spPr>
          <a:xfrm>
            <a:off x="2437775" y="3327300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57" name="Google Shape;257;p18"/>
          <p:cNvSpPr txBox="1"/>
          <p:nvPr>
            <p:ph idx="5" type="subTitle"/>
          </p:nvPr>
        </p:nvSpPr>
        <p:spPr>
          <a:xfrm>
            <a:off x="2437775" y="3971075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58" name="Google Shape;258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/>
          <p:nvPr/>
        </p:nvSpPr>
        <p:spPr>
          <a:xfrm flipH="1" rot="4372063">
            <a:off x="-3257636" y="1228893"/>
            <a:ext cx="6095914" cy="349134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 rot="5400000">
            <a:off x="6668857" y="3202942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2" name="Google Shape;262;p19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263" name="Google Shape;263;p19"/>
            <p:cNvSpPr/>
            <p:nvPr/>
          </p:nvSpPr>
          <p:spPr>
            <a:xfrm>
              <a:off x="8457298" y="40525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8505186" y="4750665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" name="Google Shape;267;p19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268" name="Google Shape;268;p19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" name="Google Shape;271;p19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2" name="Google Shape;272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5" name="Google Shape;275;p20"/>
          <p:cNvSpPr/>
          <p:nvPr/>
        </p:nvSpPr>
        <p:spPr>
          <a:xfrm>
            <a:off x="5052478" y="3569975"/>
            <a:ext cx="5371040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 rot="10644777">
            <a:off x="-1048849" y="-1303280"/>
            <a:ext cx="4634055" cy="282455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278" name="Google Shape;278;p20"/>
            <p:cNvSpPr/>
            <p:nvPr/>
          </p:nvSpPr>
          <p:spPr>
            <a:xfrm>
              <a:off x="187398" y="836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53072" y="12530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1259298" y="67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-62147" y="4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2" name="Google Shape;282;p20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283" name="Google Shape;283;p20"/>
            <p:cNvSpPr/>
            <p:nvPr/>
          </p:nvSpPr>
          <p:spPr>
            <a:xfrm>
              <a:off x="8430903" y="39439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8622155" y="3519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6635180" y="46746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8185647" y="47899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/>
          <p:nvPr/>
        </p:nvSpPr>
        <p:spPr>
          <a:xfrm>
            <a:off x="2718684" y="2188525"/>
            <a:ext cx="7138396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5510909" y="2530450"/>
            <a:ext cx="7138396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 txBox="1"/>
          <p:nvPr>
            <p:ph type="title"/>
          </p:nvPr>
        </p:nvSpPr>
        <p:spPr>
          <a:xfrm>
            <a:off x="713100" y="650000"/>
            <a:ext cx="3728700" cy="8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2" name="Google Shape;292;p21"/>
          <p:cNvSpPr txBox="1"/>
          <p:nvPr>
            <p:ph idx="1" type="subTitle"/>
          </p:nvPr>
        </p:nvSpPr>
        <p:spPr>
          <a:xfrm>
            <a:off x="713100" y="1523000"/>
            <a:ext cx="3728700" cy="13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3" name="Google Shape;293;p21"/>
          <p:cNvSpPr txBox="1"/>
          <p:nvPr/>
        </p:nvSpPr>
        <p:spPr>
          <a:xfrm>
            <a:off x="713100" y="33854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and infographics &amp; images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94" name="Google Shape;29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8" name="Google Shape;298;p22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99" name="Google Shape;299;p22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22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303" name="Google Shape;303;p22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2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" name="Google Shape;306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3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1" name="Google Shape;311;p23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312" name="Google Shape;312;p23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3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3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3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6" name="Google Shape;31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_2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/>
          <p:nvPr/>
        </p:nvSpPr>
        <p:spPr>
          <a:xfrm flipH="1" rot="1292342">
            <a:off x="-2419456" y="2200421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4"/>
          <p:cNvSpPr/>
          <p:nvPr/>
        </p:nvSpPr>
        <p:spPr>
          <a:xfrm rot="5400000">
            <a:off x="6537482" y="2747717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0" name="Google Shape;320;p24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321" name="Google Shape;321;p24"/>
            <p:cNvSpPr/>
            <p:nvPr/>
          </p:nvSpPr>
          <p:spPr>
            <a:xfrm>
              <a:off x="8495023" y="4363315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8220061" y="47533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" name="Google Shape;325;p24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326" name="Google Shape;326;p24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lt1"/>
            </a:gs>
            <a:gs pos="100000">
              <a:schemeClr val="accent1"/>
            </a:gs>
          </a:gsLst>
          <a:lin ang="2700006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www.am.sanken.osaka-u.ac.jp/BiometricDB/GaitMVLP.html" TargetMode="External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hyperlink" Target="http://drive.google.com/file/d/1yUjxtOf7v9h-cLodzEtlwSQjmqk0JG9Q/view" TargetMode="External"/><Relationship Id="rId10" Type="http://schemas.openxmlformats.org/officeDocument/2006/relationships/image" Target="../media/image16.jpg"/><Relationship Id="rId13" Type="http://schemas.openxmlformats.org/officeDocument/2006/relationships/image" Target="../media/image15.jpg"/><Relationship Id="rId12" Type="http://schemas.openxmlformats.org/officeDocument/2006/relationships/hyperlink" Target="http://drive.google.com/file/d/1ArNW3W9IptdJlfbAH7Rj_-g8f60871UI/view" TargetMode="External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drive.google.com/file/d/1yUjxtOf7v9h-cLodzEtlwSQjmqk0JG9Q/view" TargetMode="External"/><Relationship Id="rId4" Type="http://schemas.openxmlformats.org/officeDocument/2006/relationships/image" Target="../media/image10.jpg"/><Relationship Id="rId9" Type="http://schemas.openxmlformats.org/officeDocument/2006/relationships/hyperlink" Target="http://drive.google.com/file/d/1ATDbV6zD8xlM4dk89HxM7QSppz3raOeN/view" TargetMode="External"/><Relationship Id="rId5" Type="http://schemas.openxmlformats.org/officeDocument/2006/relationships/hyperlink" Target="http://drive.google.com/file/d/1f3YKECYrDJmpfwgHbfUdf5dac0jpGDAI/view" TargetMode="External"/><Relationship Id="rId6" Type="http://schemas.openxmlformats.org/officeDocument/2006/relationships/image" Target="../media/image9.jpg"/><Relationship Id="rId7" Type="http://schemas.openxmlformats.org/officeDocument/2006/relationships/hyperlink" Target="http://drive.google.com/file/d/1Hp-WjBje7yiifcSnSKCPY7aay5JUuOyp/view" TargetMode="External"/><Relationship Id="rId8" Type="http://schemas.openxmlformats.org/officeDocument/2006/relationships/image" Target="../media/image1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hyperlink" Target="http://drive.google.com/file/d/19jeQ1VS7r9ZlHSvV6LJzc6Rc-gFol_sU/view" TargetMode="External"/><Relationship Id="rId10" Type="http://schemas.openxmlformats.org/officeDocument/2006/relationships/image" Target="../media/image20.jpg"/><Relationship Id="rId13" Type="http://schemas.openxmlformats.org/officeDocument/2006/relationships/image" Target="../media/image21.jpg"/><Relationship Id="rId12" Type="http://schemas.openxmlformats.org/officeDocument/2006/relationships/hyperlink" Target="http://drive.google.com/file/d/1jj8NfAksgmhULPOwVpIUcyQrFiyAtyPM/view" TargetMode="External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drive.google.com/file/d/19jeQ1VS7r9ZlHSvV6LJzc6Rc-gFol_sU/view" TargetMode="External"/><Relationship Id="rId4" Type="http://schemas.openxmlformats.org/officeDocument/2006/relationships/image" Target="../media/image17.jpg"/><Relationship Id="rId9" Type="http://schemas.openxmlformats.org/officeDocument/2006/relationships/hyperlink" Target="http://drive.google.com/file/d/1Dk-TugwiQTJp70udzshUjEN1AIXyINK3/view" TargetMode="External"/><Relationship Id="rId5" Type="http://schemas.openxmlformats.org/officeDocument/2006/relationships/hyperlink" Target="http://drive.google.com/file/d/1oZqJym311k_Pvf1T8HG4EeWSANxfVaM3/view" TargetMode="External"/><Relationship Id="rId6" Type="http://schemas.openxmlformats.org/officeDocument/2006/relationships/image" Target="../media/image18.jpg"/><Relationship Id="rId7" Type="http://schemas.openxmlformats.org/officeDocument/2006/relationships/hyperlink" Target="http://drive.google.com/file/d/1iTLH1IikfLWWH4paY6KPlBhb-dM3ZPPj/view" TargetMode="External"/><Relationship Id="rId8" Type="http://schemas.openxmlformats.org/officeDocument/2006/relationships/image" Target="../media/image1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1" Type="http://schemas.openxmlformats.org/officeDocument/2006/relationships/hyperlink" Target="http://drive.google.com/file/d/1EHAYvQd3P0gop3yZ_uav6vw8XinvPvy7/view" TargetMode="External"/><Relationship Id="rId10" Type="http://schemas.openxmlformats.org/officeDocument/2006/relationships/image" Target="../media/image25.jpg"/><Relationship Id="rId13" Type="http://schemas.openxmlformats.org/officeDocument/2006/relationships/hyperlink" Target="http://drive.google.com/file/d/1qArJW0J7J2MIKT6snzdfx_Tz4Xq7U_3J/view" TargetMode="External"/><Relationship Id="rId12" Type="http://schemas.openxmlformats.org/officeDocument/2006/relationships/image" Target="../media/image29.jp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drive.google.com/file/d/1qtHTFLDKY2OasZJgBEGjZBEcukhPJaOg/view" TargetMode="External"/><Relationship Id="rId4" Type="http://schemas.openxmlformats.org/officeDocument/2006/relationships/image" Target="../media/image23.jpg"/><Relationship Id="rId9" Type="http://schemas.openxmlformats.org/officeDocument/2006/relationships/hyperlink" Target="http://drive.google.com/file/d/1fpJFLUopsHXw206mEq_Pt2ioggB5hRj5/view" TargetMode="External"/><Relationship Id="rId14" Type="http://schemas.openxmlformats.org/officeDocument/2006/relationships/image" Target="../media/image28.jpg"/><Relationship Id="rId5" Type="http://schemas.openxmlformats.org/officeDocument/2006/relationships/hyperlink" Target="http://drive.google.com/file/d/1p6adX5dou6QhkGQN93y4iXkrUZ_H8tOd/view" TargetMode="External"/><Relationship Id="rId6" Type="http://schemas.openxmlformats.org/officeDocument/2006/relationships/image" Target="../media/image30.jpg"/><Relationship Id="rId7" Type="http://schemas.openxmlformats.org/officeDocument/2006/relationships/hyperlink" Target="http://drive.google.com/file/d/1FzgCM7kcIMaXD2KkF9V6Bm3j2UvgsKdV/view" TargetMode="External"/><Relationship Id="rId8" Type="http://schemas.openxmlformats.org/officeDocument/2006/relationships/image" Target="../media/image2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1" Type="http://schemas.openxmlformats.org/officeDocument/2006/relationships/hyperlink" Target="http://drive.google.com/file/d/18rpx1xU2cCa0g6SpznHWmpYwyMl3oIiw/view" TargetMode="External"/><Relationship Id="rId10" Type="http://schemas.openxmlformats.org/officeDocument/2006/relationships/image" Target="../media/image34.jpg"/><Relationship Id="rId13" Type="http://schemas.openxmlformats.org/officeDocument/2006/relationships/hyperlink" Target="http://drive.google.com/file/d/1ppr7Vkgn-cN8m_BlvoQ8GnvgUgxkNADb/view" TargetMode="External"/><Relationship Id="rId12" Type="http://schemas.openxmlformats.org/officeDocument/2006/relationships/image" Target="../media/image31.jp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://drive.google.com/file/d/1ppr7Vkgn-cN8m_BlvoQ8GnvgUgxkNADb/view" TargetMode="External"/><Relationship Id="rId4" Type="http://schemas.openxmlformats.org/officeDocument/2006/relationships/image" Target="../media/image26.jpg"/><Relationship Id="rId9" Type="http://schemas.openxmlformats.org/officeDocument/2006/relationships/hyperlink" Target="http://drive.google.com/file/d/1cOLt6YC1E7fijEwfKkV_mHizjmqI2eK0/view" TargetMode="External"/><Relationship Id="rId5" Type="http://schemas.openxmlformats.org/officeDocument/2006/relationships/hyperlink" Target="http://drive.google.com/file/d/1Sz3JUGxiJHFR49SKuWJ0bF1B5CXbhzrw/view" TargetMode="External"/><Relationship Id="rId6" Type="http://schemas.openxmlformats.org/officeDocument/2006/relationships/image" Target="../media/image33.jpg"/><Relationship Id="rId7" Type="http://schemas.openxmlformats.org/officeDocument/2006/relationships/hyperlink" Target="http://drive.google.com/file/d/1j6fAje_BXi5bF5xDVWxLvdsQOiW7ER6P/view" TargetMode="External"/><Relationship Id="rId8" Type="http://schemas.openxmlformats.org/officeDocument/2006/relationships/image" Target="../media/image24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1" Type="http://schemas.openxmlformats.org/officeDocument/2006/relationships/hyperlink" Target="http://drive.google.com/file/d/19rcbXFIl2syFKSch6u3kL8KDVwoNilBs/view" TargetMode="External"/><Relationship Id="rId10" Type="http://schemas.openxmlformats.org/officeDocument/2006/relationships/image" Target="../media/image37.jpg"/><Relationship Id="rId13" Type="http://schemas.openxmlformats.org/officeDocument/2006/relationships/hyperlink" Target="http://drive.google.com/file/d/1GRsHlomkU_GePK0zqUkms2X1SQ9838JO/view" TargetMode="External"/><Relationship Id="rId12" Type="http://schemas.openxmlformats.org/officeDocument/2006/relationships/image" Target="../media/image40.jp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drive.google.com/file/d/14ir_DVhy3F0y2afrKHjJfMw1nSE9dH9u/view" TargetMode="External"/><Relationship Id="rId4" Type="http://schemas.openxmlformats.org/officeDocument/2006/relationships/image" Target="../media/image32.jpg"/><Relationship Id="rId9" Type="http://schemas.openxmlformats.org/officeDocument/2006/relationships/hyperlink" Target="http://drive.google.com/file/d/1A8eiVsGepRKOQytfgUNeJP6qkSolVrGi/view" TargetMode="External"/><Relationship Id="rId14" Type="http://schemas.openxmlformats.org/officeDocument/2006/relationships/image" Target="../media/image35.jpg"/><Relationship Id="rId5" Type="http://schemas.openxmlformats.org/officeDocument/2006/relationships/hyperlink" Target="http://drive.google.com/file/d/1AlpQOJ6p7fy6buv5sLKDwHC9oFY-UMDa/view" TargetMode="External"/><Relationship Id="rId6" Type="http://schemas.openxmlformats.org/officeDocument/2006/relationships/image" Target="../media/image39.jpg"/><Relationship Id="rId7" Type="http://schemas.openxmlformats.org/officeDocument/2006/relationships/hyperlink" Target="http://drive.google.com/file/d/1mHt4CS0yvRQDSlacjE5BuIb1ulkenxIH/view" TargetMode="External"/><Relationship Id="rId8" Type="http://schemas.openxmlformats.org/officeDocument/2006/relationships/image" Target="../media/image2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1" Type="http://schemas.openxmlformats.org/officeDocument/2006/relationships/hyperlink" Target="http://drive.google.com/file/d/1Ma9rulNGM7E1fSDeumiFwI7OB8USymCV/view" TargetMode="External"/><Relationship Id="rId10" Type="http://schemas.openxmlformats.org/officeDocument/2006/relationships/image" Target="../media/image43.jpg"/><Relationship Id="rId13" Type="http://schemas.openxmlformats.org/officeDocument/2006/relationships/image" Target="../media/image42.jpg"/><Relationship Id="rId12" Type="http://schemas.openxmlformats.org/officeDocument/2006/relationships/hyperlink" Target="http://drive.google.com/file/d/1f7w6krhEIq-VO6El-JDwsG6fjXupN5Bs/view" TargetMode="External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drive.google.com/file/d/1Ma9rulNGM7E1fSDeumiFwI7OB8USymCV/view" TargetMode="External"/><Relationship Id="rId4" Type="http://schemas.openxmlformats.org/officeDocument/2006/relationships/image" Target="../media/image41.jpg"/><Relationship Id="rId9" Type="http://schemas.openxmlformats.org/officeDocument/2006/relationships/hyperlink" Target="http://drive.google.com/file/d/1KAOeHmaKNxJjT5VwGQDBFZ-9nVfHWcdq/view" TargetMode="External"/><Relationship Id="rId5" Type="http://schemas.openxmlformats.org/officeDocument/2006/relationships/hyperlink" Target="http://drive.google.com/file/d/1NZnqc6BuciW99UCW6oVx4EsUjU9F2B3c/view" TargetMode="External"/><Relationship Id="rId6" Type="http://schemas.openxmlformats.org/officeDocument/2006/relationships/image" Target="../media/image36.jpg"/><Relationship Id="rId7" Type="http://schemas.openxmlformats.org/officeDocument/2006/relationships/hyperlink" Target="http://drive.google.com/file/d/1JYgrApJ32xSZaMHk_sY-wHAvdZ99xEk-/view" TargetMode="External"/><Relationship Id="rId8" Type="http://schemas.openxmlformats.org/officeDocument/2006/relationships/image" Target="../media/image38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://www.am.sanken.osaka-u.ac.jp/BiometricDB/GaitLPPose.html" TargetMode="External"/><Relationship Id="rId4" Type="http://schemas.openxmlformats.org/officeDocument/2006/relationships/hyperlink" Target="https://www.mdpi.com/2673-2688/3/2/31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"/>
          <p:cNvSpPr txBox="1"/>
          <p:nvPr>
            <p:ph type="ctrTitle"/>
          </p:nvPr>
        </p:nvSpPr>
        <p:spPr>
          <a:xfrm>
            <a:off x="570050" y="539400"/>
            <a:ext cx="8154600" cy="24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/>
              <a:t>GenderStego:</a:t>
            </a:r>
            <a:r>
              <a:rPr lang="en" sz="2700"/>
              <a:t> A Novel Framework for Gait-Based Gender Recognition and Video Steganography</a:t>
            </a:r>
            <a:endParaRPr sz="2700"/>
          </a:p>
        </p:txBody>
      </p:sp>
      <p:sp>
        <p:nvSpPr>
          <p:cNvPr id="335" name="Google Shape;335;p25"/>
          <p:cNvSpPr txBox="1"/>
          <p:nvPr>
            <p:ph idx="1" type="subTitle"/>
          </p:nvPr>
        </p:nvSpPr>
        <p:spPr>
          <a:xfrm>
            <a:off x="5366900" y="2586100"/>
            <a:ext cx="36201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Presented by: Sohan Vallapureddy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336" name="Google Shape;336;p25"/>
          <p:cNvSpPr txBox="1"/>
          <p:nvPr>
            <p:ph idx="1" type="subTitle"/>
          </p:nvPr>
        </p:nvSpPr>
        <p:spPr>
          <a:xfrm>
            <a:off x="286400" y="3076400"/>
            <a:ext cx="8737500" cy="19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Project Advisors: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Dr. Nada Attar</a:t>
            </a:r>
            <a:r>
              <a:rPr lang="en" sz="1200"/>
              <a:t>							</a:t>
            </a:r>
            <a:r>
              <a:rPr b="1" lang="en" sz="1200"/>
              <a:t>Dr. Noha Elfiky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Associate Professor, Computer Science				Professor of AI and Business &amp; Data Analytics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San Jose State University						Saint Mary's College of California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Dr. Safwat Hamad							Dr. Ahmed Elhadad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Professor of AI | Data Science | Business Analytics		Associate Professor, Computer Science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Saint Mary's College of California	</a:t>
            </a:r>
            <a:r>
              <a:rPr lang="en" sz="1200"/>
              <a:t>				Faculty of Computer and Information</a:t>
            </a:r>
            <a:endParaRPr sz="1200"/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			South Valley University-Qena, Saudi Arabia</a:t>
            </a:r>
            <a:endParaRPr sz="1200"/>
          </a:p>
        </p:txBody>
      </p:sp>
      <p:sp>
        <p:nvSpPr>
          <p:cNvPr id="337" name="Google Shape;337;p25"/>
          <p:cNvSpPr txBox="1"/>
          <p:nvPr>
            <p:ph idx="1" type="subTitle"/>
          </p:nvPr>
        </p:nvSpPr>
        <p:spPr>
          <a:xfrm>
            <a:off x="5375750" y="2842875"/>
            <a:ext cx="36201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CS 298: Department of Computer Science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 San José State University</a:t>
            </a:r>
            <a:endParaRPr b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6"/>
          <p:cNvSpPr txBox="1"/>
          <p:nvPr>
            <p:ph idx="4294967295" type="body"/>
          </p:nvPr>
        </p:nvSpPr>
        <p:spPr>
          <a:xfrm>
            <a:off x="1438675" y="825750"/>
            <a:ext cx="6808500" cy="3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Introduction &amp; Motivation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Literature Survey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Dataset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System Architecture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Stage 1: Gait Gender Classifier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Stage 2: Privacy Module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Stage 3: Steganography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Results &amp; Evaluation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Discussion &amp; Limitations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Conclusion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Future Work</a:t>
            </a:r>
            <a:endParaRPr sz="1600"/>
          </a:p>
        </p:txBody>
      </p:sp>
      <p:sp>
        <p:nvSpPr>
          <p:cNvPr id="343" name="Google Shape;343;p26"/>
          <p:cNvSpPr txBox="1"/>
          <p:nvPr>
            <p:ph type="title"/>
          </p:nvPr>
        </p:nvSpPr>
        <p:spPr>
          <a:xfrm>
            <a:off x="720000" y="253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44" name="Google Shape;34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"/>
          <p:cNvSpPr txBox="1"/>
          <p:nvPr>
            <p:ph idx="4294967295" type="body"/>
          </p:nvPr>
        </p:nvSpPr>
        <p:spPr>
          <a:xfrm>
            <a:off x="723475" y="1073375"/>
            <a:ext cx="78333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The Privacy Problem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Surveillance cameras are everywhere. Traditional video analytics expose: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Identity (face, gait signature)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Demographics (gender, age)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Behaviour and location history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Storing raw footage creates a permanent, searchable record of people without consent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 widely deployed approach balances strong privacy with rich video analytics</a:t>
            </a:r>
            <a:endParaRPr sz="1400"/>
          </a:p>
        </p:txBody>
      </p:sp>
      <p:sp>
        <p:nvSpPr>
          <p:cNvPr id="350" name="Google Shape;350;p27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&amp; Motivation</a:t>
            </a:r>
            <a:endParaRPr/>
          </a:p>
        </p:txBody>
      </p:sp>
      <p:sp>
        <p:nvSpPr>
          <p:cNvPr id="351" name="Google Shape;35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"/>
          <p:cNvSpPr txBox="1"/>
          <p:nvPr>
            <p:ph idx="4294967295" type="body"/>
          </p:nvPr>
        </p:nvSpPr>
        <p:spPr>
          <a:xfrm>
            <a:off x="667725" y="825750"/>
            <a:ext cx="8060400" cy="39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2"/>
                </a:solidFill>
              </a:rPr>
              <a:t>What is gait?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● A person's unique walking pattern: measurable at distance, without contact or cooperation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● Key cues: stride length, step frequency, hip and shoulder motion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● Works with low resolution, occlusion, or at night: unlike face recognition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57" name="Google Shape;357;p28"/>
          <p:cNvSpPr txBox="1"/>
          <p:nvPr>
            <p:ph type="title"/>
          </p:nvPr>
        </p:nvSpPr>
        <p:spPr>
          <a:xfrm>
            <a:off x="720000" y="253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 &amp; Motivation</a:t>
            </a:r>
            <a:endParaRPr b="1"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9" name="Google Shape;3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2999" y="2480475"/>
            <a:ext cx="4058001" cy="199462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8"/>
          <p:cNvSpPr txBox="1"/>
          <p:nvPr>
            <p:ph idx="4294967295" type="body"/>
          </p:nvPr>
        </p:nvSpPr>
        <p:spPr>
          <a:xfrm>
            <a:off x="4721475" y="4820200"/>
            <a:ext cx="4101900" cy="2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Picture taken from:</a:t>
            </a:r>
            <a:r>
              <a:rPr lang="en" sz="800"/>
              <a:t> https://www.coachhackfeet.com/blog/2026277_gait-cycle</a:t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9"/>
          <p:cNvSpPr txBox="1"/>
          <p:nvPr>
            <p:ph idx="4294967295" type="body"/>
          </p:nvPr>
        </p:nvSpPr>
        <p:spPr>
          <a:xfrm>
            <a:off x="713100" y="804875"/>
            <a:ext cx="7833300" cy="37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Why Privacy Matters in Video Analytics</a:t>
            </a:r>
            <a:endParaRPr b="1" sz="16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Widespread Surveillance:</a:t>
            </a:r>
            <a:r>
              <a:rPr lang="en" sz="1300"/>
              <a:t> Increasing camera use raises concerns about how people’s movements are recorded.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en" sz="1300"/>
              <a:t>Risks of Exposure: </a:t>
            </a:r>
            <a:r>
              <a:rPr lang="en" sz="1300"/>
              <a:t>Footage enables unauthorized identification, profiling, and misuse of personal data.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en" sz="1300"/>
              <a:t>Legal and Ethical Concerns: </a:t>
            </a:r>
            <a:r>
              <a:rPr lang="en" sz="1300"/>
              <a:t>Regulations (e.g., GDPR) and ethics demand stronger privacy protections.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en" sz="1300"/>
              <a:t>Challenges with Existing Methods:</a:t>
            </a:r>
            <a:r>
              <a:rPr lang="en" sz="1300"/>
              <a:t> Raw video reveals sensitive details like identity, behavior, and demographics.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Our Goal:</a:t>
            </a:r>
            <a:r>
              <a:rPr b="1" lang="en" sz="1300"/>
              <a:t> </a:t>
            </a:r>
            <a:r>
              <a:rPr lang="en" sz="1300"/>
              <a:t>Enable meaningful video analysis while safeguarding privacy &amp; blocking information leaks.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/>
              <a:t>We need privacy‑by‑design analytics, not raw‑video pipelines.</a:t>
            </a:r>
            <a:endParaRPr b="1" sz="1300"/>
          </a:p>
        </p:txBody>
      </p:sp>
      <p:sp>
        <p:nvSpPr>
          <p:cNvPr id="366" name="Google Shape;366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0"/>
          <p:cNvSpPr txBox="1"/>
          <p:nvPr>
            <p:ph idx="4294967295" type="body"/>
          </p:nvPr>
        </p:nvSpPr>
        <p:spPr>
          <a:xfrm>
            <a:off x="713100" y="703250"/>
            <a:ext cx="7833300" cy="42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Why Combine Gait Analysis, Gender Classification &amp; Steganography?</a:t>
            </a:r>
            <a:endParaRPr b="1" sz="16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Gait: </a:t>
            </a:r>
            <a:r>
              <a:rPr lang="en" sz="1300"/>
              <a:t>unobtrusive biometric, but gait signatures and attributes leak identity</a:t>
            </a:r>
            <a:endParaRPr sz="1300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Gender: </a:t>
            </a:r>
            <a:r>
              <a:rPr lang="en" sz="1300"/>
              <a:t>useful demographic label, but amplifies privacy risk if stored naively</a:t>
            </a:r>
            <a:endParaRPr sz="1300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Steganography: </a:t>
            </a:r>
            <a:r>
              <a:rPr lang="en" sz="1300"/>
              <a:t>hide original video inside skeletal video while preserving utility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GenderStego: </a:t>
            </a:r>
            <a:r>
              <a:rPr lang="en" sz="1300"/>
              <a:t>use gait‑based gender to control access, and encrypt + hide the full video while exposing only skeletons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" sz="1300"/>
              <a:t>Outcome: </a:t>
            </a:r>
            <a:r>
              <a:rPr lang="en" sz="1300"/>
              <a:t>A robust system that balances privacy, utility, and security for modern surveillance and analysis.</a:t>
            </a:r>
            <a:endParaRPr sz="1300"/>
          </a:p>
        </p:txBody>
      </p:sp>
      <p:sp>
        <p:nvSpPr>
          <p:cNvPr id="372" name="Google Shape;372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"/>
          <p:cNvSpPr txBox="1"/>
          <p:nvPr>
            <p:ph idx="4294967295" type="body"/>
          </p:nvPr>
        </p:nvSpPr>
        <p:spPr>
          <a:xfrm>
            <a:off x="713100" y="602325"/>
            <a:ext cx="7833300" cy="42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Project Overview &amp; Contributions</a:t>
            </a:r>
            <a:endParaRPr b="1" sz="18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Classify gender from gait using only skeleton pose (no face, clothing, or appearance)</a:t>
            </a:r>
            <a:endParaRPr b="1"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Replace persons with colour‑coded skeletons in an inpainted, person‑free scene</a:t>
            </a:r>
            <a:endParaRPr b="1"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Embed the original video inside the skeletal video with DCT steganography + AES‑256</a:t>
            </a:r>
            <a:endParaRPr b="1" sz="13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Project outcomes:</a:t>
            </a:r>
            <a:endParaRPr b="1" sz="18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Accurate gait-based gender recognition</a:t>
            </a:r>
            <a:endParaRPr b="1"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Privacy-preserving video processing pipeline</a:t>
            </a:r>
            <a:endParaRPr b="1"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Secure embedding of original video within skeletal videos using steganography</a:t>
            </a:r>
            <a:endParaRPr b="1" sz="1300"/>
          </a:p>
        </p:txBody>
      </p:sp>
      <p:sp>
        <p:nvSpPr>
          <p:cNvPr id="378" name="Google Shape;37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2"/>
          <p:cNvSpPr txBox="1"/>
          <p:nvPr>
            <p:ph type="title"/>
          </p:nvPr>
        </p:nvSpPr>
        <p:spPr>
          <a:xfrm>
            <a:off x="410250" y="356375"/>
            <a:ext cx="8472000" cy="5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Literature Survey</a:t>
            </a:r>
            <a:endParaRPr sz="2500"/>
          </a:p>
        </p:txBody>
      </p:sp>
      <p:sp>
        <p:nvSpPr>
          <p:cNvPr id="384" name="Google Shape;384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85" name="Google Shape;385;p32"/>
          <p:cNvGraphicFramePr/>
          <p:nvPr/>
        </p:nvGraphicFramePr>
        <p:xfrm>
          <a:off x="720000" y="150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{7D2E40E0-5445-4949-82BA-32F7E7773C31}</a:tableStyleId>
              </a:tblPr>
              <a:tblGrid>
                <a:gridCol w="2720750"/>
                <a:gridCol w="2720750"/>
                <a:gridCol w="2720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Paper Title</a:t>
                      </a:r>
                      <a:endParaRPr b="1"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Model/Technique</a:t>
                      </a:r>
                      <a:endParaRPr b="1"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</a:t>
                      </a:r>
                      <a:endParaRPr b="1"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GenReGait: Robust Gender Recognition Utilizing Gait Features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Keypoint estimation, Deep Learning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Uses joint keypoint data and deep learning for robust gender recognition from gait.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Learning Visual Prompt for Gait Recognition (CVPR 2024)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Dynamic Transformer, Attention Mechanism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Introduces part-based prompts and attention to improve gait recognition accuracy across views.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Occluded Gait Recognition with Mixture of Experts (ECCV 2024)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Mixture of Temporal &amp; Action Experts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Handles occluded gait data using expert classifiers for more accurate gait gender predictions.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Free Lunch for Gait Recognition (ECCV 2024)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Relation Descriptor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 relationships between gait features to improve recognition robustness.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Robust and Lightweight System for Gait-Based Gender Classification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Spatial-Temporal Graph Convolutional Network (ST-GCN)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Uses ST-GCN for efficient and noise-robust gender classification from pose data.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386" name="Google Shape;386;p32"/>
          <p:cNvSpPr txBox="1"/>
          <p:nvPr>
            <p:ph idx="1" type="body"/>
          </p:nvPr>
        </p:nvSpPr>
        <p:spPr>
          <a:xfrm>
            <a:off x="720000" y="990125"/>
            <a:ext cx="77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1. Gait-based pose estimation &amp; gender classification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92" name="Google Shape;392;p33"/>
          <p:cNvGraphicFramePr/>
          <p:nvPr/>
        </p:nvGraphicFramePr>
        <p:xfrm>
          <a:off x="284550" y="10215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{7D2E40E0-5445-4949-82BA-32F7E7773C31}</a:tableStyleId>
              </a:tblPr>
              <a:tblGrid>
                <a:gridCol w="2865900"/>
                <a:gridCol w="2865900"/>
                <a:gridCol w="2865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Paper Title</a:t>
                      </a:r>
                      <a:endParaRPr b="1"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Model/Technique</a:t>
                      </a:r>
                      <a:endParaRPr b="1"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</a:t>
                      </a:r>
                      <a:endParaRPr b="1"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Privacy-Preserving Video Processing with HSV Gaussian Modeling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HSV Gaussian Background Modeling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Uses HSV-based background modeling for robust human masking and inpainting to protect identity.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Appearance Abstraction and Desensitization Techniques for Video Privacy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Object Detection (YOLO, Mask R-CNN)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Masks or blurs identifiable human features to prevent unauthorized identification.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Context-Aware Adaptive Privacy Operators (e.g., X-Stream)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Dynamic Privacy Operator Selection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Dynamically applies different privacy techniques based on video content and risk level.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Encrypted Video Encoding and Analysis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Compressed Encrypted Bitstreams (H.264/AVC, HEVC)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Ensures secure storage and transmission by encrypting video data while enabling selective analytics.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Differential Privacy in Video Analytics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Noise Injection, Differential Privacy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Ensures analytics do not expose individual presence or sensitive information via noise addition.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393" name="Google Shape;393;p33"/>
          <p:cNvSpPr txBox="1"/>
          <p:nvPr>
            <p:ph idx="1" type="body"/>
          </p:nvPr>
        </p:nvSpPr>
        <p:spPr>
          <a:xfrm>
            <a:off x="731400" y="431343"/>
            <a:ext cx="77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2. Privacy Module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9" name="Google Shape;399;p34"/>
          <p:cNvSpPr txBox="1"/>
          <p:nvPr>
            <p:ph idx="1" type="body"/>
          </p:nvPr>
        </p:nvSpPr>
        <p:spPr>
          <a:xfrm>
            <a:off x="731400" y="431343"/>
            <a:ext cx="77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3. Secure steganographic embedding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00" name="Google Shape;400;p34"/>
          <p:cNvGraphicFramePr/>
          <p:nvPr/>
        </p:nvGraphicFramePr>
        <p:xfrm>
          <a:off x="276788" y="97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{7D2E40E0-5445-4949-82BA-32F7E7773C31}</a:tableStyleId>
              </a:tblPr>
              <a:tblGrid>
                <a:gridCol w="2863475"/>
                <a:gridCol w="2863475"/>
                <a:gridCol w="286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Paper Title</a:t>
                      </a:r>
                      <a:endParaRPr b="1"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Model/Technique</a:t>
                      </a:r>
                      <a:endParaRPr b="1"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</a:t>
                      </a:r>
                      <a:endParaRPr b="1"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StegaNeRV: Video Steganography using Implicit Neural Representation (CVPR 2024)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Implicit Neural Representation + U-Net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High-capacity video steganography with high-fidelity reconstruction using neural networks.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Stego-STFAN: Neural Network for Video Steganography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Spatial-Temporal Filter Adaptive Network + Attention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Leverages spatiotemporal redundancy and attention to embed secret data imperceptibly.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Adaptive Highly Secure Video Steganography for Medical Images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Deep CNN + AES Encryption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Combines CNN encoding with encryption for secure, imperceptible steganography in sensitive medical videos.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Octree Decomposition for Spatiotemporal Redundancy Exploitation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Octree-based hierarchical embedding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Uses octree decomposition to embed large payloads while preserving carrier quality and robustness.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Hybrid Steganography with Cryptography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AES Encryption + Frame Shuffling + Edge Detection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Enhances security and imperceptibility by combining encryption and advanced embedding techniques.</a:t>
                      </a:r>
                      <a:endParaRPr sz="95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5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Positioning GenderStego in the Literature</a:t>
            </a:r>
            <a:endParaRPr sz="2300"/>
          </a:p>
        </p:txBody>
      </p:sp>
      <p:sp>
        <p:nvSpPr>
          <p:cNvPr id="406" name="Google Shape;406;p35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Builds on ST‑GCN and recent gait models by using skeleton sequences for gender classification under real‑world surveillance noise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Goes beyond prior privacy filters (blurring, masking) by replacing appearance with gender‑coded skeletons that are still analytically useful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Combines DCT‑based video steganography with AES‑256‑CTR + HMAC to link analytics and cryptographic protection in one pipeline</a:t>
            </a:r>
            <a:endParaRPr sz="1400"/>
          </a:p>
        </p:txBody>
      </p:sp>
      <p:sp>
        <p:nvSpPr>
          <p:cNvPr id="407" name="Google Shape;407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6"/>
          <p:cNvSpPr txBox="1"/>
          <p:nvPr>
            <p:ph idx="4294967295" type="body"/>
          </p:nvPr>
        </p:nvSpPr>
        <p:spPr>
          <a:xfrm>
            <a:off x="713100" y="909851"/>
            <a:ext cx="7836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Dataset Overview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Two datasets were used across this project: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DenseGait is the primary dataset used for model training and evaluation.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OU-ISIR was used in early experimentation to validate the pipeline approach.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OU-ISIR</a:t>
            </a:r>
            <a:r>
              <a:rPr lang="en" sz="1400"/>
              <a:t> dataset was used during early pipeline development to validate that the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ST-GCN architecture and training loop functioned correctly before switching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 DenseGait for full-scale training.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Extensive results are on </a:t>
            </a:r>
            <a:r>
              <a:rPr b="1" lang="en" sz="1400"/>
              <a:t>DenseGait</a:t>
            </a:r>
            <a:r>
              <a:rPr lang="en" sz="1400"/>
              <a:t>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CCCCCC"/>
              </a:solidFill>
            </a:endParaRPr>
          </a:p>
        </p:txBody>
      </p:sp>
      <p:sp>
        <p:nvSpPr>
          <p:cNvPr id="413" name="Google Shape;413;p36"/>
          <p:cNvSpPr txBox="1"/>
          <p:nvPr>
            <p:ph type="title"/>
          </p:nvPr>
        </p:nvSpPr>
        <p:spPr>
          <a:xfrm>
            <a:off x="713100" y="33714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414" name="Google Shape;41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7"/>
          <p:cNvSpPr txBox="1"/>
          <p:nvPr>
            <p:ph idx="4294967295" type="body"/>
          </p:nvPr>
        </p:nvSpPr>
        <p:spPr>
          <a:xfrm>
            <a:off x="713100" y="909851"/>
            <a:ext cx="7836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DenseGait Dataset</a:t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DenseGait (Cosma &amp; Radoi, Sensors 2022)[2] is the largest dataset for gait analysis pretraining.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Tracklets are harvested automatically from real-world video streams and annotated using an automatic attribute detection pipeline.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Gait covariates include occlusion, variable lighting, and multiple camera angles: conditions that mirror real surveillance deployment.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License: CC BY-NC-ND 4.0 (open credentialized access).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7"/>
          <p:cNvSpPr txBox="1"/>
          <p:nvPr>
            <p:ph type="title"/>
          </p:nvPr>
        </p:nvSpPr>
        <p:spPr>
          <a:xfrm>
            <a:off x="713100" y="33714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421" name="Google Shape;421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2" name="Google Shape;422;p37"/>
          <p:cNvPicPr preferRelativeResize="0"/>
          <p:nvPr/>
        </p:nvPicPr>
        <p:blipFill rotWithShape="1">
          <a:blip r:embed="rId3">
            <a:alphaModFix/>
          </a:blip>
          <a:srcRect b="1457" l="1014" r="1453" t="4531"/>
          <a:stretch/>
        </p:blipFill>
        <p:spPr>
          <a:xfrm>
            <a:off x="5868100" y="2518946"/>
            <a:ext cx="2903526" cy="17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7" title="Screenshot 2026-03-05 at 8.05.5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100" y="2518946"/>
            <a:ext cx="4808326" cy="18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7"/>
          <p:cNvSpPr txBox="1"/>
          <p:nvPr/>
        </p:nvSpPr>
        <p:spPr>
          <a:xfrm>
            <a:off x="1007725" y="4500225"/>
            <a:ext cx="69021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Pictures taken from:</a:t>
            </a:r>
            <a:r>
              <a:rPr lang="en" sz="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DenseGait: A Dense Skeleton‑based Gait Database for Pre‑training”, Sensors, 2022</a:t>
            </a:r>
            <a:endParaRPr sz="8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/>
          <p:cNvSpPr txBox="1"/>
          <p:nvPr>
            <p:ph idx="4294967295" type="body"/>
          </p:nvPr>
        </p:nvSpPr>
        <p:spPr>
          <a:xfrm>
            <a:off x="713100" y="909851"/>
            <a:ext cx="7836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Why DenseGait for GenderStego: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• </a:t>
            </a:r>
            <a:r>
              <a:rPr lang="en" sz="1400"/>
              <a:t>Real-world data: model generalizes beyond controlled lab conditions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• Large scale (217K): sufficient for deep learning without manual annotation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• Binary gender label available as one of 42 attributes: directly usable for classification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Model Input Format: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  Tensor shape:  [Batch, 3, T, 18, 1]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Coordinates:   x, y, confidence  (3 channels)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T (frames):     sequence length, padded/truncated to T=64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Joints:            18 skeleton joints (ST-GCN graph nodes)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Label:             Male = 0, Female = 1  (binary classification)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CCCCCC"/>
                </a:solidFill>
              </a:rPr>
              <a:t>Limitations:</a:t>
            </a:r>
            <a:r>
              <a:rPr lang="en" sz="1400">
                <a:solidFill>
                  <a:srgbClr val="CCCCCC"/>
                </a:solidFill>
              </a:rPr>
              <a:t> binary gender labels; automatic attributes may contain label noise; fairness across demographics not evaluated</a:t>
            </a:r>
            <a:endParaRPr sz="1400">
              <a:solidFill>
                <a:srgbClr val="CCCCCC"/>
              </a:solidFill>
            </a:endParaRPr>
          </a:p>
        </p:txBody>
      </p:sp>
      <p:sp>
        <p:nvSpPr>
          <p:cNvPr id="430" name="Google Shape;430;p38"/>
          <p:cNvSpPr txBox="1"/>
          <p:nvPr>
            <p:ph type="title"/>
          </p:nvPr>
        </p:nvSpPr>
        <p:spPr>
          <a:xfrm>
            <a:off x="713100" y="33714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431" name="Google Shape;431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9"/>
          <p:cNvSpPr txBox="1"/>
          <p:nvPr>
            <p:ph type="title"/>
          </p:nvPr>
        </p:nvSpPr>
        <p:spPr>
          <a:xfrm>
            <a:off x="720000" y="3877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437" name="Google Shape;437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39"/>
          <p:cNvSpPr txBox="1"/>
          <p:nvPr>
            <p:ph idx="4294967295" type="body"/>
          </p:nvPr>
        </p:nvSpPr>
        <p:spPr>
          <a:xfrm>
            <a:off x="720000" y="1112100"/>
            <a:ext cx="5029200" cy="36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OU-ISIR Gait Database</a:t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Multi-view Large Population Dataset with Pose Sequence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data set was built upon </a:t>
            </a:r>
            <a:r>
              <a:rPr lang="en" u="sng">
                <a:solidFill>
                  <a:schemeClr val="hlink"/>
                </a:solidFill>
                <a:hlinkClick r:id="rId3"/>
              </a:rPr>
              <a:t>OU-MVLP</a:t>
            </a:r>
            <a:r>
              <a:rPr lang="en"/>
              <a:t>[3]</a:t>
            </a:r>
            <a:r>
              <a:rPr lang="en"/>
              <a:t>. It contains 10,</a:t>
            </a:r>
            <a:r>
              <a:rPr lang="en"/>
              <a:t>3</a:t>
            </a:r>
            <a:r>
              <a:rPr lang="en"/>
              <a:t>07 subjects of round-trip walking sequences captured by seven network cameras at intervals of 15° (this sums to 14 views by considering the round trip on the same walking course) with an image size of 1,280 x 980 pixels and a frame-rate of 25 fps. The video capturing setup is shown here.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pose sequences are then extracted from RGB images using two state-of-the-art pose estimation algorithms, i.e., OpenPose [Cao+ CVPR2017] and AlphaPose [Fang+ ICCV2017]. The estimated pose results include 18 joints.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number of frames in a sequence is from 18 to 35, and most of the sequences contain approximately 25 frames.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Note:</a:t>
            </a:r>
            <a:r>
              <a:rPr lang="en">
                <a:solidFill>
                  <a:srgbClr val="B7B7B7"/>
                </a:solidFill>
              </a:rPr>
              <a:t> OU‑ISIR used only for early pipeline validation; final training and evaluation on DenseGait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439" name="Google Shape;439;p39" title="Screenshot 2025-09-15 at 4.31.5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9100" y="1040050"/>
            <a:ext cx="2709051" cy="2505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9" title="pose_sequenc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9100" y="3806250"/>
            <a:ext cx="2709049" cy="998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9"/>
          <p:cNvSpPr txBox="1"/>
          <p:nvPr/>
        </p:nvSpPr>
        <p:spPr>
          <a:xfrm>
            <a:off x="1007725" y="4803921"/>
            <a:ext cx="69021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Pictures taken from:</a:t>
            </a:r>
            <a:r>
              <a:rPr lang="en" sz="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Performance Evaluation of Model‑Based Gait on Multi‑View Very Large Population Database With Pose Sequences</a:t>
            </a:r>
            <a:endParaRPr sz="8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7" name="Google Shape;447;p40"/>
          <p:cNvSpPr txBox="1"/>
          <p:nvPr>
            <p:ph type="title"/>
          </p:nvPr>
        </p:nvSpPr>
        <p:spPr>
          <a:xfrm>
            <a:off x="190125" y="231250"/>
            <a:ext cx="3353700" cy="10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System Architecture</a:t>
            </a:r>
            <a:endParaRPr sz="1800"/>
          </a:p>
        </p:txBody>
      </p:sp>
      <p:pic>
        <p:nvPicPr>
          <p:cNvPr id="448" name="Google Shape;448;p40" title="fig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9850"/>
            <a:ext cx="8839200" cy="2759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1"/>
          <p:cNvSpPr txBox="1"/>
          <p:nvPr>
            <p:ph idx="4294967295" type="body"/>
          </p:nvPr>
        </p:nvSpPr>
        <p:spPr>
          <a:xfrm>
            <a:off x="723475" y="1073375"/>
            <a:ext cx="76311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GenderStego</a:t>
            </a:r>
            <a:r>
              <a:rPr lang="en" sz="1600"/>
              <a:t> enables privacy-preserving video analytics using gait-based AI and secure steganography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It integrates:</a:t>
            </a:r>
            <a:endParaRPr b="1"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Gait-based pose estimation &amp; gender classification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Privacy-preserving video processing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Secure steganographic embedding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Video reconstruction &amp; evaluation metrics</a:t>
            </a:r>
            <a:endParaRPr sz="1600"/>
          </a:p>
        </p:txBody>
      </p:sp>
      <p:sp>
        <p:nvSpPr>
          <p:cNvPr id="454" name="Google Shape;454;p41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 b="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455" name="Google Shape;45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2"/>
          <p:cNvSpPr txBox="1"/>
          <p:nvPr>
            <p:ph idx="4294967295" type="body"/>
          </p:nvPr>
        </p:nvSpPr>
        <p:spPr>
          <a:xfrm>
            <a:off x="723475" y="1073375"/>
            <a:ext cx="66888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1. </a:t>
            </a:r>
            <a:r>
              <a:rPr b="1" lang="en" sz="1600">
                <a:solidFill>
                  <a:schemeClr val="dk2"/>
                </a:solidFill>
              </a:rPr>
              <a:t>Gait-based pose estimation &amp; gender classification</a:t>
            </a:r>
            <a:endParaRPr b="1" sz="16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Leverages YOLOv8x-Pose for 2D skeletal joint extraction from each video frame.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Extracted pose sequences represent 18 body joints' positions over time. These are the foundation for gender recognition.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Uses Spatial-Temporal Graph Convolutional Network (ST-GCN)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Models human skeleton as a spatio-temporal graph.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Nodes: body joints, Edges: spatial (intra-frame) and temporal (inter-frame) connections.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Trained on DenseGait dataset for robust, accurate gender classification.</a:t>
            </a:r>
            <a:endParaRPr sz="1400"/>
          </a:p>
        </p:txBody>
      </p:sp>
      <p:sp>
        <p:nvSpPr>
          <p:cNvPr id="461" name="Google Shape;461;p42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 b="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462" name="Google Shape;46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3" name="Google Shape;463;p42"/>
          <p:cNvSpPr txBox="1"/>
          <p:nvPr/>
        </p:nvSpPr>
        <p:spPr>
          <a:xfrm>
            <a:off x="1949200" y="4604100"/>
            <a:ext cx="673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https://www.researchgate.net/figure/Eighteen-joints-of-a-human-body-extracted-from-each-frame-are-input-to-LSTM-to-classify_fig4_359744285</a:t>
            </a:r>
            <a:endParaRPr sz="800">
              <a:solidFill>
                <a:schemeClr val="dk1"/>
              </a:solidFill>
            </a:endParaRPr>
          </a:p>
        </p:txBody>
      </p:sp>
      <p:pic>
        <p:nvPicPr>
          <p:cNvPr id="464" name="Google Shape;464;p42" title="18join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5350" y="1268026"/>
            <a:ext cx="1666850" cy="290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43"/>
          <p:cNvSpPr txBox="1"/>
          <p:nvPr>
            <p:ph type="title"/>
          </p:nvPr>
        </p:nvSpPr>
        <p:spPr>
          <a:xfrm>
            <a:off x="181375" y="382100"/>
            <a:ext cx="5297700" cy="5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Gait Gender Classifier Architecture</a:t>
            </a:r>
            <a:endParaRPr sz="1800"/>
          </a:p>
        </p:txBody>
      </p:sp>
      <p:pic>
        <p:nvPicPr>
          <p:cNvPr id="471" name="Google Shape;471;p43" title="fig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850" y="1057349"/>
            <a:ext cx="7424674" cy="383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4"/>
          <p:cNvSpPr txBox="1"/>
          <p:nvPr>
            <p:ph idx="4294967295" type="body"/>
          </p:nvPr>
        </p:nvSpPr>
        <p:spPr>
          <a:xfrm>
            <a:off x="713100" y="1005675"/>
            <a:ext cx="8044200" cy="3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1. Gait-based pose estimation &amp; gender classification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Pose estimation: </a:t>
            </a:r>
            <a:r>
              <a:rPr lang="en" sz="1300"/>
              <a:t>Use YOLOv8x‑Pose to extract 2D keypoints for each person in every frame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Sequence building: </a:t>
            </a:r>
            <a:r>
              <a:rPr lang="en" sz="1300"/>
              <a:t>Convert 17 COCO joints to 18 OpenPose joints and build pose sequences of length T=64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ST-GCN model: </a:t>
            </a:r>
            <a:r>
              <a:rPr lang="en" sz="1300"/>
              <a:t>Feed sequences ‎[B, 3, T, 18, 1] into an ST‑GCN with three stages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64→128→256 channels</a:t>
            </a:r>
            <a:endParaRPr b="1"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Classification: </a:t>
            </a:r>
            <a:r>
              <a:rPr lang="en" sz="1300"/>
              <a:t>Apply global average pooling and a sigmoid layer to output a binary gender score (Male / Female)</a:t>
            </a:r>
            <a:endParaRPr sz="1300"/>
          </a:p>
        </p:txBody>
      </p:sp>
      <p:sp>
        <p:nvSpPr>
          <p:cNvPr id="477" name="Google Shape;477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44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 b="0"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4" name="Google Shape;484;p45"/>
          <p:cNvSpPr txBox="1"/>
          <p:nvPr/>
        </p:nvSpPr>
        <p:spPr>
          <a:xfrm>
            <a:off x="152400" y="308550"/>
            <a:ext cx="426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Privacy Module Architecture</a:t>
            </a:r>
            <a:endParaRPr sz="18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pic>
        <p:nvPicPr>
          <p:cNvPr id="485" name="Google Shape;485;p45" title="fig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2650"/>
            <a:ext cx="8839202" cy="3196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6"/>
          <p:cNvSpPr txBox="1"/>
          <p:nvPr>
            <p:ph idx="4294967295" type="body"/>
          </p:nvPr>
        </p:nvSpPr>
        <p:spPr>
          <a:xfrm>
            <a:off x="723475" y="1073375"/>
            <a:ext cx="76311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2. </a:t>
            </a:r>
            <a:r>
              <a:rPr b="1" lang="en" sz="1600">
                <a:solidFill>
                  <a:schemeClr val="dk2"/>
                </a:solidFill>
              </a:rPr>
              <a:t>Privacy-preserving video processing</a:t>
            </a:r>
            <a:endParaRPr b="1" sz="16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Generates a clean background with HSV Gaussian modeling to minimize shadow and lighting issues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Blacks out everything except human figures in the video (private/blackout video)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Inpaints human regions with the background to create a person-free scene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Overlays color-coded 2D skeletons (blue: male, red: female) onto the inpainted background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Only pose information (not appearance) is visible. This protects identity while preserving analytic value</a:t>
            </a:r>
            <a:endParaRPr sz="1400"/>
          </a:p>
        </p:txBody>
      </p:sp>
      <p:sp>
        <p:nvSpPr>
          <p:cNvPr id="491" name="Google Shape;491;p46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 b="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492" name="Google Shape;492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8" name="Google Shape;498;p47"/>
          <p:cNvSpPr txBox="1"/>
          <p:nvPr>
            <p:ph type="title"/>
          </p:nvPr>
        </p:nvSpPr>
        <p:spPr>
          <a:xfrm>
            <a:off x="190125" y="539400"/>
            <a:ext cx="2316600" cy="10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Encryption</a:t>
            </a:r>
            <a:endParaRPr sz="1800"/>
          </a:p>
        </p:txBody>
      </p:sp>
      <p:pic>
        <p:nvPicPr>
          <p:cNvPr id="499" name="Google Shape;499;p47" title="fig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700" y="1387175"/>
            <a:ext cx="7872597" cy="286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/>
          <p:nvPr>
            <p:ph idx="4294967295" type="body"/>
          </p:nvPr>
        </p:nvSpPr>
        <p:spPr>
          <a:xfrm>
            <a:off x="723475" y="1073375"/>
            <a:ext cx="76311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3. </a:t>
            </a:r>
            <a:r>
              <a:rPr b="1" lang="en" sz="1600">
                <a:solidFill>
                  <a:schemeClr val="dk2"/>
                </a:solidFill>
              </a:rPr>
              <a:t>Secure steganographic embedding</a:t>
            </a:r>
            <a:endParaRPr b="1" sz="16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Discrete Cosine Transform (DCT) steganography embeds the original video inside the skeletal (pose) video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Frames hidden in frequency domain using quantization and pixel adjustments for imperceptibility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Embedded data is secured: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AES-256 encryption for confidentiality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HMAC for integrity/authentication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Output is a “stego video” that visually shows only pose skeletons but contains the encrypted original</a:t>
            </a:r>
            <a:endParaRPr sz="1400"/>
          </a:p>
        </p:txBody>
      </p:sp>
      <p:sp>
        <p:nvSpPr>
          <p:cNvPr id="505" name="Google Shape;505;p48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 b="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06" name="Google Shape;506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49"/>
          <p:cNvSpPr txBox="1"/>
          <p:nvPr>
            <p:ph type="title"/>
          </p:nvPr>
        </p:nvSpPr>
        <p:spPr>
          <a:xfrm>
            <a:off x="190125" y="539400"/>
            <a:ext cx="2316600" cy="10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Reconstruction</a:t>
            </a:r>
            <a:endParaRPr sz="1800"/>
          </a:p>
        </p:txBody>
      </p:sp>
      <p:pic>
        <p:nvPicPr>
          <p:cNvPr id="513" name="Google Shape;513;p49" title="fig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28000"/>
            <a:ext cx="8839202" cy="191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0"/>
          <p:cNvSpPr txBox="1"/>
          <p:nvPr>
            <p:ph idx="4294967295" type="body"/>
          </p:nvPr>
        </p:nvSpPr>
        <p:spPr>
          <a:xfrm>
            <a:off x="723475" y="1073375"/>
            <a:ext cx="76311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4. Video reconstruction &amp; evaluation metrics</a:t>
            </a:r>
            <a:endParaRPr b="1" sz="16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Original video is reconstructed through an inverse process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Evaluation metrics include: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Mean Squared Error (MSE)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Peak Signal-to-Noise Ratio (PSNR)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Image similarity scores</a:t>
            </a:r>
            <a:endParaRPr sz="1400"/>
          </a:p>
        </p:txBody>
      </p:sp>
      <p:sp>
        <p:nvSpPr>
          <p:cNvPr id="519" name="Google Shape;519;p50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 b="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20" name="Google Shape;520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1"/>
          <p:cNvSpPr txBox="1"/>
          <p:nvPr>
            <p:ph idx="4294967295" type="body"/>
          </p:nvPr>
        </p:nvSpPr>
        <p:spPr>
          <a:xfrm>
            <a:off x="723475" y="1073375"/>
            <a:ext cx="112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vid1</a:t>
            </a:r>
            <a:endParaRPr sz="1400"/>
          </a:p>
        </p:txBody>
      </p:sp>
      <p:sp>
        <p:nvSpPr>
          <p:cNvPr id="526" name="Google Shape;526;p51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 b="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27" name="Google Shape;527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51"/>
          <p:cNvSpPr txBox="1"/>
          <p:nvPr>
            <p:ph idx="4294967295" type="body"/>
          </p:nvPr>
        </p:nvSpPr>
        <p:spPr>
          <a:xfrm>
            <a:off x="507350" y="242382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529" name="Google Shape;529;p51"/>
          <p:cNvSpPr txBox="1"/>
          <p:nvPr>
            <p:ph idx="4294967295" type="body"/>
          </p:nvPr>
        </p:nvSpPr>
        <p:spPr>
          <a:xfrm>
            <a:off x="3077463" y="242382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2</a:t>
            </a:r>
            <a:endParaRPr/>
          </a:p>
        </p:txBody>
      </p:sp>
      <p:sp>
        <p:nvSpPr>
          <p:cNvPr id="530" name="Google Shape;530;p51"/>
          <p:cNvSpPr txBox="1"/>
          <p:nvPr>
            <p:ph idx="4294967295" type="body"/>
          </p:nvPr>
        </p:nvSpPr>
        <p:spPr>
          <a:xfrm>
            <a:off x="5627888" y="2399400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3</a:t>
            </a:r>
            <a:endParaRPr/>
          </a:p>
        </p:txBody>
      </p:sp>
      <p:sp>
        <p:nvSpPr>
          <p:cNvPr id="531" name="Google Shape;531;p51"/>
          <p:cNvSpPr txBox="1"/>
          <p:nvPr>
            <p:ph idx="4294967295" type="body"/>
          </p:nvPr>
        </p:nvSpPr>
        <p:spPr>
          <a:xfrm>
            <a:off x="507350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4</a:t>
            </a:r>
            <a:endParaRPr/>
          </a:p>
        </p:txBody>
      </p:sp>
      <p:sp>
        <p:nvSpPr>
          <p:cNvPr id="532" name="Google Shape;532;p51"/>
          <p:cNvSpPr txBox="1"/>
          <p:nvPr>
            <p:ph idx="4294967295" type="body"/>
          </p:nvPr>
        </p:nvSpPr>
        <p:spPr>
          <a:xfrm>
            <a:off x="3077463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5</a:t>
            </a:r>
            <a:endParaRPr/>
          </a:p>
        </p:txBody>
      </p:sp>
      <p:sp>
        <p:nvSpPr>
          <p:cNvPr id="533" name="Google Shape;533;p51"/>
          <p:cNvSpPr txBox="1"/>
          <p:nvPr>
            <p:ph idx="4294967295" type="body"/>
          </p:nvPr>
        </p:nvSpPr>
        <p:spPr>
          <a:xfrm>
            <a:off x="5627888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6</a:t>
            </a:r>
            <a:endParaRPr/>
          </a:p>
        </p:txBody>
      </p:sp>
      <p:pic>
        <p:nvPicPr>
          <p:cNvPr id="534" name="Google Shape;534;p51" title="vid2-1.av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150" y="1466975"/>
            <a:ext cx="2321952" cy="1306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1" title="vid2-1-pose_annotated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5500" y="1479175"/>
            <a:ext cx="2270349" cy="1277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1" title="vid2-1-output_inpainted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7149" y="3173175"/>
            <a:ext cx="2321952" cy="1306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51" title="vid2-1-pose_gender_overlay.mp4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75950" y="3187700"/>
            <a:ext cx="2270349" cy="127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51" title="vid2-1.avi">
            <a:hlinkClick r:id="rId11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1550" y="3173187"/>
            <a:ext cx="2321952" cy="1306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51" title="vid2-1-isolated_persons.avi">
            <a:hlinkClick r:id="rId12"/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75950" y="1466975"/>
            <a:ext cx="2321997" cy="1306127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51"/>
          <p:cNvSpPr txBox="1"/>
          <p:nvPr>
            <p:ph type="title"/>
          </p:nvPr>
        </p:nvSpPr>
        <p:spPr>
          <a:xfrm>
            <a:off x="8621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Original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41" name="Google Shape;541;p51"/>
          <p:cNvSpPr txBox="1"/>
          <p:nvPr>
            <p:ph type="title"/>
          </p:nvPr>
        </p:nvSpPr>
        <p:spPr>
          <a:xfrm>
            <a:off x="3289438" y="4464775"/>
            <a:ext cx="25107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Reconstructed</a:t>
            </a:r>
            <a:r>
              <a:rPr lang="en" sz="1500"/>
              <a:t>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42" name="Google Shape;542;p51"/>
          <p:cNvSpPr txBox="1"/>
          <p:nvPr>
            <p:ph type="title"/>
          </p:nvPr>
        </p:nvSpPr>
        <p:spPr>
          <a:xfrm>
            <a:off x="34442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Pose Estimation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43" name="Google Shape;543;p51"/>
          <p:cNvSpPr txBox="1"/>
          <p:nvPr>
            <p:ph type="title"/>
          </p:nvPr>
        </p:nvSpPr>
        <p:spPr>
          <a:xfrm>
            <a:off x="59826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Isolate Persons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44" name="Google Shape;544;p51"/>
          <p:cNvSpPr txBox="1"/>
          <p:nvPr>
            <p:ph type="title"/>
          </p:nvPr>
        </p:nvSpPr>
        <p:spPr>
          <a:xfrm>
            <a:off x="887938" y="4464775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Stego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45" name="Google Shape;545;p51"/>
          <p:cNvSpPr txBox="1"/>
          <p:nvPr>
            <p:ph type="title"/>
          </p:nvPr>
        </p:nvSpPr>
        <p:spPr>
          <a:xfrm>
            <a:off x="6000488" y="4464775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Skeletal</a:t>
            </a:r>
            <a:r>
              <a:rPr lang="en" sz="1500"/>
              <a:t>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2"/>
          <p:cNvSpPr txBox="1"/>
          <p:nvPr>
            <p:ph idx="4294967295" type="body"/>
          </p:nvPr>
        </p:nvSpPr>
        <p:spPr>
          <a:xfrm>
            <a:off x="723475" y="1073375"/>
            <a:ext cx="76311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Premise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We have still camera, good lighting, only one person walking their dog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Expectation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Pipeline detects person identifies as female, hides her, omits dog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Observed Outcome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Success, outcome is same as expectation</a:t>
            </a:r>
            <a:endParaRPr b="1" sz="1600"/>
          </a:p>
        </p:txBody>
      </p:sp>
      <p:sp>
        <p:nvSpPr>
          <p:cNvPr id="551" name="Google Shape;551;p52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vid1 – Scenario, Expectation, Outcome</a:t>
            </a:r>
            <a:endParaRPr b="0" sz="24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52" name="Google Shape;552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3"/>
          <p:cNvSpPr txBox="1"/>
          <p:nvPr>
            <p:ph idx="4294967295" type="body"/>
          </p:nvPr>
        </p:nvSpPr>
        <p:spPr>
          <a:xfrm>
            <a:off x="723475" y="1073375"/>
            <a:ext cx="112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vid2</a:t>
            </a:r>
            <a:endParaRPr sz="1400"/>
          </a:p>
        </p:txBody>
      </p:sp>
      <p:sp>
        <p:nvSpPr>
          <p:cNvPr id="558" name="Google Shape;558;p53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 b="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59" name="Google Shape;559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0" name="Google Shape;560;p53"/>
          <p:cNvSpPr txBox="1"/>
          <p:nvPr>
            <p:ph idx="4294967295" type="body"/>
          </p:nvPr>
        </p:nvSpPr>
        <p:spPr>
          <a:xfrm>
            <a:off x="507350" y="242382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561" name="Google Shape;561;p53"/>
          <p:cNvSpPr txBox="1"/>
          <p:nvPr>
            <p:ph idx="4294967295" type="body"/>
          </p:nvPr>
        </p:nvSpPr>
        <p:spPr>
          <a:xfrm>
            <a:off x="3077463" y="242382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2</a:t>
            </a:r>
            <a:endParaRPr/>
          </a:p>
        </p:txBody>
      </p:sp>
      <p:sp>
        <p:nvSpPr>
          <p:cNvPr id="562" name="Google Shape;562;p53"/>
          <p:cNvSpPr txBox="1"/>
          <p:nvPr>
            <p:ph idx="4294967295" type="body"/>
          </p:nvPr>
        </p:nvSpPr>
        <p:spPr>
          <a:xfrm>
            <a:off x="5627888" y="2399400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3</a:t>
            </a:r>
            <a:endParaRPr/>
          </a:p>
        </p:txBody>
      </p:sp>
      <p:sp>
        <p:nvSpPr>
          <p:cNvPr id="563" name="Google Shape;563;p53"/>
          <p:cNvSpPr txBox="1"/>
          <p:nvPr>
            <p:ph idx="4294967295" type="body"/>
          </p:nvPr>
        </p:nvSpPr>
        <p:spPr>
          <a:xfrm>
            <a:off x="507350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4</a:t>
            </a:r>
            <a:endParaRPr/>
          </a:p>
        </p:txBody>
      </p:sp>
      <p:sp>
        <p:nvSpPr>
          <p:cNvPr id="564" name="Google Shape;564;p53"/>
          <p:cNvSpPr txBox="1"/>
          <p:nvPr>
            <p:ph idx="4294967295" type="body"/>
          </p:nvPr>
        </p:nvSpPr>
        <p:spPr>
          <a:xfrm>
            <a:off x="3077463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5</a:t>
            </a:r>
            <a:endParaRPr/>
          </a:p>
        </p:txBody>
      </p:sp>
      <p:sp>
        <p:nvSpPr>
          <p:cNvPr id="565" name="Google Shape;565;p53"/>
          <p:cNvSpPr txBox="1"/>
          <p:nvPr>
            <p:ph idx="4294967295" type="body"/>
          </p:nvPr>
        </p:nvSpPr>
        <p:spPr>
          <a:xfrm>
            <a:off x="5627888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6</a:t>
            </a:r>
            <a:endParaRPr/>
          </a:p>
        </p:txBody>
      </p:sp>
      <p:pic>
        <p:nvPicPr>
          <p:cNvPr id="566" name="Google Shape;566;p53" title="vid2-2.av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475" y="1479175"/>
            <a:ext cx="2321952" cy="1306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53" title="vid2-2-pose_annotated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3475" y="1490995"/>
            <a:ext cx="2270349" cy="1277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53" title="QP27B30_enc (1).avi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3475" y="3165775"/>
            <a:ext cx="2399949" cy="134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53" title="vid2-2-pose_gender_overlay.mp4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63475" y="3165775"/>
            <a:ext cx="2399949" cy="134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3" title="vid2-2.avi">
            <a:hlinkClick r:id="rId11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6375" y="3187713"/>
            <a:ext cx="2321952" cy="1306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3" title="vid2-2-isolated_persons.avi">
            <a:hlinkClick r:id="rId12"/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63475" y="1423349"/>
            <a:ext cx="2399949" cy="13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53"/>
          <p:cNvSpPr txBox="1"/>
          <p:nvPr>
            <p:ph type="title"/>
          </p:nvPr>
        </p:nvSpPr>
        <p:spPr>
          <a:xfrm>
            <a:off x="8621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Original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73" name="Google Shape;573;p53"/>
          <p:cNvSpPr txBox="1"/>
          <p:nvPr>
            <p:ph type="title"/>
          </p:nvPr>
        </p:nvSpPr>
        <p:spPr>
          <a:xfrm>
            <a:off x="3289438" y="4464775"/>
            <a:ext cx="25107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Reconstructed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74" name="Google Shape;574;p53"/>
          <p:cNvSpPr txBox="1"/>
          <p:nvPr>
            <p:ph type="title"/>
          </p:nvPr>
        </p:nvSpPr>
        <p:spPr>
          <a:xfrm>
            <a:off x="34442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Pose Estimation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75" name="Google Shape;575;p53"/>
          <p:cNvSpPr txBox="1"/>
          <p:nvPr>
            <p:ph type="title"/>
          </p:nvPr>
        </p:nvSpPr>
        <p:spPr>
          <a:xfrm>
            <a:off x="59826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Isolate Persons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76" name="Google Shape;576;p53"/>
          <p:cNvSpPr txBox="1"/>
          <p:nvPr>
            <p:ph type="title"/>
          </p:nvPr>
        </p:nvSpPr>
        <p:spPr>
          <a:xfrm>
            <a:off x="887938" y="4464775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Stego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77" name="Google Shape;577;p53"/>
          <p:cNvSpPr txBox="1"/>
          <p:nvPr>
            <p:ph type="title"/>
          </p:nvPr>
        </p:nvSpPr>
        <p:spPr>
          <a:xfrm>
            <a:off x="6000488" y="4464775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Skeletal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4"/>
          <p:cNvSpPr txBox="1"/>
          <p:nvPr>
            <p:ph idx="4294967295" type="body"/>
          </p:nvPr>
        </p:nvSpPr>
        <p:spPr>
          <a:xfrm>
            <a:off x="723475" y="1073375"/>
            <a:ext cx="76311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Premise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We have still camera, good lighting, only one person walking their dog, different camera angle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Expectation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Pipeline detects person identifies as female, hides her, omits dog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Observed Outcome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Success, outcome is same as expectation</a:t>
            </a:r>
            <a:endParaRPr b="1" sz="1600"/>
          </a:p>
        </p:txBody>
      </p:sp>
      <p:sp>
        <p:nvSpPr>
          <p:cNvPr id="583" name="Google Shape;583;p54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vid2 – Scenario, Expectation, Outcome</a:t>
            </a:r>
            <a:endParaRPr b="0" sz="24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84" name="Google Shape;584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5"/>
          <p:cNvSpPr txBox="1"/>
          <p:nvPr>
            <p:ph idx="4294967295" type="body"/>
          </p:nvPr>
        </p:nvSpPr>
        <p:spPr>
          <a:xfrm>
            <a:off x="723475" y="1073375"/>
            <a:ext cx="665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vid3</a:t>
            </a:r>
            <a:endParaRPr sz="1400"/>
          </a:p>
        </p:txBody>
      </p:sp>
      <p:sp>
        <p:nvSpPr>
          <p:cNvPr id="590" name="Google Shape;590;p55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 b="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91" name="Google Shape;591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2" name="Google Shape;592;p55" title="step 1 - vid3.av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475" y="1479175"/>
            <a:ext cx="2321950" cy="127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55" title="step 2 - vid3_pose_estimations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5500" y="1479175"/>
            <a:ext cx="2270362" cy="1277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55" title="step 3 - vid3_isolated_persons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75925" y="1479175"/>
            <a:ext cx="2270352" cy="1277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55" title="step 4 - vid3-inpainted.mp4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3475" y="3187700"/>
            <a:ext cx="2321950" cy="1277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55" title="step 5 - vid3_Rec_Msg_QP27B30.mp4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325503" y="3187700"/>
            <a:ext cx="2321950" cy="1277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55" title="step 6 - vid3_skeleton_overlay.mp4">
            <a:hlinkClick r:id="rId13"/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927525" y="3187700"/>
            <a:ext cx="2218750" cy="1220318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55"/>
          <p:cNvSpPr txBox="1"/>
          <p:nvPr>
            <p:ph idx="4294967295" type="body"/>
          </p:nvPr>
        </p:nvSpPr>
        <p:spPr>
          <a:xfrm>
            <a:off x="507350" y="242382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599" name="Google Shape;599;p55"/>
          <p:cNvSpPr txBox="1"/>
          <p:nvPr>
            <p:ph idx="4294967295" type="body"/>
          </p:nvPr>
        </p:nvSpPr>
        <p:spPr>
          <a:xfrm>
            <a:off x="3077463" y="242382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2</a:t>
            </a:r>
            <a:endParaRPr/>
          </a:p>
        </p:txBody>
      </p:sp>
      <p:sp>
        <p:nvSpPr>
          <p:cNvPr id="600" name="Google Shape;600;p55"/>
          <p:cNvSpPr txBox="1"/>
          <p:nvPr>
            <p:ph idx="4294967295" type="body"/>
          </p:nvPr>
        </p:nvSpPr>
        <p:spPr>
          <a:xfrm>
            <a:off x="5627888" y="2399400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3</a:t>
            </a:r>
            <a:endParaRPr/>
          </a:p>
        </p:txBody>
      </p:sp>
      <p:sp>
        <p:nvSpPr>
          <p:cNvPr id="601" name="Google Shape;601;p55"/>
          <p:cNvSpPr txBox="1"/>
          <p:nvPr>
            <p:ph idx="4294967295" type="body"/>
          </p:nvPr>
        </p:nvSpPr>
        <p:spPr>
          <a:xfrm>
            <a:off x="507350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4</a:t>
            </a:r>
            <a:endParaRPr/>
          </a:p>
        </p:txBody>
      </p:sp>
      <p:sp>
        <p:nvSpPr>
          <p:cNvPr id="602" name="Google Shape;602;p55"/>
          <p:cNvSpPr txBox="1"/>
          <p:nvPr>
            <p:ph idx="4294967295" type="body"/>
          </p:nvPr>
        </p:nvSpPr>
        <p:spPr>
          <a:xfrm>
            <a:off x="3077463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5</a:t>
            </a:r>
            <a:endParaRPr/>
          </a:p>
        </p:txBody>
      </p:sp>
      <p:sp>
        <p:nvSpPr>
          <p:cNvPr id="603" name="Google Shape;603;p55"/>
          <p:cNvSpPr txBox="1"/>
          <p:nvPr>
            <p:ph idx="4294967295" type="body"/>
          </p:nvPr>
        </p:nvSpPr>
        <p:spPr>
          <a:xfrm>
            <a:off x="5679488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6</a:t>
            </a:r>
            <a:endParaRPr/>
          </a:p>
        </p:txBody>
      </p:sp>
      <p:sp>
        <p:nvSpPr>
          <p:cNvPr id="604" name="Google Shape;604;p55"/>
          <p:cNvSpPr txBox="1"/>
          <p:nvPr>
            <p:ph type="title"/>
          </p:nvPr>
        </p:nvSpPr>
        <p:spPr>
          <a:xfrm>
            <a:off x="8621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Original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05" name="Google Shape;605;p55"/>
          <p:cNvSpPr txBox="1"/>
          <p:nvPr>
            <p:ph type="title"/>
          </p:nvPr>
        </p:nvSpPr>
        <p:spPr>
          <a:xfrm>
            <a:off x="3289438" y="4464775"/>
            <a:ext cx="25107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Reconstructed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06" name="Google Shape;606;p55"/>
          <p:cNvSpPr txBox="1"/>
          <p:nvPr>
            <p:ph type="title"/>
          </p:nvPr>
        </p:nvSpPr>
        <p:spPr>
          <a:xfrm>
            <a:off x="34442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Pose Estimation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07" name="Google Shape;607;p55"/>
          <p:cNvSpPr txBox="1"/>
          <p:nvPr>
            <p:ph type="title"/>
          </p:nvPr>
        </p:nvSpPr>
        <p:spPr>
          <a:xfrm>
            <a:off x="59826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Isolate Persons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08" name="Google Shape;608;p55"/>
          <p:cNvSpPr txBox="1"/>
          <p:nvPr>
            <p:ph type="title"/>
          </p:nvPr>
        </p:nvSpPr>
        <p:spPr>
          <a:xfrm>
            <a:off x="887938" y="4464775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Stego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09" name="Google Shape;609;p55"/>
          <p:cNvSpPr txBox="1"/>
          <p:nvPr>
            <p:ph type="title"/>
          </p:nvPr>
        </p:nvSpPr>
        <p:spPr>
          <a:xfrm>
            <a:off x="6000488" y="4464775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Skeletal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6"/>
          <p:cNvSpPr txBox="1"/>
          <p:nvPr>
            <p:ph idx="4294967295" type="body"/>
          </p:nvPr>
        </p:nvSpPr>
        <p:spPr>
          <a:xfrm>
            <a:off x="723475" y="1073375"/>
            <a:ext cx="76311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Premise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 man walking, still camera, good lighting, black clothing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Expectation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Hides the person, classifies as male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Observed Outcome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Success, outcome is same as expectation</a:t>
            </a:r>
            <a:endParaRPr b="1" sz="1600"/>
          </a:p>
        </p:txBody>
      </p:sp>
      <p:sp>
        <p:nvSpPr>
          <p:cNvPr id="615" name="Google Shape;615;p56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vid3 – Scenario, Expectation, Outcome</a:t>
            </a:r>
            <a:endParaRPr b="0" sz="24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16" name="Google Shape;616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7"/>
          <p:cNvSpPr txBox="1"/>
          <p:nvPr>
            <p:ph idx="4294967295" type="body"/>
          </p:nvPr>
        </p:nvSpPr>
        <p:spPr>
          <a:xfrm>
            <a:off x="723475" y="1073375"/>
            <a:ext cx="665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vid4</a:t>
            </a:r>
            <a:endParaRPr sz="1400"/>
          </a:p>
        </p:txBody>
      </p:sp>
      <p:sp>
        <p:nvSpPr>
          <p:cNvPr id="622" name="Google Shape;622;p57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 b="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23" name="Google Shape;623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4" name="Google Shape;624;p57"/>
          <p:cNvSpPr txBox="1"/>
          <p:nvPr>
            <p:ph idx="4294967295" type="body"/>
          </p:nvPr>
        </p:nvSpPr>
        <p:spPr>
          <a:xfrm>
            <a:off x="507350" y="242382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625" name="Google Shape;625;p57"/>
          <p:cNvSpPr txBox="1"/>
          <p:nvPr>
            <p:ph idx="4294967295" type="body"/>
          </p:nvPr>
        </p:nvSpPr>
        <p:spPr>
          <a:xfrm>
            <a:off x="3077463" y="242382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2</a:t>
            </a:r>
            <a:endParaRPr/>
          </a:p>
        </p:txBody>
      </p:sp>
      <p:sp>
        <p:nvSpPr>
          <p:cNvPr id="626" name="Google Shape;626;p57"/>
          <p:cNvSpPr txBox="1"/>
          <p:nvPr>
            <p:ph idx="4294967295" type="body"/>
          </p:nvPr>
        </p:nvSpPr>
        <p:spPr>
          <a:xfrm>
            <a:off x="5627888" y="2399400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3</a:t>
            </a:r>
            <a:endParaRPr/>
          </a:p>
        </p:txBody>
      </p:sp>
      <p:sp>
        <p:nvSpPr>
          <p:cNvPr id="627" name="Google Shape;627;p57"/>
          <p:cNvSpPr txBox="1"/>
          <p:nvPr>
            <p:ph idx="4294967295" type="body"/>
          </p:nvPr>
        </p:nvSpPr>
        <p:spPr>
          <a:xfrm>
            <a:off x="507350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4</a:t>
            </a:r>
            <a:endParaRPr/>
          </a:p>
        </p:txBody>
      </p:sp>
      <p:sp>
        <p:nvSpPr>
          <p:cNvPr id="628" name="Google Shape;628;p57"/>
          <p:cNvSpPr txBox="1"/>
          <p:nvPr>
            <p:ph idx="4294967295" type="body"/>
          </p:nvPr>
        </p:nvSpPr>
        <p:spPr>
          <a:xfrm>
            <a:off x="3077463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5</a:t>
            </a:r>
            <a:endParaRPr/>
          </a:p>
        </p:txBody>
      </p:sp>
      <p:sp>
        <p:nvSpPr>
          <p:cNvPr id="629" name="Google Shape;629;p57"/>
          <p:cNvSpPr txBox="1"/>
          <p:nvPr>
            <p:ph idx="4294967295" type="body"/>
          </p:nvPr>
        </p:nvSpPr>
        <p:spPr>
          <a:xfrm>
            <a:off x="5627888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6</a:t>
            </a:r>
            <a:endParaRPr/>
          </a:p>
        </p:txBody>
      </p:sp>
      <p:pic>
        <p:nvPicPr>
          <p:cNvPr id="630" name="Google Shape;630;p57" title="step 1 - vid4.av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150" y="1466975"/>
            <a:ext cx="2321950" cy="127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57" title="step 2 - vid4_pose_estimations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5500" y="1479175"/>
            <a:ext cx="2270352" cy="1277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57" title="step 3 - isolated_persons_vid4-matlab.avi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75950" y="1479172"/>
            <a:ext cx="2321950" cy="1277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57" title="vid4_best_cycle_QP27B30.avi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67150" y="3187700"/>
            <a:ext cx="2321950" cy="1277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57" title="pose_gender_overlay.mp4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75950" y="3201888"/>
            <a:ext cx="2270350" cy="1248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57" title="step 1 - vid4.avi">
            <a:hlinkClick r:id="rId1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1550" y="3187700"/>
            <a:ext cx="2321950" cy="1277075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57"/>
          <p:cNvSpPr txBox="1"/>
          <p:nvPr>
            <p:ph type="title"/>
          </p:nvPr>
        </p:nvSpPr>
        <p:spPr>
          <a:xfrm>
            <a:off x="8621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Original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37" name="Google Shape;637;p57"/>
          <p:cNvSpPr txBox="1"/>
          <p:nvPr>
            <p:ph type="title"/>
          </p:nvPr>
        </p:nvSpPr>
        <p:spPr>
          <a:xfrm>
            <a:off x="3289438" y="4464775"/>
            <a:ext cx="25107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Reconstructed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38" name="Google Shape;638;p57"/>
          <p:cNvSpPr txBox="1"/>
          <p:nvPr>
            <p:ph type="title"/>
          </p:nvPr>
        </p:nvSpPr>
        <p:spPr>
          <a:xfrm>
            <a:off x="34442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Pose Estimation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39" name="Google Shape;639;p57"/>
          <p:cNvSpPr txBox="1"/>
          <p:nvPr>
            <p:ph type="title"/>
          </p:nvPr>
        </p:nvSpPr>
        <p:spPr>
          <a:xfrm>
            <a:off x="59826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Isolate Persons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40" name="Google Shape;640;p57"/>
          <p:cNvSpPr txBox="1"/>
          <p:nvPr>
            <p:ph type="title"/>
          </p:nvPr>
        </p:nvSpPr>
        <p:spPr>
          <a:xfrm>
            <a:off x="887938" y="4464775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Stego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41" name="Google Shape;641;p57"/>
          <p:cNvSpPr txBox="1"/>
          <p:nvPr>
            <p:ph type="title"/>
          </p:nvPr>
        </p:nvSpPr>
        <p:spPr>
          <a:xfrm>
            <a:off x="6000488" y="4464775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Skeletal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8"/>
          <p:cNvSpPr txBox="1"/>
          <p:nvPr>
            <p:ph idx="4294967295" type="body"/>
          </p:nvPr>
        </p:nvSpPr>
        <p:spPr>
          <a:xfrm>
            <a:off x="723475" y="1073375"/>
            <a:ext cx="7631100" cy="3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Premise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Multiple people in video, people cycling, walking closely, good lighting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Expectation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Hides and classifies people, might </a:t>
            </a:r>
            <a:r>
              <a:rPr b="1" lang="en" sz="1600"/>
              <a:t>struggle</a:t>
            </a:r>
            <a:r>
              <a:rPr b="1" lang="en" sz="1600"/>
              <a:t> with hiding and classifying cyclists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Observed Outcome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Hides people well, correctly classifies people walking, incorrectly classifies cyclists</a:t>
            </a:r>
            <a:endParaRPr b="1" sz="1600"/>
          </a:p>
        </p:txBody>
      </p:sp>
      <p:sp>
        <p:nvSpPr>
          <p:cNvPr id="647" name="Google Shape;647;p58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vid4 – Scenario, Expectation, Outcome</a:t>
            </a:r>
            <a:endParaRPr b="0" sz="24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48" name="Google Shape;648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9"/>
          <p:cNvSpPr txBox="1"/>
          <p:nvPr>
            <p:ph idx="4294967295" type="body"/>
          </p:nvPr>
        </p:nvSpPr>
        <p:spPr>
          <a:xfrm>
            <a:off x="723475" y="1073375"/>
            <a:ext cx="665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vid5</a:t>
            </a:r>
            <a:endParaRPr sz="1400"/>
          </a:p>
        </p:txBody>
      </p:sp>
      <p:sp>
        <p:nvSpPr>
          <p:cNvPr id="654" name="Google Shape;654;p59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 b="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55" name="Google Shape;655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6" name="Google Shape;656;p59"/>
          <p:cNvSpPr txBox="1"/>
          <p:nvPr>
            <p:ph idx="4294967295" type="body"/>
          </p:nvPr>
        </p:nvSpPr>
        <p:spPr>
          <a:xfrm>
            <a:off x="507350" y="242382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657" name="Google Shape;657;p59"/>
          <p:cNvSpPr txBox="1"/>
          <p:nvPr>
            <p:ph idx="4294967295" type="body"/>
          </p:nvPr>
        </p:nvSpPr>
        <p:spPr>
          <a:xfrm>
            <a:off x="3077463" y="242382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2</a:t>
            </a:r>
            <a:endParaRPr/>
          </a:p>
        </p:txBody>
      </p:sp>
      <p:sp>
        <p:nvSpPr>
          <p:cNvPr id="658" name="Google Shape;658;p59"/>
          <p:cNvSpPr txBox="1"/>
          <p:nvPr>
            <p:ph idx="4294967295" type="body"/>
          </p:nvPr>
        </p:nvSpPr>
        <p:spPr>
          <a:xfrm>
            <a:off x="5627888" y="2399400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3</a:t>
            </a:r>
            <a:endParaRPr/>
          </a:p>
        </p:txBody>
      </p:sp>
      <p:sp>
        <p:nvSpPr>
          <p:cNvPr id="659" name="Google Shape;659;p59"/>
          <p:cNvSpPr txBox="1"/>
          <p:nvPr>
            <p:ph idx="4294967295" type="body"/>
          </p:nvPr>
        </p:nvSpPr>
        <p:spPr>
          <a:xfrm>
            <a:off x="507350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4</a:t>
            </a:r>
            <a:endParaRPr/>
          </a:p>
        </p:txBody>
      </p:sp>
      <p:sp>
        <p:nvSpPr>
          <p:cNvPr id="660" name="Google Shape;660;p59"/>
          <p:cNvSpPr txBox="1"/>
          <p:nvPr>
            <p:ph idx="4294967295" type="body"/>
          </p:nvPr>
        </p:nvSpPr>
        <p:spPr>
          <a:xfrm>
            <a:off x="3077463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5</a:t>
            </a:r>
            <a:endParaRPr/>
          </a:p>
        </p:txBody>
      </p:sp>
      <p:sp>
        <p:nvSpPr>
          <p:cNvPr id="661" name="Google Shape;661;p59"/>
          <p:cNvSpPr txBox="1"/>
          <p:nvPr>
            <p:ph idx="4294967295" type="body"/>
          </p:nvPr>
        </p:nvSpPr>
        <p:spPr>
          <a:xfrm>
            <a:off x="5627888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6</a:t>
            </a:r>
            <a:endParaRPr/>
          </a:p>
        </p:txBody>
      </p:sp>
      <p:pic>
        <p:nvPicPr>
          <p:cNvPr id="662" name="Google Shape;662;p59" title="step 1 - vid6.av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476" y="1449350"/>
            <a:ext cx="2365626" cy="1330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59" title="step 2 - vid6_pose_estimations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3475" y="1449350"/>
            <a:ext cx="2365622" cy="1330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59" title="step 3 - vid6_isolated_persons.avi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63475" y="1449350"/>
            <a:ext cx="2365622" cy="1330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59" title="step 4 - vid6-inpainted.avi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3475" y="3187700"/>
            <a:ext cx="2365626" cy="133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59" title="step 5 - vid6_Rec_Msg_QP27B30.mp4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293474" y="3187700"/>
            <a:ext cx="2321949" cy="1306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59" title="step 6 - vid6_skeleton_overlay.mp4">
            <a:hlinkClick r:id="rId13"/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63475" y="3187700"/>
            <a:ext cx="2321981" cy="13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59"/>
          <p:cNvSpPr txBox="1"/>
          <p:nvPr>
            <p:ph type="title"/>
          </p:nvPr>
        </p:nvSpPr>
        <p:spPr>
          <a:xfrm>
            <a:off x="8621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Original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69" name="Google Shape;669;p59"/>
          <p:cNvSpPr txBox="1"/>
          <p:nvPr>
            <p:ph type="title"/>
          </p:nvPr>
        </p:nvSpPr>
        <p:spPr>
          <a:xfrm>
            <a:off x="3289438" y="4464775"/>
            <a:ext cx="25107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Reconstructed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70" name="Google Shape;670;p59"/>
          <p:cNvSpPr txBox="1"/>
          <p:nvPr>
            <p:ph type="title"/>
          </p:nvPr>
        </p:nvSpPr>
        <p:spPr>
          <a:xfrm>
            <a:off x="34442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Pose Estimation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71" name="Google Shape;671;p59"/>
          <p:cNvSpPr txBox="1"/>
          <p:nvPr>
            <p:ph type="title"/>
          </p:nvPr>
        </p:nvSpPr>
        <p:spPr>
          <a:xfrm>
            <a:off x="59826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Isolate Persons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72" name="Google Shape;672;p59"/>
          <p:cNvSpPr txBox="1"/>
          <p:nvPr>
            <p:ph type="title"/>
          </p:nvPr>
        </p:nvSpPr>
        <p:spPr>
          <a:xfrm>
            <a:off x="887938" y="4464775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Stego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73" name="Google Shape;673;p59"/>
          <p:cNvSpPr txBox="1"/>
          <p:nvPr>
            <p:ph type="title"/>
          </p:nvPr>
        </p:nvSpPr>
        <p:spPr>
          <a:xfrm>
            <a:off x="6000488" y="4464775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Skeletal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0"/>
          <p:cNvSpPr txBox="1"/>
          <p:nvPr>
            <p:ph idx="4294967295" type="body"/>
          </p:nvPr>
        </p:nvSpPr>
        <p:spPr>
          <a:xfrm>
            <a:off x="723475" y="1073375"/>
            <a:ext cx="7631100" cy="32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Premise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 man walking on a road at sunset, medium lighting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Expectation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Classifies correctly as male and hides the man perfectly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Observed Outcome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Classifies correctly as male, but some pixels are not hidden well</a:t>
            </a:r>
            <a:endParaRPr b="1" sz="1600"/>
          </a:p>
        </p:txBody>
      </p:sp>
      <p:sp>
        <p:nvSpPr>
          <p:cNvPr id="679" name="Google Shape;679;p60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vid5 – Scenario, Expectation, Outcome</a:t>
            </a:r>
            <a:endParaRPr b="0" sz="24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80" name="Google Shape;680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1"/>
          <p:cNvSpPr txBox="1"/>
          <p:nvPr>
            <p:ph idx="4294967295" type="body"/>
          </p:nvPr>
        </p:nvSpPr>
        <p:spPr>
          <a:xfrm>
            <a:off x="723475" y="1073375"/>
            <a:ext cx="665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vid6</a:t>
            </a:r>
            <a:endParaRPr sz="1400"/>
          </a:p>
        </p:txBody>
      </p:sp>
      <p:sp>
        <p:nvSpPr>
          <p:cNvPr id="686" name="Google Shape;686;p61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 b="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87" name="Google Shape;687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8" name="Google Shape;688;p61"/>
          <p:cNvSpPr txBox="1"/>
          <p:nvPr>
            <p:ph idx="4294967295" type="body"/>
          </p:nvPr>
        </p:nvSpPr>
        <p:spPr>
          <a:xfrm>
            <a:off x="507350" y="242382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689" name="Google Shape;689;p61"/>
          <p:cNvSpPr txBox="1"/>
          <p:nvPr>
            <p:ph idx="4294967295" type="body"/>
          </p:nvPr>
        </p:nvSpPr>
        <p:spPr>
          <a:xfrm>
            <a:off x="3077463" y="242382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2</a:t>
            </a:r>
            <a:endParaRPr/>
          </a:p>
        </p:txBody>
      </p:sp>
      <p:sp>
        <p:nvSpPr>
          <p:cNvPr id="690" name="Google Shape;690;p61"/>
          <p:cNvSpPr txBox="1"/>
          <p:nvPr>
            <p:ph idx="4294967295" type="body"/>
          </p:nvPr>
        </p:nvSpPr>
        <p:spPr>
          <a:xfrm>
            <a:off x="5627888" y="2399400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3</a:t>
            </a:r>
            <a:endParaRPr/>
          </a:p>
        </p:txBody>
      </p:sp>
      <p:sp>
        <p:nvSpPr>
          <p:cNvPr id="691" name="Google Shape;691;p61"/>
          <p:cNvSpPr txBox="1"/>
          <p:nvPr>
            <p:ph idx="4294967295" type="body"/>
          </p:nvPr>
        </p:nvSpPr>
        <p:spPr>
          <a:xfrm>
            <a:off x="507350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4</a:t>
            </a:r>
            <a:endParaRPr/>
          </a:p>
        </p:txBody>
      </p:sp>
      <p:sp>
        <p:nvSpPr>
          <p:cNvPr id="692" name="Google Shape;692;p61"/>
          <p:cNvSpPr txBox="1"/>
          <p:nvPr>
            <p:ph idx="4294967295" type="body"/>
          </p:nvPr>
        </p:nvSpPr>
        <p:spPr>
          <a:xfrm>
            <a:off x="3077463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5</a:t>
            </a:r>
            <a:endParaRPr/>
          </a:p>
        </p:txBody>
      </p:sp>
      <p:sp>
        <p:nvSpPr>
          <p:cNvPr id="693" name="Google Shape;693;p61"/>
          <p:cNvSpPr txBox="1"/>
          <p:nvPr>
            <p:ph idx="4294967295" type="body"/>
          </p:nvPr>
        </p:nvSpPr>
        <p:spPr>
          <a:xfrm>
            <a:off x="5627888" y="4120075"/>
            <a:ext cx="216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6</a:t>
            </a:r>
            <a:endParaRPr/>
          </a:p>
        </p:txBody>
      </p:sp>
      <p:pic>
        <p:nvPicPr>
          <p:cNvPr id="694" name="Google Shape;694;p61" title="vid8.av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150" y="1466975"/>
            <a:ext cx="2321952" cy="1306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61" title="vid8-pose_annotated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3475" y="1466975"/>
            <a:ext cx="2321957" cy="1306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61" title="vid8-output_inpainted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0412" y="3176112"/>
            <a:ext cx="2259998" cy="127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61" title="vid8-pose_gender_overlay.mp4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56375" y="3158700"/>
            <a:ext cx="2321952" cy="1306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61" title="vid8.avi">
            <a:hlinkClick r:id="rId11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2400" y="3158687"/>
            <a:ext cx="2321952" cy="1306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61" title="vid8-isolated_persons.avi">
            <a:hlinkClick r:id="rId12"/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56375" y="1466975"/>
            <a:ext cx="2321952" cy="1306093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61"/>
          <p:cNvSpPr txBox="1"/>
          <p:nvPr>
            <p:ph type="title"/>
          </p:nvPr>
        </p:nvSpPr>
        <p:spPr>
          <a:xfrm>
            <a:off x="8621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Original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701" name="Google Shape;701;p61"/>
          <p:cNvSpPr txBox="1"/>
          <p:nvPr>
            <p:ph type="title"/>
          </p:nvPr>
        </p:nvSpPr>
        <p:spPr>
          <a:xfrm>
            <a:off x="3289438" y="4464775"/>
            <a:ext cx="25107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Reconstructed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702" name="Google Shape;702;p61"/>
          <p:cNvSpPr txBox="1"/>
          <p:nvPr>
            <p:ph type="title"/>
          </p:nvPr>
        </p:nvSpPr>
        <p:spPr>
          <a:xfrm>
            <a:off x="34442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Pose Estimation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703" name="Google Shape;703;p61"/>
          <p:cNvSpPr txBox="1"/>
          <p:nvPr>
            <p:ph type="title"/>
          </p:nvPr>
        </p:nvSpPr>
        <p:spPr>
          <a:xfrm>
            <a:off x="5982613" y="2744100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Isolate Persons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704" name="Google Shape;704;p61"/>
          <p:cNvSpPr txBox="1"/>
          <p:nvPr>
            <p:ph type="title"/>
          </p:nvPr>
        </p:nvSpPr>
        <p:spPr>
          <a:xfrm>
            <a:off x="887938" y="4464775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Stego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705" name="Google Shape;705;p61"/>
          <p:cNvSpPr txBox="1"/>
          <p:nvPr>
            <p:ph type="title"/>
          </p:nvPr>
        </p:nvSpPr>
        <p:spPr>
          <a:xfrm>
            <a:off x="6000488" y="4464775"/>
            <a:ext cx="20766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Skeletal Video</a:t>
            </a:r>
            <a:endParaRPr b="0" sz="1500"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62"/>
          <p:cNvSpPr txBox="1"/>
          <p:nvPr>
            <p:ph idx="4294967295" type="body"/>
          </p:nvPr>
        </p:nvSpPr>
        <p:spPr>
          <a:xfrm>
            <a:off x="723475" y="1073375"/>
            <a:ext cx="7631100" cy="3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Premise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Multiple people walking in a busy street, good lighting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Expectation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The model will struggle to identify people, will classify some people, but cannot classify all of them correctly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Observed Outcome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Model </a:t>
            </a:r>
            <a:r>
              <a:rPr b="1" lang="en" sz="1600"/>
              <a:t>struggles</a:t>
            </a:r>
            <a:r>
              <a:rPr b="1" lang="en" sz="1600"/>
              <a:t> to classify all of the people in the video and s</a:t>
            </a:r>
            <a:r>
              <a:rPr b="1" lang="en" sz="1600"/>
              <a:t>ome fluctuations is observed in hiding people</a:t>
            </a:r>
            <a:endParaRPr b="1" sz="1600"/>
          </a:p>
        </p:txBody>
      </p:sp>
      <p:sp>
        <p:nvSpPr>
          <p:cNvPr id="711" name="Google Shape;711;p62"/>
          <p:cNvSpPr txBox="1"/>
          <p:nvPr>
            <p:ph type="title"/>
          </p:nvPr>
        </p:nvSpPr>
        <p:spPr>
          <a:xfrm>
            <a:off x="720000" y="387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vid6 – Scenario, Expectation, Outcome</a:t>
            </a:r>
            <a:endParaRPr b="0" sz="240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712" name="Google Shape;712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3"/>
          <p:cNvSpPr txBox="1"/>
          <p:nvPr>
            <p:ph type="title"/>
          </p:nvPr>
        </p:nvSpPr>
        <p:spPr>
          <a:xfrm>
            <a:off x="720000" y="366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and Metrics</a:t>
            </a:r>
            <a:endParaRPr/>
          </a:p>
        </p:txBody>
      </p:sp>
      <p:sp>
        <p:nvSpPr>
          <p:cNvPr id="718" name="Google Shape;718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9" name="Google Shape;719;p63" title="training_history_viz.png"/>
          <p:cNvPicPr preferRelativeResize="0"/>
          <p:nvPr/>
        </p:nvPicPr>
        <p:blipFill rotWithShape="1">
          <a:blip r:embed="rId3">
            <a:alphaModFix/>
          </a:blip>
          <a:srcRect b="60988" l="0" r="0" t="7523"/>
          <a:stretch/>
        </p:blipFill>
        <p:spPr>
          <a:xfrm>
            <a:off x="825063" y="1409800"/>
            <a:ext cx="7493876" cy="2824576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0" name="Google Shape;720;p63"/>
          <p:cNvSpPr txBox="1"/>
          <p:nvPr/>
        </p:nvSpPr>
        <p:spPr>
          <a:xfrm>
            <a:off x="425100" y="938900"/>
            <a:ext cx="181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Gait Gender Classifier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4"/>
          <p:cNvSpPr txBox="1"/>
          <p:nvPr>
            <p:ph type="title"/>
          </p:nvPr>
        </p:nvSpPr>
        <p:spPr>
          <a:xfrm>
            <a:off x="720000" y="366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and Metrics</a:t>
            </a:r>
            <a:endParaRPr/>
          </a:p>
        </p:txBody>
      </p:sp>
      <p:sp>
        <p:nvSpPr>
          <p:cNvPr id="726" name="Google Shape;726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7" name="Google Shape;727;p64" title="training_history_viz.png"/>
          <p:cNvPicPr preferRelativeResize="0"/>
          <p:nvPr/>
        </p:nvPicPr>
        <p:blipFill rotWithShape="1">
          <a:blip r:embed="rId3">
            <a:alphaModFix/>
          </a:blip>
          <a:srcRect b="28966" l="0" r="0" t="37930"/>
          <a:stretch/>
        </p:blipFill>
        <p:spPr>
          <a:xfrm>
            <a:off x="1005975" y="1442325"/>
            <a:ext cx="7132051" cy="282599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8" name="Google Shape;728;p64"/>
          <p:cNvSpPr txBox="1"/>
          <p:nvPr/>
        </p:nvSpPr>
        <p:spPr>
          <a:xfrm>
            <a:off x="425100" y="938900"/>
            <a:ext cx="181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Gait Gender Classifier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5"/>
          <p:cNvSpPr txBox="1"/>
          <p:nvPr>
            <p:ph type="title"/>
          </p:nvPr>
        </p:nvSpPr>
        <p:spPr>
          <a:xfrm>
            <a:off x="720000" y="366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and Metrics</a:t>
            </a:r>
            <a:endParaRPr/>
          </a:p>
        </p:txBody>
      </p:sp>
      <p:sp>
        <p:nvSpPr>
          <p:cNvPr id="734" name="Google Shape;734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5" name="Google Shape;735;p65" title="training_history_viz.png"/>
          <p:cNvPicPr preferRelativeResize="0"/>
          <p:nvPr/>
        </p:nvPicPr>
        <p:blipFill rotWithShape="1">
          <a:blip r:embed="rId3">
            <a:alphaModFix/>
          </a:blip>
          <a:srcRect b="0" l="0" r="0" t="70026"/>
          <a:stretch/>
        </p:blipFill>
        <p:spPr>
          <a:xfrm>
            <a:off x="782152" y="1534296"/>
            <a:ext cx="7448749" cy="2672451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6" name="Google Shape;736;p65"/>
          <p:cNvSpPr txBox="1"/>
          <p:nvPr/>
        </p:nvSpPr>
        <p:spPr>
          <a:xfrm>
            <a:off x="425100" y="938900"/>
            <a:ext cx="181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Gait Gender Classifier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1" name="Google Shape;741;p66"/>
          <p:cNvGraphicFramePr/>
          <p:nvPr/>
        </p:nvGraphicFramePr>
        <p:xfrm>
          <a:off x="404788" y="20570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{7D2E40E0-5445-4949-82BA-32F7E7773C31}</a:tableStyleId>
              </a:tblPr>
              <a:tblGrid>
                <a:gridCol w="2189800"/>
                <a:gridCol w="1957100"/>
                <a:gridCol w="2742900"/>
                <a:gridCol w="1552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Method</a:t>
                      </a:r>
                      <a:endParaRPr b="1"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76200" marB="76200" marR="76200" marL="76200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Dataset</a:t>
                      </a:r>
                      <a:endParaRPr b="1"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76200" marB="76200" marR="76200" marL="76200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Conditions</a:t>
                      </a:r>
                      <a:endParaRPr b="1"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76200" marB="76200" marR="76200" marL="76200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Accuracy</a:t>
                      </a:r>
                      <a:endParaRPr b="1"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76200" marB="76200" marR="76200" marL="76200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GenReGait (keypoints + DL)</a:t>
                      </a:r>
                      <a:endParaRPr sz="950"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Lab-controlled</a:t>
                      </a:r>
                      <a:endParaRPr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Controlled lighting, fixed angles</a:t>
                      </a:r>
                      <a:endParaRPr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~88–92%</a:t>
                      </a:r>
                      <a:endParaRPr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Lightweight ST-GCN (MDPI 2022)</a:t>
                      </a:r>
                      <a:endParaRPr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OU-ISIR (controlled)</a:t>
                      </a:r>
                      <a:endParaRPr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Fixed angles, clean lighting</a:t>
                      </a:r>
                      <a:endParaRPr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~85%</a:t>
                      </a:r>
                      <a:endParaRPr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GenderStego (ours)</a:t>
                      </a:r>
                      <a:endParaRPr b="1"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68950" marB="68950" marR="76200" marL="76200" anchor="ctr">
                    <a:lnL cap="flat" cmpd="sng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DenseGait (in-the-wild)</a:t>
                      </a:r>
                      <a:endParaRPr b="1"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Occlusion, variable lighting,</a:t>
                      </a:r>
                      <a:endParaRPr b="1"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multi-angle, noisy labels</a:t>
                      </a:r>
                      <a:endParaRPr b="1"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950"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72.65%</a:t>
                      </a:r>
                      <a:endParaRPr b="1" sz="950"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68950" marB="68950" marR="76200" marL="76200" anchor="ctr">
                    <a:lnL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742" name="Google Shape;742;p66"/>
          <p:cNvSpPr txBox="1"/>
          <p:nvPr>
            <p:ph type="title"/>
          </p:nvPr>
        </p:nvSpPr>
        <p:spPr>
          <a:xfrm>
            <a:off x="720000" y="366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and Metrics</a:t>
            </a:r>
            <a:endParaRPr/>
          </a:p>
        </p:txBody>
      </p:sp>
      <p:sp>
        <p:nvSpPr>
          <p:cNvPr id="743" name="Google Shape;743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4" name="Google Shape;744;p66"/>
          <p:cNvSpPr txBox="1"/>
          <p:nvPr/>
        </p:nvSpPr>
        <p:spPr>
          <a:xfrm>
            <a:off x="425100" y="938900"/>
            <a:ext cx="255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Comparison with Prior Work</a:t>
            </a:r>
            <a:endParaRPr b="1" sz="12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45" name="Google Shape;745;p66"/>
          <p:cNvSpPr txBox="1"/>
          <p:nvPr/>
        </p:nvSpPr>
        <p:spPr>
          <a:xfrm>
            <a:off x="425100" y="1308200"/>
            <a:ext cx="84015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72.65% on DenseGait is competitive.</a:t>
            </a:r>
            <a:endParaRPr sz="13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The dataset is significantly harder than lab-controlled benchmarks used by prior work.</a:t>
            </a:r>
            <a:endParaRPr sz="13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46" name="Google Shape;746;p66"/>
          <p:cNvSpPr txBox="1"/>
          <p:nvPr/>
        </p:nvSpPr>
        <p:spPr>
          <a:xfrm>
            <a:off x="371250" y="3964761"/>
            <a:ext cx="8401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Key insight:</a:t>
            </a:r>
            <a:r>
              <a:rPr lang="en" sz="13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Accuracy gaps vs prior work reflect dataset difficulty, not model weakness. DenseGait contains automatic (noisy) labels, occlusion, and multi-angle CCTV footage; conditions where even state-of-the-art models lose 10–15 % versus controlled settings.</a:t>
            </a:r>
            <a:endParaRPr sz="13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7"/>
          <p:cNvSpPr txBox="1"/>
          <p:nvPr>
            <p:ph type="title"/>
          </p:nvPr>
        </p:nvSpPr>
        <p:spPr>
          <a:xfrm>
            <a:off x="720000" y="366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and Metrics</a:t>
            </a:r>
            <a:endParaRPr/>
          </a:p>
        </p:txBody>
      </p:sp>
      <p:sp>
        <p:nvSpPr>
          <p:cNvPr id="752" name="Google Shape;752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3" name="Google Shape;753;p67"/>
          <p:cNvSpPr txBox="1"/>
          <p:nvPr/>
        </p:nvSpPr>
        <p:spPr>
          <a:xfrm>
            <a:off x="425100" y="938900"/>
            <a:ext cx="304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Encryption and Reconstruction Metrics</a:t>
            </a:r>
            <a:endParaRPr/>
          </a:p>
        </p:txBody>
      </p:sp>
      <p:pic>
        <p:nvPicPr>
          <p:cNvPr id="754" name="Google Shape;754;p67" title="fig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026" y="1451750"/>
            <a:ext cx="8009949" cy="29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8"/>
          <p:cNvSpPr txBox="1"/>
          <p:nvPr>
            <p:ph type="title"/>
          </p:nvPr>
        </p:nvSpPr>
        <p:spPr>
          <a:xfrm>
            <a:off x="720000" y="366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and Limitations</a:t>
            </a:r>
            <a:endParaRPr/>
          </a:p>
        </p:txBody>
      </p:sp>
      <p:sp>
        <p:nvSpPr>
          <p:cNvPr id="760" name="Google Shape;760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1" name="Google Shape;761;p68"/>
          <p:cNvSpPr/>
          <p:nvPr/>
        </p:nvSpPr>
        <p:spPr>
          <a:xfrm>
            <a:off x="388550" y="1210800"/>
            <a:ext cx="2697600" cy="311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62" name="Google Shape;762;p68"/>
          <p:cNvSpPr/>
          <p:nvPr/>
        </p:nvSpPr>
        <p:spPr>
          <a:xfrm>
            <a:off x="525720" y="1302239"/>
            <a:ext cx="242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Non-walking activities</a:t>
            </a:r>
            <a:endParaRPr i="0" sz="1300" u="none" cap="none" strike="noStrike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63" name="Google Shape;763;p68"/>
          <p:cNvSpPr/>
          <p:nvPr/>
        </p:nvSpPr>
        <p:spPr>
          <a:xfrm>
            <a:off x="525710" y="1690659"/>
            <a:ext cx="2423100" cy="24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3D8"/>
              </a:buClr>
              <a:buSzPts val="1050"/>
              <a:buFont typeface="Calibri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Cyclists and runners are misclassified</a:t>
            </a: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:</a:t>
            </a:r>
            <a:r>
              <a:rPr i="0" lang="en" u="none" cap="none" strike="noStrik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ST-GCN trained exclusively on walking sequences. Skeletal motion from cycling differs fundamentally from gait.</a:t>
            </a:r>
            <a:endParaRPr i="0" u="none" cap="none" strike="noStrike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3D8"/>
              </a:buClr>
              <a:buSzPts val="1050"/>
              <a:buFont typeface="Calibri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Fix:</a:t>
            </a:r>
            <a:r>
              <a:rPr i="0" lang="en" u="none" cap="none" strike="noStrik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Activity-aware classifier or extended training data.</a:t>
            </a:r>
            <a:endParaRPr i="0" u="none" cap="none" strike="noStrike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64" name="Google Shape;764;p68"/>
          <p:cNvSpPr/>
          <p:nvPr/>
        </p:nvSpPr>
        <p:spPr>
          <a:xfrm>
            <a:off x="3223199" y="1210800"/>
            <a:ext cx="2697600" cy="311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65" name="Google Shape;765;p68"/>
          <p:cNvSpPr/>
          <p:nvPr/>
        </p:nvSpPr>
        <p:spPr>
          <a:xfrm>
            <a:off x="3360360" y="1302239"/>
            <a:ext cx="242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Dynamic lighting</a:t>
            </a:r>
            <a:endParaRPr i="0" sz="1300" u="none" cap="none" strike="noStrike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66" name="Google Shape;766;p68"/>
          <p:cNvSpPr/>
          <p:nvPr/>
        </p:nvSpPr>
        <p:spPr>
          <a:xfrm>
            <a:off x="3360359" y="1690659"/>
            <a:ext cx="2423100" cy="24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3D8"/>
              </a:buClr>
              <a:buSzPts val="1050"/>
              <a:buFont typeface="Calibri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Sunset / rapidly changing illumination causes residual person outlines in inpainted frames. Static HSV Gaussian BG model built from first 40 frames cannot adapt.</a:t>
            </a:r>
            <a:endParaRPr i="0" u="none" cap="none" strike="noStrike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3D8"/>
              </a:buClr>
              <a:buSzPts val="1050"/>
              <a:buFont typeface="Calibri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Fix:</a:t>
            </a:r>
            <a:r>
              <a:rPr i="0" lang="en" u="none" cap="none" strike="noStrik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Adaptive Mixture-of-Gaussians background model.</a:t>
            </a:r>
            <a:endParaRPr i="0" u="none" cap="none" strike="noStrike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67" name="Google Shape;767;p68"/>
          <p:cNvSpPr/>
          <p:nvPr/>
        </p:nvSpPr>
        <p:spPr>
          <a:xfrm>
            <a:off x="6057848" y="1210800"/>
            <a:ext cx="2697600" cy="311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68" name="Google Shape;768;p68"/>
          <p:cNvSpPr/>
          <p:nvPr/>
        </p:nvSpPr>
        <p:spPr>
          <a:xfrm>
            <a:off x="6195000" y="1302239"/>
            <a:ext cx="242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Crowded scenes</a:t>
            </a:r>
            <a:endParaRPr i="0" sz="1300" u="none" cap="none" strike="noStrike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69" name="Google Shape;769;p68"/>
          <p:cNvSpPr/>
          <p:nvPr/>
        </p:nvSpPr>
        <p:spPr>
          <a:xfrm>
            <a:off x="6195008" y="1690659"/>
            <a:ext cx="2423100" cy="24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3D8"/>
              </a:buClr>
              <a:buSzPts val="1050"/>
              <a:buFont typeface="Calibri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Centroid tracker swaps / loses IDs when people touch or cross paths. Merged segmentation masks lead to partial concealment and mis-classified skeletons.</a:t>
            </a:r>
            <a:endParaRPr i="0" u="none" cap="none" strike="noStrike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t/>
            </a:r>
            <a:endParaRPr i="0" u="none" cap="none" strike="noStrike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3D8"/>
              </a:buClr>
              <a:buSzPts val="1050"/>
              <a:buFont typeface="Calibri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Fix:</a:t>
            </a:r>
            <a:r>
              <a:rPr i="0" lang="en" u="none" cap="none" strike="noStrik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ByteTrack or BoT-SORT with appearance cues.</a:t>
            </a:r>
            <a:endParaRPr i="0" u="none" cap="none" strike="noStrike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9"/>
          <p:cNvSpPr txBox="1"/>
          <p:nvPr>
            <p:ph type="title"/>
          </p:nvPr>
        </p:nvSpPr>
        <p:spPr>
          <a:xfrm>
            <a:off x="720000" y="25772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775" name="Google Shape;775;p69"/>
          <p:cNvSpPr txBox="1"/>
          <p:nvPr>
            <p:ph idx="1" type="body"/>
          </p:nvPr>
        </p:nvSpPr>
        <p:spPr>
          <a:xfrm>
            <a:off x="720000" y="741300"/>
            <a:ext cx="7704000" cy="41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b="1" lang="en">
                <a:solidFill>
                  <a:schemeClr val="dk2"/>
                </a:solidFill>
              </a:rPr>
              <a:t>Unified Privacy Framework</a:t>
            </a:r>
            <a:endParaRPr b="1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GenderStego is the first framework to combine gait-based gender classification, privacy-preserving video inpainting, and encrypted covert steganography in one pipeline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b="1" lang="en">
                <a:solidFill>
                  <a:schemeClr val="dk2"/>
                </a:solidFill>
              </a:rPr>
              <a:t>Effective Gait Classifier</a:t>
            </a:r>
            <a:endParaRPr b="1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ST-GCN achieves 72.65% binary gender accuracy on DenseGait with no clear overfitting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Strong baseline with room to improve via extended training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b="1" lang="en">
                <a:solidFill>
                  <a:schemeClr val="dk2"/>
                </a:solidFill>
              </a:rPr>
              <a:t>Identity Protection</a:t>
            </a:r>
            <a:endParaRPr b="1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Replacing persons with colour-coded skeletons preserves analytical utility (gender label + pose) while removing all appearance-based identity information.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b="1" lang="en">
                <a:solidFill>
                  <a:schemeClr val="dk2"/>
                </a:solidFill>
              </a:rPr>
              <a:t>Imperceptible + Encrypted Embedding</a:t>
            </a:r>
            <a:endParaRPr b="1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DCT steganography at QP27B30 achieves stego PSNR &gt; 34 dB — invisible to the human eye.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AES-256-CTR encryption ensures extracted data is unreadable without the decryption key.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HMAC-SHA256 detects wholesale tampering of the stego video.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b="1" lang="en">
                <a:solidFill>
                  <a:schemeClr val="dk2"/>
                </a:solidFill>
              </a:rPr>
              <a:t>Quantitative Validation</a:t>
            </a:r>
            <a:endParaRPr b="1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8 parameter configurations evaluated over 300 frames each with MSE, PSNR, and similarity metrics. Optimal parameters confirmed at QP=27, Beta=30, Alpha=0.05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>
                <a:solidFill>
                  <a:schemeClr val="dk2"/>
                </a:solidFill>
              </a:rPr>
              <a:t>Limitations</a:t>
            </a:r>
            <a:r>
              <a:rPr lang="en"/>
              <a:t>: binary gender label, fairness analysis, real‑world tests; these are future work directions</a:t>
            </a:r>
            <a:endParaRPr/>
          </a:p>
        </p:txBody>
      </p:sp>
      <p:sp>
        <p:nvSpPr>
          <p:cNvPr id="776" name="Google Shape;776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0"/>
          <p:cNvSpPr txBox="1"/>
          <p:nvPr>
            <p:ph type="title"/>
          </p:nvPr>
        </p:nvSpPr>
        <p:spPr>
          <a:xfrm>
            <a:off x="720000" y="25772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782" name="Google Shape;782;p70"/>
          <p:cNvSpPr txBox="1"/>
          <p:nvPr>
            <p:ph idx="1" type="body"/>
          </p:nvPr>
        </p:nvSpPr>
        <p:spPr>
          <a:xfrm>
            <a:off x="720000" y="741300"/>
            <a:ext cx="7704000" cy="41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b="1" lang="en">
                <a:solidFill>
                  <a:schemeClr val="dk2"/>
                </a:solidFill>
              </a:rPr>
              <a:t>Model &amp; training:</a:t>
            </a:r>
            <a:endParaRPr b="1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"/>
              <a:t>Train 30–60 more epochs with cosine-annealed LR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"/>
              <a:t>Add multi-head self-attention after Stage 3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"/>
              <a:t>Multi-task learning: joint gender + gait cycle segmentation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b="1" lang="en">
                <a:solidFill>
                  <a:schemeClr val="dk2"/>
                </a:solidFill>
              </a:rPr>
              <a:t>Fairness audit:</a:t>
            </a:r>
            <a:endParaRPr b="1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"/>
              <a:t>Evaluate performance by age group, ethnicity, body type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"/>
              <a:t>Apply re-weighted training or adversarial debiasing if disparities found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"/>
              <a:t>Move beyond binary gender labels in consultation with affected communities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b="1" lang="en">
                <a:solidFill>
                  <a:schemeClr val="dk2"/>
                </a:solidFill>
              </a:rPr>
              <a:t>Privacy &amp; steganography:</a:t>
            </a:r>
            <a:endParaRPr b="1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"/>
              <a:t>Replace static HSV BG with adaptive Mixture-of-Gaussians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"/>
              <a:t>Replace centroid tracker with ByteTrack / BoT-SORT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"/>
              <a:t>Adaptive DCT quantisation (higher β in textured regions)</a:t>
            </a:r>
            <a:endParaRPr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"/>
              <a:t>Neural stego (StegaNeRV / Stego-STFAN) for higher payload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b="1" lang="en">
                <a:solidFill>
                  <a:schemeClr val="dk2"/>
                </a:solidFill>
              </a:rPr>
              <a:t>Deployment &amp; governance:</a:t>
            </a:r>
            <a:endParaRPr b="1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"/>
              <a:t>TensorRT / ONNX Runtime for real-time throughput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"/>
              <a:t>Evaluate on Gait3D, CASIA-E, MOT20 benchmarks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"/>
              <a:t>Complete GDPR Article 35 Data Protection Impact Assessment before any operational use</a:t>
            </a:r>
            <a:endParaRPr/>
          </a:p>
        </p:txBody>
      </p:sp>
      <p:sp>
        <p:nvSpPr>
          <p:cNvPr id="783" name="Google Shape;783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1"/>
          <p:cNvSpPr txBox="1"/>
          <p:nvPr>
            <p:ph idx="1" type="body"/>
          </p:nvPr>
        </p:nvSpPr>
        <p:spPr>
          <a:xfrm>
            <a:off x="720000" y="983525"/>
            <a:ext cx="7704000" cy="39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A. Elhadad, S. Hamad, A. Khalifa, and Hussein Abulkasim, “A steganography approach for hiding privacy in video surveillance systems,” Elsevier eBooks, pp. 165–187, Jan. 2020, doi: https://doi.org/10.1016/b978-0-12-819438-6.00017-7.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W. An et al., "Performance Evaluation of Model-Based Gait on Multi-View Very Large Population Database With Pose Sequences," in IEEE Transactions on Biometrics, Behavior, and Identity Science, vol. 2, no. 4, pp. 421-430, Oct. 2020, doi: 10.1109/TBIOM.2020.3008862.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>
                <a:uFill>
                  <a:noFill/>
                </a:uFill>
                <a:hlinkClick r:id="rId3"/>
              </a:rPr>
              <a:t>http://www.am.sanken.osaka-u.ac.jp/BiometricDB/GaitLPPose.html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GenReGait: Gender Recognition using Gait Features | Journal of Informatics and Web Engineering - MMU Press, accessed April 4, 2025, https://journals.mmupress.com/index.php/jiwe/article/view/636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Learning Visual Prompt for Gait Recognition - CVPR 2024 Open ..., accessed April 4, 2025, https://openaccess.thecvf.com/content/CVPR2024/html/Ma_Learning_Visual_Prompt_for_Gait_Recognition_CVPR_2024_paper.html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ECCV Poster Occluded Gait Recognition with Mixture of Experts: An ..., accessed April 4, 2025, https://eccv.ecva.net/virtual/2024/poster/389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ECCV Poster Free Lunch for Gait Recognition: A Novel Relation ..., accessed April 4, 2025, https://eccv.ecva.net/virtual/2024/poster/1075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Robust and Lightweight System for Gait-Based Gender Classification toward Viewing Angle Variations - MDPI, accessed April 4, 2025,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https://www.mdpi.com/2673-2688/3/2/31</a:t>
            </a:r>
            <a:endParaRPr/>
          </a:p>
        </p:txBody>
      </p:sp>
      <p:sp>
        <p:nvSpPr>
          <p:cNvPr id="789" name="Google Shape;789;p71"/>
          <p:cNvSpPr txBox="1"/>
          <p:nvPr>
            <p:ph type="title"/>
          </p:nvPr>
        </p:nvSpPr>
        <p:spPr>
          <a:xfrm>
            <a:off x="720000" y="3434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790" name="Google Shape;790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2"/>
          <p:cNvSpPr txBox="1"/>
          <p:nvPr>
            <p:ph type="title"/>
          </p:nvPr>
        </p:nvSpPr>
        <p:spPr>
          <a:xfrm>
            <a:off x="720000" y="3434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796" name="Google Shape;796;p72"/>
          <p:cNvSpPr txBox="1"/>
          <p:nvPr>
            <p:ph idx="1" type="body"/>
          </p:nvPr>
        </p:nvSpPr>
        <p:spPr>
          <a:xfrm>
            <a:off x="720000" y="983525"/>
            <a:ext cx="7704000" cy="39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D39"/>
              </a:buClr>
              <a:buSzPts val="100"/>
              <a:buAutoNum type="arabicPeriod" startAt="8"/>
            </a:pPr>
            <a:r>
              <a:t/>
            </a:r>
            <a:endParaRPr sz="100">
              <a:solidFill>
                <a:srgbClr val="181D39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 startAt="8"/>
            </a:pPr>
            <a:r>
              <a:rPr lang="en"/>
              <a:t>CVPR 2024 Open Access Repository, accessed April 4, 2025, https://openaccess.thecvf.com/content/CVPR2024W/INRV/html/Biswal_StegaNeRV_Video_Steganography_using_Implicit_Neural_Representation_CVPRW_2024_paper.html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 startAt="8"/>
            </a:pPr>
            <a:r>
              <a:rPr lang="en"/>
              <a:t>Stego-STFAN: A Novel Neural Network for Video Steganography - MDPI, accessed April 4, 2025, https://www.mdpi.com/2073-431X/13/7/180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 startAt="8"/>
            </a:pPr>
            <a:r>
              <a:rPr lang="en"/>
              <a:t>Adaptive highly secure and imperceptible video steganography for medical images via deep convolutional neural network - Inderscience Online, accessed April 4, 2025, https://www.inderscienceonline.com/doi/abs/10.1504/IJICS.2024.142702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 startAt="8"/>
            </a:pPr>
            <a:r>
              <a:rPr lang="en"/>
              <a:t>Exploiting Spatiotemporal Redundancy Using Octree Decomposition to Enhance the Performance of Video Steganography - MDPI, accessed April 4, 2025, https://www.mdpi.com/2571-5577/8/1/2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 startAt="8"/>
            </a:pPr>
            <a:r>
              <a:rPr lang="en"/>
              <a:t>Enhancing Video Steganography Techniques Using Hybrid Algorithms, accessed April 4, 2025, https://www.scirp.org/journal/paperinformation?paperid=136435</a:t>
            </a:r>
            <a:endParaRPr/>
          </a:p>
        </p:txBody>
      </p:sp>
      <p:sp>
        <p:nvSpPr>
          <p:cNvPr id="797" name="Google Shape;797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3"/>
          <p:cNvSpPr txBox="1"/>
          <p:nvPr>
            <p:ph type="title"/>
          </p:nvPr>
        </p:nvSpPr>
        <p:spPr>
          <a:xfrm>
            <a:off x="713100" y="650000"/>
            <a:ext cx="5009700" cy="8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803" name="Google Shape;803;p73"/>
          <p:cNvSpPr txBox="1"/>
          <p:nvPr>
            <p:ph idx="1" type="subTitle"/>
          </p:nvPr>
        </p:nvSpPr>
        <p:spPr>
          <a:xfrm>
            <a:off x="713100" y="1523000"/>
            <a:ext cx="3728700" cy="13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Happy to answer any </a:t>
            </a:r>
            <a:r>
              <a:rPr lang="en" sz="1700"/>
              <a:t>Questions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804" name="Google Shape;804;p73"/>
          <p:cNvSpPr/>
          <p:nvPr/>
        </p:nvSpPr>
        <p:spPr>
          <a:xfrm>
            <a:off x="7023053" y="3879017"/>
            <a:ext cx="660023" cy="660100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73"/>
          <p:cNvSpPr/>
          <p:nvPr/>
        </p:nvSpPr>
        <p:spPr>
          <a:xfrm>
            <a:off x="6053505" y="2188518"/>
            <a:ext cx="468769" cy="468795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73"/>
          <p:cNvSpPr/>
          <p:nvPr/>
        </p:nvSpPr>
        <p:spPr>
          <a:xfrm>
            <a:off x="7063572" y="552665"/>
            <a:ext cx="238346" cy="238372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73"/>
          <p:cNvSpPr/>
          <p:nvPr/>
        </p:nvSpPr>
        <p:spPr>
          <a:xfrm>
            <a:off x="4737288" y="741106"/>
            <a:ext cx="3660803" cy="3661276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rgbClr val="E7ECFF">
                  <a:alpha val="50196"/>
                </a:srgbClr>
              </a:gs>
              <a:gs pos="6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8" name="Google Shape;808;p73"/>
          <p:cNvGrpSpPr/>
          <p:nvPr/>
        </p:nvGrpSpPr>
        <p:grpSpPr>
          <a:xfrm>
            <a:off x="5510908" y="1750653"/>
            <a:ext cx="2113582" cy="1642194"/>
            <a:chOff x="3186425" y="4160625"/>
            <a:chExt cx="533679" cy="414643"/>
          </a:xfrm>
        </p:grpSpPr>
        <p:grpSp>
          <p:nvGrpSpPr>
            <p:cNvPr id="809" name="Google Shape;809;p73"/>
            <p:cNvGrpSpPr/>
            <p:nvPr/>
          </p:nvGrpSpPr>
          <p:grpSpPr>
            <a:xfrm>
              <a:off x="3248670" y="4212301"/>
              <a:ext cx="409169" cy="311298"/>
              <a:chOff x="3248670" y="4212301"/>
              <a:chExt cx="409169" cy="311298"/>
            </a:xfrm>
          </p:grpSpPr>
          <p:sp>
            <p:nvSpPr>
              <p:cNvPr id="810" name="Google Shape;810;p73"/>
              <p:cNvSpPr/>
              <p:nvPr/>
            </p:nvSpPr>
            <p:spPr>
              <a:xfrm>
                <a:off x="3249849" y="4212301"/>
                <a:ext cx="337457" cy="246269"/>
              </a:xfrm>
              <a:custGeom>
                <a:rect b="b" l="l" r="r" t="t"/>
                <a:pathLst>
                  <a:path extrusionOk="0" h="5639" w="7727">
                    <a:moveTo>
                      <a:pt x="7726" y="1303"/>
                    </a:moveTo>
                    <a:cubicBezTo>
                      <a:pt x="7682" y="1187"/>
                      <a:pt x="7637" y="1124"/>
                      <a:pt x="7584" y="1008"/>
                    </a:cubicBezTo>
                    <a:cubicBezTo>
                      <a:pt x="7432" y="696"/>
                      <a:pt x="7209" y="393"/>
                      <a:pt x="6852" y="294"/>
                    </a:cubicBezTo>
                    <a:cubicBezTo>
                      <a:pt x="6549" y="205"/>
                      <a:pt x="6228" y="286"/>
                      <a:pt x="5915" y="312"/>
                    </a:cubicBezTo>
                    <a:cubicBezTo>
                      <a:pt x="5398" y="348"/>
                      <a:pt x="4889" y="250"/>
                      <a:pt x="4381" y="161"/>
                    </a:cubicBezTo>
                    <a:cubicBezTo>
                      <a:pt x="3872" y="71"/>
                      <a:pt x="3346" y="0"/>
                      <a:pt x="2838" y="98"/>
                    </a:cubicBezTo>
                    <a:cubicBezTo>
                      <a:pt x="2338" y="205"/>
                      <a:pt x="1847" y="509"/>
                      <a:pt x="1651" y="990"/>
                    </a:cubicBezTo>
                    <a:cubicBezTo>
                      <a:pt x="1473" y="1436"/>
                      <a:pt x="750" y="1677"/>
                      <a:pt x="527" y="2105"/>
                    </a:cubicBezTo>
                    <a:cubicBezTo>
                      <a:pt x="286" y="2578"/>
                      <a:pt x="545" y="3096"/>
                      <a:pt x="277" y="3560"/>
                    </a:cubicBezTo>
                    <a:cubicBezTo>
                      <a:pt x="1" y="4032"/>
                      <a:pt x="117" y="4675"/>
                      <a:pt x="482" y="5085"/>
                    </a:cubicBezTo>
                    <a:cubicBezTo>
                      <a:pt x="741" y="5370"/>
                      <a:pt x="1080" y="5549"/>
                      <a:pt x="1455" y="5638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16200038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73"/>
              <p:cNvSpPr/>
              <p:nvPr/>
            </p:nvSpPr>
            <p:spPr>
              <a:xfrm>
                <a:off x="3304790" y="4265276"/>
                <a:ext cx="353048" cy="258323"/>
              </a:xfrm>
              <a:custGeom>
                <a:rect b="b" l="l" r="r" t="t"/>
                <a:pathLst>
                  <a:path extrusionOk="0" h="5915" w="8084">
                    <a:moveTo>
                      <a:pt x="7164" y="72"/>
                    </a:moveTo>
                    <a:cubicBezTo>
                      <a:pt x="6879" y="0"/>
                      <a:pt x="6566" y="72"/>
                      <a:pt x="6281" y="152"/>
                    </a:cubicBezTo>
                    <a:cubicBezTo>
                      <a:pt x="5995" y="241"/>
                      <a:pt x="5710" y="348"/>
                      <a:pt x="5407" y="366"/>
                    </a:cubicBezTo>
                    <a:cubicBezTo>
                      <a:pt x="5050" y="384"/>
                      <a:pt x="4693" y="259"/>
                      <a:pt x="4336" y="188"/>
                    </a:cubicBezTo>
                    <a:cubicBezTo>
                      <a:pt x="3988" y="107"/>
                      <a:pt x="3587" y="90"/>
                      <a:pt x="3292" y="295"/>
                    </a:cubicBezTo>
                    <a:cubicBezTo>
                      <a:pt x="3007" y="491"/>
                      <a:pt x="2481" y="589"/>
                      <a:pt x="2240" y="839"/>
                    </a:cubicBezTo>
                    <a:cubicBezTo>
                      <a:pt x="1954" y="1124"/>
                      <a:pt x="1927" y="1490"/>
                      <a:pt x="1562" y="1669"/>
                    </a:cubicBezTo>
                    <a:cubicBezTo>
                      <a:pt x="884" y="1990"/>
                      <a:pt x="313" y="2596"/>
                      <a:pt x="152" y="3337"/>
                    </a:cubicBezTo>
                    <a:cubicBezTo>
                      <a:pt x="1" y="4068"/>
                      <a:pt x="340" y="4925"/>
                      <a:pt x="1018" y="5246"/>
                    </a:cubicBezTo>
                    <a:cubicBezTo>
                      <a:pt x="1374" y="5406"/>
                      <a:pt x="1776" y="5424"/>
                      <a:pt x="2151" y="5540"/>
                    </a:cubicBezTo>
                    <a:cubicBezTo>
                      <a:pt x="2454" y="5629"/>
                      <a:pt x="2739" y="5781"/>
                      <a:pt x="3060" y="5835"/>
                    </a:cubicBezTo>
                    <a:cubicBezTo>
                      <a:pt x="3596" y="5915"/>
                      <a:pt x="4131" y="5665"/>
                      <a:pt x="4568" y="5335"/>
                    </a:cubicBezTo>
                    <a:cubicBezTo>
                      <a:pt x="5005" y="5014"/>
                      <a:pt x="5380" y="4604"/>
                      <a:pt x="5826" y="4300"/>
                    </a:cubicBezTo>
                    <a:cubicBezTo>
                      <a:pt x="6138" y="4077"/>
                      <a:pt x="6495" y="3899"/>
                      <a:pt x="6789" y="3649"/>
                    </a:cubicBezTo>
                    <a:cubicBezTo>
                      <a:pt x="7012" y="3453"/>
                      <a:pt x="7200" y="3203"/>
                      <a:pt x="7387" y="2962"/>
                    </a:cubicBezTo>
                    <a:cubicBezTo>
                      <a:pt x="7664" y="2596"/>
                      <a:pt x="7949" y="2204"/>
                      <a:pt x="8012" y="1749"/>
                    </a:cubicBezTo>
                    <a:cubicBezTo>
                      <a:pt x="8083" y="1196"/>
                      <a:pt x="7780" y="223"/>
                      <a:pt x="7164" y="72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16200038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73"/>
              <p:cNvSpPr/>
              <p:nvPr/>
            </p:nvSpPr>
            <p:spPr>
              <a:xfrm>
                <a:off x="3461010" y="4317465"/>
                <a:ext cx="51883" cy="56556"/>
              </a:xfrm>
              <a:custGeom>
                <a:rect b="b" l="l" r="r" t="t"/>
                <a:pathLst>
                  <a:path extrusionOk="0" h="1295" w="1188">
                    <a:moveTo>
                      <a:pt x="848" y="19"/>
                    </a:moveTo>
                    <a:cubicBezTo>
                      <a:pt x="839" y="36"/>
                      <a:pt x="848" y="54"/>
                      <a:pt x="866" y="63"/>
                    </a:cubicBezTo>
                    <a:lnTo>
                      <a:pt x="866" y="63"/>
                    </a:lnTo>
                    <a:cubicBezTo>
                      <a:pt x="1009" y="126"/>
                      <a:pt x="1116" y="268"/>
                      <a:pt x="1125" y="411"/>
                    </a:cubicBezTo>
                    <a:lnTo>
                      <a:pt x="1125" y="411"/>
                    </a:lnTo>
                    <a:cubicBezTo>
                      <a:pt x="1125" y="598"/>
                      <a:pt x="964" y="750"/>
                      <a:pt x="831" y="821"/>
                    </a:cubicBezTo>
                    <a:lnTo>
                      <a:pt x="831" y="821"/>
                    </a:lnTo>
                    <a:cubicBezTo>
                      <a:pt x="715" y="875"/>
                      <a:pt x="599" y="911"/>
                      <a:pt x="474" y="937"/>
                    </a:cubicBezTo>
                    <a:lnTo>
                      <a:pt x="474" y="937"/>
                    </a:lnTo>
                    <a:cubicBezTo>
                      <a:pt x="420" y="955"/>
                      <a:pt x="358" y="973"/>
                      <a:pt x="295" y="991"/>
                    </a:cubicBezTo>
                    <a:lnTo>
                      <a:pt x="295" y="991"/>
                    </a:lnTo>
                    <a:cubicBezTo>
                      <a:pt x="126" y="1053"/>
                      <a:pt x="19" y="1143"/>
                      <a:pt x="1" y="1250"/>
                    </a:cubicBezTo>
                    <a:lnTo>
                      <a:pt x="1" y="1250"/>
                    </a:lnTo>
                    <a:cubicBezTo>
                      <a:pt x="1" y="1268"/>
                      <a:pt x="10" y="1285"/>
                      <a:pt x="28" y="1294"/>
                    </a:cubicBezTo>
                    <a:lnTo>
                      <a:pt x="28" y="1294"/>
                    </a:lnTo>
                    <a:cubicBezTo>
                      <a:pt x="28" y="1294"/>
                      <a:pt x="37" y="1294"/>
                      <a:pt x="37" y="1294"/>
                    </a:cubicBezTo>
                    <a:lnTo>
                      <a:pt x="37" y="1294"/>
                    </a:lnTo>
                    <a:cubicBezTo>
                      <a:pt x="45" y="1294"/>
                      <a:pt x="63" y="1276"/>
                      <a:pt x="63" y="1268"/>
                    </a:cubicBezTo>
                    <a:lnTo>
                      <a:pt x="63" y="1268"/>
                    </a:lnTo>
                    <a:cubicBezTo>
                      <a:pt x="81" y="1152"/>
                      <a:pt x="215" y="1089"/>
                      <a:pt x="313" y="1053"/>
                    </a:cubicBezTo>
                    <a:lnTo>
                      <a:pt x="313" y="1053"/>
                    </a:lnTo>
                    <a:cubicBezTo>
                      <a:pt x="376" y="1036"/>
                      <a:pt x="438" y="1018"/>
                      <a:pt x="492" y="1000"/>
                    </a:cubicBezTo>
                    <a:lnTo>
                      <a:pt x="492" y="1000"/>
                    </a:lnTo>
                    <a:cubicBezTo>
                      <a:pt x="616" y="964"/>
                      <a:pt x="741" y="937"/>
                      <a:pt x="857" y="875"/>
                    </a:cubicBezTo>
                    <a:lnTo>
                      <a:pt x="857" y="875"/>
                    </a:lnTo>
                    <a:cubicBezTo>
                      <a:pt x="1018" y="795"/>
                      <a:pt x="1187" y="625"/>
                      <a:pt x="1187" y="411"/>
                    </a:cubicBezTo>
                    <a:lnTo>
                      <a:pt x="1187" y="411"/>
                    </a:lnTo>
                    <a:cubicBezTo>
                      <a:pt x="1178" y="242"/>
                      <a:pt x="1062" y="81"/>
                      <a:pt x="884" y="1"/>
                    </a:cubicBezTo>
                    <a:lnTo>
                      <a:pt x="884" y="1"/>
                    </a:lnTo>
                    <a:cubicBezTo>
                      <a:pt x="884" y="1"/>
                      <a:pt x="875" y="1"/>
                      <a:pt x="875" y="1"/>
                    </a:cubicBezTo>
                    <a:lnTo>
                      <a:pt x="875" y="1"/>
                    </a:lnTo>
                    <a:cubicBezTo>
                      <a:pt x="857" y="1"/>
                      <a:pt x="848" y="10"/>
                      <a:pt x="848" y="1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73"/>
              <p:cNvSpPr/>
              <p:nvPr/>
            </p:nvSpPr>
            <p:spPr>
              <a:xfrm>
                <a:off x="3548706" y="4278902"/>
                <a:ext cx="33934" cy="78348"/>
              </a:xfrm>
              <a:custGeom>
                <a:rect b="b" l="l" r="r" t="t"/>
                <a:pathLst>
                  <a:path extrusionOk="0" h="1794" w="777">
                    <a:moveTo>
                      <a:pt x="0" y="27"/>
                    </a:moveTo>
                    <a:cubicBezTo>
                      <a:pt x="0" y="36"/>
                      <a:pt x="9" y="54"/>
                      <a:pt x="27" y="63"/>
                    </a:cubicBezTo>
                    <a:lnTo>
                      <a:pt x="27" y="63"/>
                    </a:lnTo>
                    <a:cubicBezTo>
                      <a:pt x="375" y="143"/>
                      <a:pt x="642" y="464"/>
                      <a:pt x="678" y="839"/>
                    </a:cubicBezTo>
                    <a:lnTo>
                      <a:pt x="678" y="839"/>
                    </a:lnTo>
                    <a:cubicBezTo>
                      <a:pt x="714" y="1214"/>
                      <a:pt x="491" y="1588"/>
                      <a:pt x="152" y="1740"/>
                    </a:cubicBezTo>
                    <a:lnTo>
                      <a:pt x="152" y="1740"/>
                    </a:lnTo>
                    <a:cubicBezTo>
                      <a:pt x="134" y="1740"/>
                      <a:pt x="125" y="1758"/>
                      <a:pt x="134" y="1776"/>
                    </a:cubicBezTo>
                    <a:lnTo>
                      <a:pt x="134" y="1776"/>
                    </a:lnTo>
                    <a:cubicBezTo>
                      <a:pt x="134" y="1794"/>
                      <a:pt x="152" y="1794"/>
                      <a:pt x="161" y="1794"/>
                    </a:cubicBezTo>
                    <a:lnTo>
                      <a:pt x="161" y="1794"/>
                    </a:lnTo>
                    <a:cubicBezTo>
                      <a:pt x="161" y="1794"/>
                      <a:pt x="170" y="1794"/>
                      <a:pt x="170" y="1794"/>
                    </a:cubicBezTo>
                    <a:lnTo>
                      <a:pt x="170" y="1794"/>
                    </a:lnTo>
                    <a:cubicBezTo>
                      <a:pt x="544" y="1633"/>
                      <a:pt x="776" y="1232"/>
                      <a:pt x="741" y="830"/>
                    </a:cubicBezTo>
                    <a:lnTo>
                      <a:pt x="741" y="830"/>
                    </a:lnTo>
                    <a:cubicBezTo>
                      <a:pt x="705" y="429"/>
                      <a:pt x="419" y="81"/>
                      <a:pt x="36" y="1"/>
                    </a:cubicBezTo>
                    <a:lnTo>
                      <a:pt x="36" y="1"/>
                    </a:lnTo>
                    <a:cubicBezTo>
                      <a:pt x="36" y="1"/>
                      <a:pt x="36" y="1"/>
                      <a:pt x="27" y="1"/>
                    </a:cubicBezTo>
                    <a:lnTo>
                      <a:pt x="27" y="1"/>
                    </a:lnTo>
                    <a:cubicBezTo>
                      <a:pt x="18" y="1"/>
                      <a:pt x="0" y="9"/>
                      <a:pt x="0" y="2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73"/>
              <p:cNvSpPr/>
              <p:nvPr/>
            </p:nvSpPr>
            <p:spPr>
              <a:xfrm>
                <a:off x="3404933" y="4414114"/>
                <a:ext cx="25374" cy="40135"/>
              </a:xfrm>
              <a:custGeom>
                <a:rect b="b" l="l" r="r" t="t"/>
                <a:pathLst>
                  <a:path extrusionOk="0" h="919" w="581">
                    <a:moveTo>
                      <a:pt x="536" y="0"/>
                    </a:moveTo>
                    <a:cubicBezTo>
                      <a:pt x="339" y="27"/>
                      <a:pt x="161" y="152"/>
                      <a:pt x="81" y="339"/>
                    </a:cubicBezTo>
                    <a:lnTo>
                      <a:pt x="81" y="339"/>
                    </a:lnTo>
                    <a:cubicBezTo>
                      <a:pt x="0" y="518"/>
                      <a:pt x="18" y="741"/>
                      <a:pt x="134" y="901"/>
                    </a:cubicBezTo>
                    <a:lnTo>
                      <a:pt x="134" y="901"/>
                    </a:lnTo>
                    <a:cubicBezTo>
                      <a:pt x="143" y="910"/>
                      <a:pt x="152" y="919"/>
                      <a:pt x="161" y="919"/>
                    </a:cubicBezTo>
                    <a:lnTo>
                      <a:pt x="161" y="919"/>
                    </a:lnTo>
                    <a:cubicBezTo>
                      <a:pt x="170" y="919"/>
                      <a:pt x="170" y="910"/>
                      <a:pt x="179" y="910"/>
                    </a:cubicBezTo>
                    <a:lnTo>
                      <a:pt x="179" y="910"/>
                    </a:lnTo>
                    <a:cubicBezTo>
                      <a:pt x="197" y="901"/>
                      <a:pt x="197" y="883"/>
                      <a:pt x="188" y="865"/>
                    </a:cubicBezTo>
                    <a:lnTo>
                      <a:pt x="188" y="865"/>
                    </a:lnTo>
                    <a:cubicBezTo>
                      <a:pt x="89" y="723"/>
                      <a:pt x="72" y="526"/>
                      <a:pt x="143" y="366"/>
                    </a:cubicBezTo>
                    <a:lnTo>
                      <a:pt x="143" y="366"/>
                    </a:lnTo>
                    <a:cubicBezTo>
                      <a:pt x="214" y="205"/>
                      <a:pt x="375" y="80"/>
                      <a:pt x="544" y="63"/>
                    </a:cubicBezTo>
                    <a:lnTo>
                      <a:pt x="544" y="63"/>
                    </a:lnTo>
                    <a:cubicBezTo>
                      <a:pt x="562" y="63"/>
                      <a:pt x="580" y="45"/>
                      <a:pt x="571" y="27"/>
                    </a:cubicBezTo>
                    <a:lnTo>
                      <a:pt x="571" y="27"/>
                    </a:lnTo>
                    <a:cubicBezTo>
                      <a:pt x="571" y="9"/>
                      <a:pt x="562" y="0"/>
                      <a:pt x="544" y="0"/>
                    </a:cubicBezTo>
                    <a:lnTo>
                      <a:pt x="544" y="0"/>
                    </a:lnTo>
                    <a:cubicBezTo>
                      <a:pt x="544" y="0"/>
                      <a:pt x="544" y="0"/>
                      <a:pt x="5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73"/>
              <p:cNvSpPr/>
              <p:nvPr/>
            </p:nvSpPr>
            <p:spPr>
              <a:xfrm>
                <a:off x="3468827" y="4251257"/>
                <a:ext cx="14456" cy="15984"/>
              </a:xfrm>
              <a:custGeom>
                <a:rect b="b" l="l" r="r" t="t"/>
                <a:pathLst>
                  <a:path extrusionOk="0" h="366" w="331">
                    <a:moveTo>
                      <a:pt x="54" y="98"/>
                    </a:moveTo>
                    <a:cubicBezTo>
                      <a:pt x="0" y="179"/>
                      <a:pt x="9" y="286"/>
                      <a:pt x="72" y="357"/>
                    </a:cubicBezTo>
                    <a:lnTo>
                      <a:pt x="72" y="357"/>
                    </a:lnTo>
                    <a:cubicBezTo>
                      <a:pt x="72" y="366"/>
                      <a:pt x="81" y="366"/>
                      <a:pt x="90" y="366"/>
                    </a:cubicBezTo>
                    <a:lnTo>
                      <a:pt x="90" y="366"/>
                    </a:lnTo>
                    <a:cubicBezTo>
                      <a:pt x="98" y="366"/>
                      <a:pt x="107" y="366"/>
                      <a:pt x="116" y="366"/>
                    </a:cubicBezTo>
                    <a:lnTo>
                      <a:pt x="116" y="366"/>
                    </a:lnTo>
                    <a:cubicBezTo>
                      <a:pt x="125" y="348"/>
                      <a:pt x="125" y="330"/>
                      <a:pt x="116" y="321"/>
                    </a:cubicBezTo>
                    <a:lnTo>
                      <a:pt x="116" y="321"/>
                    </a:lnTo>
                    <a:cubicBezTo>
                      <a:pt x="72" y="268"/>
                      <a:pt x="72" y="187"/>
                      <a:pt x="107" y="134"/>
                    </a:cubicBezTo>
                    <a:lnTo>
                      <a:pt x="107" y="134"/>
                    </a:lnTo>
                    <a:cubicBezTo>
                      <a:pt x="143" y="80"/>
                      <a:pt x="223" y="54"/>
                      <a:pt x="286" y="72"/>
                    </a:cubicBezTo>
                    <a:lnTo>
                      <a:pt x="286" y="72"/>
                    </a:lnTo>
                    <a:cubicBezTo>
                      <a:pt x="295" y="72"/>
                      <a:pt x="313" y="63"/>
                      <a:pt x="321" y="45"/>
                    </a:cubicBezTo>
                    <a:lnTo>
                      <a:pt x="321" y="45"/>
                    </a:lnTo>
                    <a:cubicBezTo>
                      <a:pt x="330" y="36"/>
                      <a:pt x="321" y="18"/>
                      <a:pt x="304" y="9"/>
                    </a:cubicBezTo>
                    <a:lnTo>
                      <a:pt x="304" y="9"/>
                    </a:lnTo>
                    <a:cubicBezTo>
                      <a:pt x="277" y="0"/>
                      <a:pt x="259" y="0"/>
                      <a:pt x="241" y="0"/>
                    </a:cubicBezTo>
                    <a:lnTo>
                      <a:pt x="241" y="0"/>
                    </a:lnTo>
                    <a:cubicBezTo>
                      <a:pt x="170" y="0"/>
                      <a:pt x="98" y="36"/>
                      <a:pt x="54" y="98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73"/>
              <p:cNvSpPr/>
              <p:nvPr/>
            </p:nvSpPr>
            <p:spPr>
              <a:xfrm>
                <a:off x="3248670" y="4213043"/>
                <a:ext cx="407988" cy="309027"/>
              </a:xfrm>
              <a:custGeom>
                <a:rect b="b" l="l" r="r" t="t"/>
                <a:pathLst>
                  <a:path extrusionOk="0" h="7076" w="9342">
                    <a:moveTo>
                      <a:pt x="2865" y="54"/>
                    </a:moveTo>
                    <a:cubicBezTo>
                      <a:pt x="2704" y="90"/>
                      <a:pt x="2561" y="135"/>
                      <a:pt x="2419" y="197"/>
                    </a:cubicBezTo>
                    <a:lnTo>
                      <a:pt x="2419" y="197"/>
                    </a:lnTo>
                    <a:cubicBezTo>
                      <a:pt x="2419" y="197"/>
                      <a:pt x="2419" y="197"/>
                      <a:pt x="2419" y="206"/>
                    </a:cubicBezTo>
                    <a:lnTo>
                      <a:pt x="2419" y="206"/>
                    </a:lnTo>
                    <a:cubicBezTo>
                      <a:pt x="2062" y="367"/>
                      <a:pt x="1776" y="643"/>
                      <a:pt x="1651" y="964"/>
                    </a:cubicBezTo>
                    <a:lnTo>
                      <a:pt x="1651" y="964"/>
                    </a:lnTo>
                    <a:cubicBezTo>
                      <a:pt x="1633" y="1009"/>
                      <a:pt x="1607" y="1045"/>
                      <a:pt x="1580" y="1089"/>
                    </a:cubicBezTo>
                    <a:lnTo>
                      <a:pt x="1580" y="1089"/>
                    </a:lnTo>
                    <a:cubicBezTo>
                      <a:pt x="1571" y="1089"/>
                      <a:pt x="1562" y="1098"/>
                      <a:pt x="1562" y="1116"/>
                    </a:cubicBezTo>
                    <a:lnTo>
                      <a:pt x="1562" y="1116"/>
                    </a:lnTo>
                    <a:cubicBezTo>
                      <a:pt x="1562" y="1116"/>
                      <a:pt x="1562" y="1116"/>
                      <a:pt x="1562" y="1116"/>
                    </a:cubicBezTo>
                    <a:lnTo>
                      <a:pt x="1562" y="1116"/>
                    </a:lnTo>
                    <a:cubicBezTo>
                      <a:pt x="1446" y="1277"/>
                      <a:pt x="1259" y="1401"/>
                      <a:pt x="1089" y="1535"/>
                    </a:cubicBezTo>
                    <a:lnTo>
                      <a:pt x="1089" y="1535"/>
                    </a:lnTo>
                    <a:cubicBezTo>
                      <a:pt x="866" y="1696"/>
                      <a:pt x="634" y="1856"/>
                      <a:pt x="527" y="2071"/>
                    </a:cubicBezTo>
                    <a:lnTo>
                      <a:pt x="527" y="2071"/>
                    </a:lnTo>
                    <a:cubicBezTo>
                      <a:pt x="402" y="2311"/>
                      <a:pt x="402" y="2561"/>
                      <a:pt x="411" y="2802"/>
                    </a:cubicBezTo>
                    <a:lnTo>
                      <a:pt x="411" y="2802"/>
                    </a:lnTo>
                    <a:cubicBezTo>
                      <a:pt x="411" y="3052"/>
                      <a:pt x="411" y="3293"/>
                      <a:pt x="277" y="3525"/>
                    </a:cubicBezTo>
                    <a:lnTo>
                      <a:pt x="277" y="3525"/>
                    </a:lnTo>
                    <a:cubicBezTo>
                      <a:pt x="1" y="3989"/>
                      <a:pt x="90" y="4649"/>
                      <a:pt x="492" y="5095"/>
                    </a:cubicBezTo>
                    <a:lnTo>
                      <a:pt x="492" y="5095"/>
                    </a:lnTo>
                    <a:cubicBezTo>
                      <a:pt x="732" y="5362"/>
                      <a:pt x="1071" y="5559"/>
                      <a:pt x="1473" y="5657"/>
                    </a:cubicBezTo>
                    <a:lnTo>
                      <a:pt x="1473" y="5657"/>
                    </a:lnTo>
                    <a:cubicBezTo>
                      <a:pt x="1473" y="5657"/>
                      <a:pt x="1473" y="5657"/>
                      <a:pt x="1482" y="5657"/>
                    </a:cubicBezTo>
                    <a:lnTo>
                      <a:pt x="1482" y="5657"/>
                    </a:lnTo>
                    <a:cubicBezTo>
                      <a:pt x="1491" y="5657"/>
                      <a:pt x="1509" y="5648"/>
                      <a:pt x="1509" y="5630"/>
                    </a:cubicBezTo>
                    <a:lnTo>
                      <a:pt x="1509" y="5630"/>
                    </a:lnTo>
                    <a:cubicBezTo>
                      <a:pt x="1509" y="5621"/>
                      <a:pt x="1509" y="5621"/>
                      <a:pt x="1509" y="5612"/>
                    </a:cubicBezTo>
                    <a:lnTo>
                      <a:pt x="1509" y="5612"/>
                    </a:lnTo>
                    <a:cubicBezTo>
                      <a:pt x="1660" y="5987"/>
                      <a:pt x="1937" y="6299"/>
                      <a:pt x="2294" y="6469"/>
                    </a:cubicBezTo>
                    <a:lnTo>
                      <a:pt x="2294" y="6469"/>
                    </a:lnTo>
                    <a:cubicBezTo>
                      <a:pt x="2508" y="6567"/>
                      <a:pt x="2749" y="6620"/>
                      <a:pt x="2981" y="6665"/>
                    </a:cubicBezTo>
                    <a:lnTo>
                      <a:pt x="2981" y="6665"/>
                    </a:lnTo>
                    <a:cubicBezTo>
                      <a:pt x="3132" y="6692"/>
                      <a:pt x="3284" y="6718"/>
                      <a:pt x="3427" y="6763"/>
                    </a:cubicBezTo>
                    <a:lnTo>
                      <a:pt x="3427" y="6763"/>
                    </a:lnTo>
                    <a:cubicBezTo>
                      <a:pt x="3534" y="6799"/>
                      <a:pt x="3650" y="6843"/>
                      <a:pt x="3757" y="6879"/>
                    </a:cubicBezTo>
                    <a:lnTo>
                      <a:pt x="3757" y="6879"/>
                    </a:lnTo>
                    <a:cubicBezTo>
                      <a:pt x="3944" y="6959"/>
                      <a:pt x="4140" y="7031"/>
                      <a:pt x="4337" y="7057"/>
                    </a:cubicBezTo>
                    <a:lnTo>
                      <a:pt x="4337" y="7057"/>
                    </a:lnTo>
                    <a:cubicBezTo>
                      <a:pt x="4408" y="7066"/>
                      <a:pt x="4479" y="7075"/>
                      <a:pt x="4551" y="7075"/>
                    </a:cubicBezTo>
                    <a:lnTo>
                      <a:pt x="4551" y="7075"/>
                    </a:lnTo>
                    <a:cubicBezTo>
                      <a:pt x="5068" y="7075"/>
                      <a:pt x="5541" y="6808"/>
                      <a:pt x="5871" y="6558"/>
                    </a:cubicBezTo>
                    <a:lnTo>
                      <a:pt x="5871" y="6558"/>
                    </a:lnTo>
                    <a:cubicBezTo>
                      <a:pt x="6076" y="6406"/>
                      <a:pt x="6263" y="6237"/>
                      <a:pt x="6451" y="6076"/>
                    </a:cubicBezTo>
                    <a:lnTo>
                      <a:pt x="6451" y="6076"/>
                    </a:lnTo>
                    <a:cubicBezTo>
                      <a:pt x="6665" y="5880"/>
                      <a:pt x="6888" y="5684"/>
                      <a:pt x="7129" y="5514"/>
                    </a:cubicBezTo>
                    <a:lnTo>
                      <a:pt x="7129" y="5514"/>
                    </a:lnTo>
                    <a:cubicBezTo>
                      <a:pt x="7245" y="5434"/>
                      <a:pt x="7370" y="5362"/>
                      <a:pt x="7495" y="5282"/>
                    </a:cubicBezTo>
                    <a:lnTo>
                      <a:pt x="7495" y="5282"/>
                    </a:lnTo>
                    <a:cubicBezTo>
                      <a:pt x="7691" y="5157"/>
                      <a:pt x="7905" y="5032"/>
                      <a:pt x="8092" y="4872"/>
                    </a:cubicBezTo>
                    <a:lnTo>
                      <a:pt x="8092" y="4872"/>
                    </a:lnTo>
                    <a:cubicBezTo>
                      <a:pt x="8217" y="4756"/>
                      <a:pt x="8333" y="4640"/>
                      <a:pt x="8440" y="4506"/>
                    </a:cubicBezTo>
                    <a:lnTo>
                      <a:pt x="8440" y="4506"/>
                    </a:lnTo>
                    <a:lnTo>
                      <a:pt x="8440" y="4506"/>
                    </a:lnTo>
                    <a:lnTo>
                      <a:pt x="8440" y="4506"/>
                    </a:lnTo>
                    <a:cubicBezTo>
                      <a:pt x="8529" y="4399"/>
                      <a:pt x="8610" y="4283"/>
                      <a:pt x="8699" y="4176"/>
                    </a:cubicBezTo>
                    <a:lnTo>
                      <a:pt x="8699" y="4176"/>
                    </a:lnTo>
                    <a:cubicBezTo>
                      <a:pt x="8949" y="3846"/>
                      <a:pt x="9261" y="3427"/>
                      <a:pt x="9323" y="2945"/>
                    </a:cubicBezTo>
                    <a:lnTo>
                      <a:pt x="9323" y="2945"/>
                    </a:lnTo>
                    <a:cubicBezTo>
                      <a:pt x="9332" y="2865"/>
                      <a:pt x="9341" y="2784"/>
                      <a:pt x="9332" y="2686"/>
                    </a:cubicBezTo>
                    <a:lnTo>
                      <a:pt x="9332" y="2686"/>
                    </a:lnTo>
                    <a:cubicBezTo>
                      <a:pt x="9332" y="2686"/>
                      <a:pt x="9332" y="2677"/>
                      <a:pt x="9332" y="2668"/>
                    </a:cubicBezTo>
                    <a:lnTo>
                      <a:pt x="9332" y="2668"/>
                    </a:lnTo>
                    <a:cubicBezTo>
                      <a:pt x="9297" y="2106"/>
                      <a:pt x="9002" y="1375"/>
                      <a:pt x="8458" y="1241"/>
                    </a:cubicBezTo>
                    <a:lnTo>
                      <a:pt x="8458" y="1241"/>
                    </a:lnTo>
                    <a:cubicBezTo>
                      <a:pt x="8235" y="1187"/>
                      <a:pt x="7994" y="1214"/>
                      <a:pt x="7780" y="1259"/>
                    </a:cubicBezTo>
                    <a:lnTo>
                      <a:pt x="7780" y="1259"/>
                    </a:lnTo>
                    <a:cubicBezTo>
                      <a:pt x="7753" y="1187"/>
                      <a:pt x="7718" y="1134"/>
                      <a:pt x="7691" y="1071"/>
                    </a:cubicBezTo>
                    <a:lnTo>
                      <a:pt x="7691" y="1071"/>
                    </a:lnTo>
                    <a:cubicBezTo>
                      <a:pt x="7673" y="1045"/>
                      <a:pt x="7655" y="1009"/>
                      <a:pt x="7637" y="982"/>
                    </a:cubicBezTo>
                    <a:lnTo>
                      <a:pt x="7637" y="982"/>
                    </a:lnTo>
                    <a:cubicBezTo>
                      <a:pt x="7441" y="572"/>
                      <a:pt x="7200" y="331"/>
                      <a:pt x="6888" y="242"/>
                    </a:cubicBezTo>
                    <a:lnTo>
                      <a:pt x="6888" y="242"/>
                    </a:lnTo>
                    <a:cubicBezTo>
                      <a:pt x="6656" y="170"/>
                      <a:pt x="6406" y="206"/>
                      <a:pt x="6165" y="233"/>
                    </a:cubicBezTo>
                    <a:lnTo>
                      <a:pt x="6165" y="233"/>
                    </a:lnTo>
                    <a:cubicBezTo>
                      <a:pt x="6094" y="242"/>
                      <a:pt x="6014" y="251"/>
                      <a:pt x="5942" y="260"/>
                    </a:cubicBezTo>
                    <a:lnTo>
                      <a:pt x="5942" y="260"/>
                    </a:lnTo>
                    <a:cubicBezTo>
                      <a:pt x="5478" y="295"/>
                      <a:pt x="5006" y="215"/>
                      <a:pt x="4542" y="135"/>
                    </a:cubicBezTo>
                    <a:lnTo>
                      <a:pt x="4542" y="135"/>
                    </a:lnTo>
                    <a:lnTo>
                      <a:pt x="4408" y="117"/>
                    </a:lnTo>
                    <a:cubicBezTo>
                      <a:pt x="4087" y="54"/>
                      <a:pt x="3739" y="1"/>
                      <a:pt x="3400" y="1"/>
                    </a:cubicBezTo>
                    <a:lnTo>
                      <a:pt x="3400" y="1"/>
                    </a:lnTo>
                    <a:cubicBezTo>
                      <a:pt x="3221" y="1"/>
                      <a:pt x="3043" y="19"/>
                      <a:pt x="2865" y="54"/>
                    </a:cubicBezTo>
                    <a:moveTo>
                      <a:pt x="2579" y="884"/>
                    </a:moveTo>
                    <a:cubicBezTo>
                      <a:pt x="2552" y="875"/>
                      <a:pt x="2526" y="848"/>
                      <a:pt x="2499" y="813"/>
                    </a:cubicBezTo>
                    <a:lnTo>
                      <a:pt x="2499" y="813"/>
                    </a:lnTo>
                    <a:cubicBezTo>
                      <a:pt x="2383" y="643"/>
                      <a:pt x="2365" y="429"/>
                      <a:pt x="2454" y="251"/>
                    </a:cubicBezTo>
                    <a:lnTo>
                      <a:pt x="2454" y="251"/>
                    </a:lnTo>
                    <a:cubicBezTo>
                      <a:pt x="2588" y="197"/>
                      <a:pt x="2722" y="144"/>
                      <a:pt x="2873" y="117"/>
                    </a:cubicBezTo>
                    <a:lnTo>
                      <a:pt x="2873" y="117"/>
                    </a:lnTo>
                    <a:cubicBezTo>
                      <a:pt x="3346" y="19"/>
                      <a:pt x="3828" y="81"/>
                      <a:pt x="4292" y="153"/>
                    </a:cubicBezTo>
                    <a:lnTo>
                      <a:pt x="4292" y="153"/>
                    </a:lnTo>
                    <a:cubicBezTo>
                      <a:pt x="4292" y="161"/>
                      <a:pt x="4301" y="170"/>
                      <a:pt x="4310" y="170"/>
                    </a:cubicBezTo>
                    <a:lnTo>
                      <a:pt x="4310" y="170"/>
                    </a:lnTo>
                    <a:cubicBezTo>
                      <a:pt x="4372" y="188"/>
                      <a:pt x="4426" y="251"/>
                      <a:pt x="4435" y="322"/>
                    </a:cubicBezTo>
                    <a:lnTo>
                      <a:pt x="4435" y="322"/>
                    </a:lnTo>
                    <a:cubicBezTo>
                      <a:pt x="4435" y="385"/>
                      <a:pt x="4390" y="456"/>
                      <a:pt x="4319" y="474"/>
                    </a:cubicBezTo>
                    <a:lnTo>
                      <a:pt x="4319" y="474"/>
                    </a:lnTo>
                    <a:cubicBezTo>
                      <a:pt x="4310" y="483"/>
                      <a:pt x="4301" y="500"/>
                      <a:pt x="4301" y="518"/>
                    </a:cubicBezTo>
                    <a:lnTo>
                      <a:pt x="4301" y="518"/>
                    </a:lnTo>
                    <a:cubicBezTo>
                      <a:pt x="4310" y="527"/>
                      <a:pt x="4319" y="536"/>
                      <a:pt x="4328" y="536"/>
                    </a:cubicBezTo>
                    <a:lnTo>
                      <a:pt x="4328" y="536"/>
                    </a:lnTo>
                    <a:cubicBezTo>
                      <a:pt x="4337" y="536"/>
                      <a:pt x="4337" y="536"/>
                      <a:pt x="4345" y="536"/>
                    </a:cubicBezTo>
                    <a:lnTo>
                      <a:pt x="4345" y="536"/>
                    </a:lnTo>
                    <a:cubicBezTo>
                      <a:pt x="4435" y="509"/>
                      <a:pt x="4497" y="411"/>
                      <a:pt x="4497" y="313"/>
                    </a:cubicBezTo>
                    <a:lnTo>
                      <a:pt x="4497" y="313"/>
                    </a:lnTo>
                    <a:cubicBezTo>
                      <a:pt x="4497" y="269"/>
                      <a:pt x="4470" y="224"/>
                      <a:pt x="4444" y="179"/>
                    </a:cubicBezTo>
                    <a:lnTo>
                      <a:pt x="4444" y="179"/>
                    </a:lnTo>
                    <a:lnTo>
                      <a:pt x="4533" y="197"/>
                    </a:lnTo>
                    <a:cubicBezTo>
                      <a:pt x="4899" y="260"/>
                      <a:pt x="5273" y="331"/>
                      <a:pt x="5648" y="331"/>
                    </a:cubicBezTo>
                    <a:lnTo>
                      <a:pt x="5648" y="331"/>
                    </a:lnTo>
                    <a:cubicBezTo>
                      <a:pt x="5648" y="331"/>
                      <a:pt x="5648" y="331"/>
                      <a:pt x="5657" y="331"/>
                    </a:cubicBezTo>
                    <a:lnTo>
                      <a:pt x="5657" y="331"/>
                    </a:lnTo>
                    <a:cubicBezTo>
                      <a:pt x="5666" y="331"/>
                      <a:pt x="5666" y="331"/>
                      <a:pt x="5675" y="331"/>
                    </a:cubicBezTo>
                    <a:lnTo>
                      <a:pt x="5675" y="331"/>
                    </a:lnTo>
                    <a:lnTo>
                      <a:pt x="5684" y="331"/>
                    </a:lnTo>
                    <a:cubicBezTo>
                      <a:pt x="5826" y="340"/>
                      <a:pt x="5960" y="465"/>
                      <a:pt x="6014" y="599"/>
                    </a:cubicBezTo>
                    <a:lnTo>
                      <a:pt x="6014" y="599"/>
                    </a:lnTo>
                    <a:cubicBezTo>
                      <a:pt x="6076" y="732"/>
                      <a:pt x="6032" y="911"/>
                      <a:pt x="5916" y="1009"/>
                    </a:cubicBezTo>
                    <a:lnTo>
                      <a:pt x="5916" y="1009"/>
                    </a:lnTo>
                    <a:cubicBezTo>
                      <a:pt x="5907" y="1018"/>
                      <a:pt x="5907" y="1027"/>
                      <a:pt x="5907" y="1036"/>
                    </a:cubicBezTo>
                    <a:lnTo>
                      <a:pt x="5907" y="1036"/>
                    </a:lnTo>
                    <a:cubicBezTo>
                      <a:pt x="5907" y="1054"/>
                      <a:pt x="5916" y="1062"/>
                      <a:pt x="5924" y="1062"/>
                    </a:cubicBezTo>
                    <a:lnTo>
                      <a:pt x="5924" y="1062"/>
                    </a:lnTo>
                    <a:lnTo>
                      <a:pt x="6005" y="1089"/>
                    </a:lnTo>
                    <a:cubicBezTo>
                      <a:pt x="6014" y="1089"/>
                      <a:pt x="6014" y="1089"/>
                      <a:pt x="6014" y="1089"/>
                    </a:cubicBezTo>
                    <a:lnTo>
                      <a:pt x="6014" y="1089"/>
                    </a:lnTo>
                    <a:cubicBezTo>
                      <a:pt x="6032" y="1089"/>
                      <a:pt x="6040" y="1080"/>
                      <a:pt x="6049" y="1062"/>
                    </a:cubicBezTo>
                    <a:lnTo>
                      <a:pt x="6049" y="1062"/>
                    </a:lnTo>
                    <a:cubicBezTo>
                      <a:pt x="6049" y="1054"/>
                      <a:pt x="6040" y="1036"/>
                      <a:pt x="6023" y="1027"/>
                    </a:cubicBezTo>
                    <a:lnTo>
                      <a:pt x="6023" y="1027"/>
                    </a:lnTo>
                    <a:lnTo>
                      <a:pt x="5996" y="1018"/>
                    </a:lnTo>
                    <a:cubicBezTo>
                      <a:pt x="6103" y="902"/>
                      <a:pt x="6139" y="724"/>
                      <a:pt x="6076" y="572"/>
                    </a:cubicBezTo>
                    <a:lnTo>
                      <a:pt x="6076" y="572"/>
                    </a:lnTo>
                    <a:cubicBezTo>
                      <a:pt x="6032" y="474"/>
                      <a:pt x="5960" y="385"/>
                      <a:pt x="5862" y="331"/>
                    </a:cubicBezTo>
                    <a:lnTo>
                      <a:pt x="5862" y="331"/>
                    </a:lnTo>
                    <a:cubicBezTo>
                      <a:pt x="5889" y="322"/>
                      <a:pt x="5916" y="322"/>
                      <a:pt x="5942" y="322"/>
                    </a:cubicBezTo>
                    <a:lnTo>
                      <a:pt x="5942" y="322"/>
                    </a:lnTo>
                    <a:cubicBezTo>
                      <a:pt x="6023" y="313"/>
                      <a:pt x="6103" y="304"/>
                      <a:pt x="6174" y="295"/>
                    </a:cubicBezTo>
                    <a:lnTo>
                      <a:pt x="6174" y="295"/>
                    </a:lnTo>
                    <a:cubicBezTo>
                      <a:pt x="6406" y="269"/>
                      <a:pt x="6647" y="242"/>
                      <a:pt x="6870" y="304"/>
                    </a:cubicBezTo>
                    <a:lnTo>
                      <a:pt x="6870" y="304"/>
                    </a:lnTo>
                    <a:cubicBezTo>
                      <a:pt x="6906" y="313"/>
                      <a:pt x="6933" y="322"/>
                      <a:pt x="6959" y="331"/>
                    </a:cubicBezTo>
                    <a:lnTo>
                      <a:pt x="6959" y="331"/>
                    </a:lnTo>
                    <a:cubicBezTo>
                      <a:pt x="6950" y="349"/>
                      <a:pt x="6950" y="358"/>
                      <a:pt x="6959" y="367"/>
                    </a:cubicBezTo>
                    <a:lnTo>
                      <a:pt x="6959" y="367"/>
                    </a:lnTo>
                    <a:cubicBezTo>
                      <a:pt x="7022" y="429"/>
                      <a:pt x="7066" y="509"/>
                      <a:pt x="7075" y="599"/>
                    </a:cubicBezTo>
                    <a:lnTo>
                      <a:pt x="7075" y="599"/>
                    </a:lnTo>
                    <a:cubicBezTo>
                      <a:pt x="7075" y="616"/>
                      <a:pt x="7093" y="625"/>
                      <a:pt x="7111" y="625"/>
                    </a:cubicBezTo>
                    <a:lnTo>
                      <a:pt x="7111" y="625"/>
                    </a:lnTo>
                    <a:cubicBezTo>
                      <a:pt x="7111" y="625"/>
                      <a:pt x="7111" y="625"/>
                      <a:pt x="7111" y="625"/>
                    </a:cubicBezTo>
                    <a:lnTo>
                      <a:pt x="7111" y="625"/>
                    </a:lnTo>
                    <a:cubicBezTo>
                      <a:pt x="7129" y="625"/>
                      <a:pt x="7138" y="608"/>
                      <a:pt x="7138" y="590"/>
                    </a:cubicBezTo>
                    <a:lnTo>
                      <a:pt x="7138" y="590"/>
                    </a:lnTo>
                    <a:cubicBezTo>
                      <a:pt x="7129" y="518"/>
                      <a:pt x="7102" y="447"/>
                      <a:pt x="7057" y="385"/>
                    </a:cubicBezTo>
                    <a:lnTo>
                      <a:pt x="7057" y="385"/>
                    </a:lnTo>
                    <a:cubicBezTo>
                      <a:pt x="7263" y="500"/>
                      <a:pt x="7441" y="706"/>
                      <a:pt x="7584" y="1009"/>
                    </a:cubicBezTo>
                    <a:lnTo>
                      <a:pt x="7584" y="1009"/>
                    </a:lnTo>
                    <a:cubicBezTo>
                      <a:pt x="7602" y="1045"/>
                      <a:pt x="7619" y="1071"/>
                      <a:pt x="7637" y="1098"/>
                    </a:cubicBezTo>
                    <a:lnTo>
                      <a:pt x="7637" y="1098"/>
                    </a:lnTo>
                    <a:cubicBezTo>
                      <a:pt x="7664" y="1161"/>
                      <a:pt x="7691" y="1205"/>
                      <a:pt x="7718" y="1277"/>
                    </a:cubicBezTo>
                    <a:lnTo>
                      <a:pt x="7718" y="1277"/>
                    </a:lnTo>
                    <a:cubicBezTo>
                      <a:pt x="7664" y="1294"/>
                      <a:pt x="7611" y="1303"/>
                      <a:pt x="7557" y="1321"/>
                    </a:cubicBezTo>
                    <a:lnTo>
                      <a:pt x="7557" y="1321"/>
                    </a:lnTo>
                    <a:cubicBezTo>
                      <a:pt x="7414" y="1366"/>
                      <a:pt x="7280" y="1294"/>
                      <a:pt x="7138" y="1223"/>
                    </a:cubicBezTo>
                    <a:lnTo>
                      <a:pt x="7138" y="1223"/>
                    </a:lnTo>
                    <a:cubicBezTo>
                      <a:pt x="7013" y="1161"/>
                      <a:pt x="6888" y="1098"/>
                      <a:pt x="6736" y="1107"/>
                    </a:cubicBezTo>
                    <a:lnTo>
                      <a:pt x="6736" y="1107"/>
                    </a:lnTo>
                    <a:lnTo>
                      <a:pt x="6736" y="1107"/>
                    </a:lnTo>
                    <a:lnTo>
                      <a:pt x="6736" y="1107"/>
                    </a:lnTo>
                    <a:cubicBezTo>
                      <a:pt x="6727" y="1107"/>
                      <a:pt x="6718" y="1107"/>
                      <a:pt x="6710" y="1107"/>
                    </a:cubicBezTo>
                    <a:lnTo>
                      <a:pt x="6710" y="1107"/>
                    </a:lnTo>
                    <a:cubicBezTo>
                      <a:pt x="6558" y="1116"/>
                      <a:pt x="6397" y="1178"/>
                      <a:pt x="6246" y="1232"/>
                    </a:cubicBezTo>
                    <a:lnTo>
                      <a:pt x="6246" y="1232"/>
                    </a:lnTo>
                    <a:cubicBezTo>
                      <a:pt x="6040" y="1312"/>
                      <a:pt x="5826" y="1393"/>
                      <a:pt x="5630" y="1348"/>
                    </a:cubicBezTo>
                    <a:lnTo>
                      <a:pt x="5630" y="1348"/>
                    </a:lnTo>
                    <a:cubicBezTo>
                      <a:pt x="5166" y="1250"/>
                      <a:pt x="4818" y="1286"/>
                      <a:pt x="4560" y="1464"/>
                    </a:cubicBezTo>
                    <a:lnTo>
                      <a:pt x="4560" y="1464"/>
                    </a:lnTo>
                    <a:cubicBezTo>
                      <a:pt x="4461" y="1526"/>
                      <a:pt x="4337" y="1589"/>
                      <a:pt x="4212" y="1642"/>
                    </a:cubicBezTo>
                    <a:lnTo>
                      <a:pt x="4212" y="1642"/>
                    </a:lnTo>
                    <a:cubicBezTo>
                      <a:pt x="4238" y="1455"/>
                      <a:pt x="4221" y="1205"/>
                      <a:pt x="4140" y="1071"/>
                    </a:cubicBezTo>
                    <a:lnTo>
                      <a:pt x="4140" y="1071"/>
                    </a:lnTo>
                    <a:cubicBezTo>
                      <a:pt x="4042" y="920"/>
                      <a:pt x="3873" y="813"/>
                      <a:pt x="3703" y="777"/>
                    </a:cubicBezTo>
                    <a:lnTo>
                      <a:pt x="3703" y="777"/>
                    </a:lnTo>
                    <a:cubicBezTo>
                      <a:pt x="3667" y="777"/>
                      <a:pt x="3623" y="768"/>
                      <a:pt x="3596" y="768"/>
                    </a:cubicBezTo>
                    <a:lnTo>
                      <a:pt x="3596" y="768"/>
                    </a:lnTo>
                    <a:cubicBezTo>
                      <a:pt x="3543" y="768"/>
                      <a:pt x="3489" y="759"/>
                      <a:pt x="3444" y="750"/>
                    </a:cubicBezTo>
                    <a:lnTo>
                      <a:pt x="3444" y="750"/>
                    </a:lnTo>
                    <a:cubicBezTo>
                      <a:pt x="3364" y="724"/>
                      <a:pt x="3293" y="670"/>
                      <a:pt x="3284" y="599"/>
                    </a:cubicBezTo>
                    <a:lnTo>
                      <a:pt x="3284" y="599"/>
                    </a:lnTo>
                    <a:cubicBezTo>
                      <a:pt x="3284" y="581"/>
                      <a:pt x="3266" y="572"/>
                      <a:pt x="3257" y="572"/>
                    </a:cubicBezTo>
                    <a:lnTo>
                      <a:pt x="3257" y="572"/>
                    </a:lnTo>
                    <a:cubicBezTo>
                      <a:pt x="3239" y="572"/>
                      <a:pt x="3221" y="590"/>
                      <a:pt x="3221" y="608"/>
                    </a:cubicBezTo>
                    <a:lnTo>
                      <a:pt x="3221" y="608"/>
                    </a:lnTo>
                    <a:cubicBezTo>
                      <a:pt x="3230" y="706"/>
                      <a:pt x="3328" y="786"/>
                      <a:pt x="3427" y="804"/>
                    </a:cubicBezTo>
                    <a:lnTo>
                      <a:pt x="3427" y="804"/>
                    </a:lnTo>
                    <a:cubicBezTo>
                      <a:pt x="3480" y="822"/>
                      <a:pt x="3534" y="831"/>
                      <a:pt x="3587" y="831"/>
                    </a:cubicBezTo>
                    <a:lnTo>
                      <a:pt x="3587" y="831"/>
                    </a:lnTo>
                    <a:cubicBezTo>
                      <a:pt x="3623" y="831"/>
                      <a:pt x="3659" y="839"/>
                      <a:pt x="3685" y="839"/>
                    </a:cubicBezTo>
                    <a:lnTo>
                      <a:pt x="3685" y="839"/>
                    </a:lnTo>
                    <a:cubicBezTo>
                      <a:pt x="3846" y="866"/>
                      <a:pt x="3998" y="964"/>
                      <a:pt x="4087" y="1098"/>
                    </a:cubicBezTo>
                    <a:lnTo>
                      <a:pt x="4087" y="1098"/>
                    </a:lnTo>
                    <a:cubicBezTo>
                      <a:pt x="4167" y="1232"/>
                      <a:pt x="4176" y="1500"/>
                      <a:pt x="4140" y="1669"/>
                    </a:cubicBezTo>
                    <a:lnTo>
                      <a:pt x="4140" y="1669"/>
                    </a:lnTo>
                    <a:cubicBezTo>
                      <a:pt x="4131" y="1669"/>
                      <a:pt x="4122" y="1678"/>
                      <a:pt x="4114" y="1678"/>
                    </a:cubicBezTo>
                    <a:lnTo>
                      <a:pt x="4114" y="1678"/>
                    </a:lnTo>
                    <a:cubicBezTo>
                      <a:pt x="3971" y="1732"/>
                      <a:pt x="3828" y="1794"/>
                      <a:pt x="3712" y="1865"/>
                    </a:cubicBezTo>
                    <a:lnTo>
                      <a:pt x="3712" y="1865"/>
                    </a:lnTo>
                    <a:cubicBezTo>
                      <a:pt x="3676" y="1865"/>
                      <a:pt x="3650" y="1874"/>
                      <a:pt x="3632" y="1883"/>
                    </a:cubicBezTo>
                    <a:lnTo>
                      <a:pt x="3632" y="1883"/>
                    </a:lnTo>
                    <a:cubicBezTo>
                      <a:pt x="3623" y="1883"/>
                      <a:pt x="3623" y="1883"/>
                      <a:pt x="3623" y="1883"/>
                    </a:cubicBezTo>
                    <a:lnTo>
                      <a:pt x="3623" y="1883"/>
                    </a:lnTo>
                    <a:cubicBezTo>
                      <a:pt x="3632" y="1874"/>
                      <a:pt x="3623" y="1856"/>
                      <a:pt x="3614" y="1848"/>
                    </a:cubicBezTo>
                    <a:lnTo>
                      <a:pt x="3614" y="1848"/>
                    </a:lnTo>
                    <a:cubicBezTo>
                      <a:pt x="3507" y="1767"/>
                      <a:pt x="3364" y="1740"/>
                      <a:pt x="3230" y="1776"/>
                    </a:cubicBezTo>
                    <a:lnTo>
                      <a:pt x="3230" y="1776"/>
                    </a:lnTo>
                    <a:cubicBezTo>
                      <a:pt x="3105" y="1803"/>
                      <a:pt x="2989" y="1892"/>
                      <a:pt x="2927" y="2008"/>
                    </a:cubicBezTo>
                    <a:lnTo>
                      <a:pt x="2927" y="2008"/>
                    </a:lnTo>
                    <a:cubicBezTo>
                      <a:pt x="2927" y="2026"/>
                      <a:pt x="2927" y="2044"/>
                      <a:pt x="2945" y="2053"/>
                    </a:cubicBezTo>
                    <a:lnTo>
                      <a:pt x="2945" y="2053"/>
                    </a:lnTo>
                    <a:cubicBezTo>
                      <a:pt x="2945" y="2053"/>
                      <a:pt x="2954" y="2062"/>
                      <a:pt x="2963" y="2062"/>
                    </a:cubicBezTo>
                    <a:lnTo>
                      <a:pt x="2963" y="2062"/>
                    </a:lnTo>
                    <a:cubicBezTo>
                      <a:pt x="2972" y="2062"/>
                      <a:pt x="2981" y="2053"/>
                      <a:pt x="2981" y="2044"/>
                    </a:cubicBezTo>
                    <a:lnTo>
                      <a:pt x="2981" y="2044"/>
                    </a:lnTo>
                    <a:lnTo>
                      <a:pt x="3025" y="1999"/>
                    </a:lnTo>
                    <a:cubicBezTo>
                      <a:pt x="3025" y="1999"/>
                      <a:pt x="3025" y="1981"/>
                      <a:pt x="3025" y="1972"/>
                    </a:cubicBezTo>
                    <a:lnTo>
                      <a:pt x="3025" y="1972"/>
                    </a:lnTo>
                    <a:cubicBezTo>
                      <a:pt x="3079" y="1910"/>
                      <a:pt x="3159" y="1856"/>
                      <a:pt x="3248" y="1830"/>
                    </a:cubicBezTo>
                    <a:lnTo>
                      <a:pt x="3248" y="1830"/>
                    </a:lnTo>
                    <a:cubicBezTo>
                      <a:pt x="3355" y="1803"/>
                      <a:pt x="3480" y="1830"/>
                      <a:pt x="3578" y="1892"/>
                    </a:cubicBezTo>
                    <a:lnTo>
                      <a:pt x="3578" y="1892"/>
                    </a:lnTo>
                    <a:cubicBezTo>
                      <a:pt x="3587" y="1901"/>
                      <a:pt x="3596" y="1901"/>
                      <a:pt x="3614" y="1901"/>
                    </a:cubicBezTo>
                    <a:lnTo>
                      <a:pt x="3614" y="1901"/>
                    </a:lnTo>
                    <a:cubicBezTo>
                      <a:pt x="3605" y="1901"/>
                      <a:pt x="3605" y="1910"/>
                      <a:pt x="3605" y="1919"/>
                    </a:cubicBezTo>
                    <a:lnTo>
                      <a:pt x="3605" y="1919"/>
                    </a:lnTo>
                    <a:cubicBezTo>
                      <a:pt x="3614" y="1919"/>
                      <a:pt x="3614" y="1919"/>
                      <a:pt x="3614" y="1919"/>
                    </a:cubicBezTo>
                    <a:lnTo>
                      <a:pt x="3614" y="1919"/>
                    </a:lnTo>
                    <a:cubicBezTo>
                      <a:pt x="3569" y="1955"/>
                      <a:pt x="3534" y="1981"/>
                      <a:pt x="3498" y="2008"/>
                    </a:cubicBezTo>
                    <a:lnTo>
                      <a:pt x="3498" y="2008"/>
                    </a:lnTo>
                    <a:cubicBezTo>
                      <a:pt x="3382" y="2133"/>
                      <a:pt x="3311" y="2267"/>
                      <a:pt x="3239" y="2392"/>
                    </a:cubicBezTo>
                    <a:lnTo>
                      <a:pt x="3239" y="2392"/>
                    </a:lnTo>
                    <a:cubicBezTo>
                      <a:pt x="3132" y="2561"/>
                      <a:pt x="3043" y="2731"/>
                      <a:pt x="2829" y="2829"/>
                    </a:cubicBezTo>
                    <a:lnTo>
                      <a:pt x="2829" y="2829"/>
                    </a:lnTo>
                    <a:cubicBezTo>
                      <a:pt x="2731" y="2882"/>
                      <a:pt x="2624" y="2945"/>
                      <a:pt x="2526" y="3007"/>
                    </a:cubicBezTo>
                    <a:lnTo>
                      <a:pt x="2526" y="3007"/>
                    </a:lnTo>
                    <a:cubicBezTo>
                      <a:pt x="2552" y="2900"/>
                      <a:pt x="2534" y="2775"/>
                      <a:pt x="2481" y="2677"/>
                    </a:cubicBezTo>
                    <a:lnTo>
                      <a:pt x="2481" y="2677"/>
                    </a:lnTo>
                    <a:cubicBezTo>
                      <a:pt x="2419" y="2552"/>
                      <a:pt x="2294" y="2463"/>
                      <a:pt x="2124" y="2401"/>
                    </a:cubicBezTo>
                    <a:lnTo>
                      <a:pt x="2124" y="2401"/>
                    </a:lnTo>
                    <a:cubicBezTo>
                      <a:pt x="2008" y="2374"/>
                      <a:pt x="1892" y="2356"/>
                      <a:pt x="1785" y="2338"/>
                    </a:cubicBezTo>
                    <a:lnTo>
                      <a:pt x="1785" y="2338"/>
                    </a:lnTo>
                    <a:cubicBezTo>
                      <a:pt x="1749" y="2338"/>
                      <a:pt x="1714" y="2329"/>
                      <a:pt x="1678" y="2329"/>
                    </a:cubicBezTo>
                    <a:lnTo>
                      <a:pt x="1678" y="2329"/>
                    </a:lnTo>
                    <a:cubicBezTo>
                      <a:pt x="1633" y="2320"/>
                      <a:pt x="1580" y="2311"/>
                      <a:pt x="1544" y="2285"/>
                    </a:cubicBezTo>
                    <a:lnTo>
                      <a:pt x="1544" y="2285"/>
                    </a:lnTo>
                    <a:cubicBezTo>
                      <a:pt x="1509" y="2267"/>
                      <a:pt x="1482" y="2231"/>
                      <a:pt x="1482" y="2187"/>
                    </a:cubicBezTo>
                    <a:lnTo>
                      <a:pt x="1482" y="2187"/>
                    </a:lnTo>
                    <a:cubicBezTo>
                      <a:pt x="1491" y="2169"/>
                      <a:pt x="1500" y="2151"/>
                      <a:pt x="1517" y="2142"/>
                    </a:cubicBezTo>
                    <a:lnTo>
                      <a:pt x="1517" y="2142"/>
                    </a:lnTo>
                    <a:cubicBezTo>
                      <a:pt x="1526" y="2133"/>
                      <a:pt x="1535" y="2133"/>
                      <a:pt x="1553" y="2133"/>
                    </a:cubicBezTo>
                    <a:lnTo>
                      <a:pt x="1553" y="2133"/>
                    </a:lnTo>
                    <a:cubicBezTo>
                      <a:pt x="1571" y="2142"/>
                      <a:pt x="1589" y="2133"/>
                      <a:pt x="1589" y="2115"/>
                    </a:cubicBezTo>
                    <a:lnTo>
                      <a:pt x="1589" y="2115"/>
                    </a:lnTo>
                    <a:cubicBezTo>
                      <a:pt x="1598" y="2097"/>
                      <a:pt x="1589" y="2079"/>
                      <a:pt x="1571" y="2079"/>
                    </a:cubicBezTo>
                    <a:lnTo>
                      <a:pt x="1571" y="2079"/>
                    </a:lnTo>
                    <a:cubicBezTo>
                      <a:pt x="1544" y="2062"/>
                      <a:pt x="1509" y="2071"/>
                      <a:pt x="1482" y="2088"/>
                    </a:cubicBezTo>
                    <a:lnTo>
                      <a:pt x="1482" y="2088"/>
                    </a:lnTo>
                    <a:cubicBezTo>
                      <a:pt x="1446" y="2106"/>
                      <a:pt x="1428" y="2142"/>
                      <a:pt x="1419" y="2187"/>
                    </a:cubicBezTo>
                    <a:lnTo>
                      <a:pt x="1419" y="2187"/>
                    </a:lnTo>
                    <a:cubicBezTo>
                      <a:pt x="1419" y="2240"/>
                      <a:pt x="1455" y="2303"/>
                      <a:pt x="1509" y="2338"/>
                    </a:cubicBezTo>
                    <a:lnTo>
                      <a:pt x="1509" y="2338"/>
                    </a:lnTo>
                    <a:cubicBezTo>
                      <a:pt x="1562" y="2374"/>
                      <a:pt x="1616" y="2383"/>
                      <a:pt x="1669" y="2392"/>
                    </a:cubicBezTo>
                    <a:lnTo>
                      <a:pt x="1669" y="2392"/>
                    </a:lnTo>
                    <a:cubicBezTo>
                      <a:pt x="1705" y="2392"/>
                      <a:pt x="1741" y="2401"/>
                      <a:pt x="1776" y="2401"/>
                    </a:cubicBezTo>
                    <a:lnTo>
                      <a:pt x="1776" y="2401"/>
                    </a:lnTo>
                    <a:cubicBezTo>
                      <a:pt x="1883" y="2418"/>
                      <a:pt x="1999" y="2427"/>
                      <a:pt x="2097" y="2463"/>
                    </a:cubicBezTo>
                    <a:lnTo>
                      <a:pt x="2097" y="2463"/>
                    </a:lnTo>
                    <a:cubicBezTo>
                      <a:pt x="2258" y="2517"/>
                      <a:pt x="2374" y="2597"/>
                      <a:pt x="2427" y="2713"/>
                    </a:cubicBezTo>
                    <a:lnTo>
                      <a:pt x="2427" y="2713"/>
                    </a:lnTo>
                    <a:cubicBezTo>
                      <a:pt x="2490" y="2838"/>
                      <a:pt x="2499" y="3016"/>
                      <a:pt x="2410" y="3088"/>
                    </a:cubicBezTo>
                    <a:lnTo>
                      <a:pt x="2410" y="3088"/>
                    </a:lnTo>
                    <a:cubicBezTo>
                      <a:pt x="2410" y="3088"/>
                      <a:pt x="2410" y="3088"/>
                      <a:pt x="2410" y="3088"/>
                    </a:cubicBezTo>
                    <a:lnTo>
                      <a:pt x="2410" y="3088"/>
                    </a:lnTo>
                    <a:cubicBezTo>
                      <a:pt x="2178" y="3248"/>
                      <a:pt x="1990" y="3435"/>
                      <a:pt x="1830" y="3641"/>
                    </a:cubicBezTo>
                    <a:lnTo>
                      <a:pt x="1830" y="3641"/>
                    </a:lnTo>
                    <a:cubicBezTo>
                      <a:pt x="1856" y="3435"/>
                      <a:pt x="1776" y="3221"/>
                      <a:pt x="1598" y="3088"/>
                    </a:cubicBezTo>
                    <a:lnTo>
                      <a:pt x="1598" y="3088"/>
                    </a:lnTo>
                    <a:cubicBezTo>
                      <a:pt x="1589" y="3079"/>
                      <a:pt x="1571" y="3079"/>
                      <a:pt x="1562" y="3096"/>
                    </a:cubicBezTo>
                    <a:lnTo>
                      <a:pt x="1562" y="3096"/>
                    </a:lnTo>
                    <a:cubicBezTo>
                      <a:pt x="1544" y="3105"/>
                      <a:pt x="1553" y="3123"/>
                      <a:pt x="1562" y="3132"/>
                    </a:cubicBezTo>
                    <a:lnTo>
                      <a:pt x="1562" y="3132"/>
                    </a:lnTo>
                    <a:cubicBezTo>
                      <a:pt x="1767" y="3293"/>
                      <a:pt x="1830" y="3578"/>
                      <a:pt x="1714" y="3801"/>
                    </a:cubicBezTo>
                    <a:lnTo>
                      <a:pt x="1714" y="3801"/>
                    </a:lnTo>
                    <a:cubicBezTo>
                      <a:pt x="1714" y="3801"/>
                      <a:pt x="1714" y="3801"/>
                      <a:pt x="1714" y="3801"/>
                    </a:cubicBezTo>
                    <a:lnTo>
                      <a:pt x="1714" y="3801"/>
                    </a:lnTo>
                    <a:cubicBezTo>
                      <a:pt x="1669" y="3864"/>
                      <a:pt x="1633" y="3935"/>
                      <a:pt x="1598" y="3998"/>
                    </a:cubicBezTo>
                    <a:lnTo>
                      <a:pt x="1598" y="3998"/>
                    </a:lnTo>
                    <a:cubicBezTo>
                      <a:pt x="1598" y="3998"/>
                      <a:pt x="1598" y="3998"/>
                      <a:pt x="1598" y="4006"/>
                    </a:cubicBezTo>
                    <a:lnTo>
                      <a:pt x="1598" y="4006"/>
                    </a:lnTo>
                    <a:cubicBezTo>
                      <a:pt x="1509" y="4167"/>
                      <a:pt x="1446" y="4345"/>
                      <a:pt x="1410" y="4524"/>
                    </a:cubicBezTo>
                    <a:lnTo>
                      <a:pt x="1410" y="4524"/>
                    </a:lnTo>
                    <a:cubicBezTo>
                      <a:pt x="1330" y="4899"/>
                      <a:pt x="1375" y="5273"/>
                      <a:pt x="1509" y="5603"/>
                    </a:cubicBezTo>
                    <a:lnTo>
                      <a:pt x="1509" y="5603"/>
                    </a:lnTo>
                    <a:cubicBezTo>
                      <a:pt x="1500" y="5594"/>
                      <a:pt x="1491" y="5594"/>
                      <a:pt x="1482" y="5594"/>
                    </a:cubicBezTo>
                    <a:lnTo>
                      <a:pt x="1482" y="5594"/>
                    </a:lnTo>
                    <a:cubicBezTo>
                      <a:pt x="1178" y="5514"/>
                      <a:pt x="902" y="5380"/>
                      <a:pt x="688" y="5193"/>
                    </a:cubicBezTo>
                    <a:lnTo>
                      <a:pt x="688" y="5193"/>
                    </a:lnTo>
                    <a:cubicBezTo>
                      <a:pt x="688" y="5193"/>
                      <a:pt x="688" y="5193"/>
                      <a:pt x="688" y="5193"/>
                    </a:cubicBezTo>
                    <a:lnTo>
                      <a:pt x="688" y="5193"/>
                    </a:lnTo>
                    <a:cubicBezTo>
                      <a:pt x="697" y="5175"/>
                      <a:pt x="679" y="5157"/>
                      <a:pt x="670" y="5157"/>
                    </a:cubicBezTo>
                    <a:lnTo>
                      <a:pt x="670" y="5157"/>
                    </a:lnTo>
                    <a:cubicBezTo>
                      <a:pt x="625" y="5139"/>
                      <a:pt x="608" y="5095"/>
                      <a:pt x="616" y="5050"/>
                    </a:cubicBezTo>
                    <a:lnTo>
                      <a:pt x="616" y="5050"/>
                    </a:lnTo>
                    <a:cubicBezTo>
                      <a:pt x="625" y="5006"/>
                      <a:pt x="661" y="4952"/>
                      <a:pt x="688" y="4916"/>
                    </a:cubicBezTo>
                    <a:lnTo>
                      <a:pt x="688" y="4916"/>
                    </a:lnTo>
                    <a:lnTo>
                      <a:pt x="947" y="4568"/>
                    </a:lnTo>
                    <a:cubicBezTo>
                      <a:pt x="955" y="4551"/>
                      <a:pt x="955" y="4533"/>
                      <a:pt x="938" y="4524"/>
                    </a:cubicBezTo>
                    <a:lnTo>
                      <a:pt x="938" y="4524"/>
                    </a:lnTo>
                    <a:cubicBezTo>
                      <a:pt x="929" y="4506"/>
                      <a:pt x="911" y="4515"/>
                      <a:pt x="893" y="4524"/>
                    </a:cubicBezTo>
                    <a:lnTo>
                      <a:pt x="893" y="4524"/>
                    </a:lnTo>
                    <a:lnTo>
                      <a:pt x="634" y="4881"/>
                    </a:lnTo>
                    <a:cubicBezTo>
                      <a:pt x="608" y="4925"/>
                      <a:pt x="563" y="4979"/>
                      <a:pt x="554" y="5041"/>
                    </a:cubicBezTo>
                    <a:lnTo>
                      <a:pt x="554" y="5041"/>
                    </a:lnTo>
                    <a:cubicBezTo>
                      <a:pt x="554" y="5050"/>
                      <a:pt x="554" y="5059"/>
                      <a:pt x="554" y="5068"/>
                    </a:cubicBezTo>
                    <a:lnTo>
                      <a:pt x="554" y="5068"/>
                    </a:lnTo>
                    <a:cubicBezTo>
                      <a:pt x="545" y="5059"/>
                      <a:pt x="545" y="5050"/>
                      <a:pt x="536" y="5050"/>
                    </a:cubicBezTo>
                    <a:lnTo>
                      <a:pt x="536" y="5050"/>
                    </a:lnTo>
                    <a:cubicBezTo>
                      <a:pt x="161" y="4622"/>
                      <a:pt x="72" y="3998"/>
                      <a:pt x="331" y="3560"/>
                    </a:cubicBezTo>
                    <a:lnTo>
                      <a:pt x="331" y="3560"/>
                    </a:lnTo>
                    <a:cubicBezTo>
                      <a:pt x="331" y="3551"/>
                      <a:pt x="340" y="3543"/>
                      <a:pt x="340" y="3534"/>
                    </a:cubicBezTo>
                    <a:lnTo>
                      <a:pt x="340" y="3534"/>
                    </a:lnTo>
                    <a:cubicBezTo>
                      <a:pt x="349" y="3623"/>
                      <a:pt x="385" y="3712"/>
                      <a:pt x="465" y="3792"/>
                    </a:cubicBezTo>
                    <a:lnTo>
                      <a:pt x="465" y="3792"/>
                    </a:lnTo>
                    <a:cubicBezTo>
                      <a:pt x="563" y="3882"/>
                      <a:pt x="697" y="3935"/>
                      <a:pt x="839" y="3935"/>
                    </a:cubicBezTo>
                    <a:lnTo>
                      <a:pt x="839" y="3935"/>
                    </a:lnTo>
                    <a:cubicBezTo>
                      <a:pt x="857" y="3935"/>
                      <a:pt x="884" y="3935"/>
                      <a:pt x="911" y="3926"/>
                    </a:cubicBezTo>
                    <a:lnTo>
                      <a:pt x="911" y="3926"/>
                    </a:lnTo>
                    <a:cubicBezTo>
                      <a:pt x="929" y="3926"/>
                      <a:pt x="947" y="3908"/>
                      <a:pt x="938" y="3890"/>
                    </a:cubicBezTo>
                    <a:lnTo>
                      <a:pt x="938" y="3890"/>
                    </a:lnTo>
                    <a:cubicBezTo>
                      <a:pt x="938" y="3873"/>
                      <a:pt x="920" y="3864"/>
                      <a:pt x="902" y="3864"/>
                    </a:cubicBezTo>
                    <a:lnTo>
                      <a:pt x="902" y="3864"/>
                    </a:lnTo>
                    <a:cubicBezTo>
                      <a:pt x="759" y="3890"/>
                      <a:pt x="608" y="3846"/>
                      <a:pt x="509" y="3748"/>
                    </a:cubicBezTo>
                    <a:lnTo>
                      <a:pt x="509" y="3748"/>
                    </a:lnTo>
                    <a:cubicBezTo>
                      <a:pt x="402" y="3650"/>
                      <a:pt x="393" y="3534"/>
                      <a:pt x="402" y="3391"/>
                    </a:cubicBezTo>
                    <a:lnTo>
                      <a:pt x="402" y="3391"/>
                    </a:lnTo>
                    <a:cubicBezTo>
                      <a:pt x="474" y="3195"/>
                      <a:pt x="474" y="2998"/>
                      <a:pt x="474" y="2802"/>
                    </a:cubicBezTo>
                    <a:lnTo>
                      <a:pt x="474" y="2802"/>
                    </a:lnTo>
                    <a:cubicBezTo>
                      <a:pt x="474" y="2650"/>
                      <a:pt x="465" y="2499"/>
                      <a:pt x="500" y="2356"/>
                    </a:cubicBezTo>
                    <a:lnTo>
                      <a:pt x="500" y="2356"/>
                    </a:lnTo>
                    <a:cubicBezTo>
                      <a:pt x="500" y="2418"/>
                      <a:pt x="518" y="2481"/>
                      <a:pt x="545" y="2534"/>
                    </a:cubicBezTo>
                    <a:lnTo>
                      <a:pt x="545" y="2534"/>
                    </a:lnTo>
                    <a:cubicBezTo>
                      <a:pt x="634" y="2722"/>
                      <a:pt x="822" y="2847"/>
                      <a:pt x="1027" y="2865"/>
                    </a:cubicBezTo>
                    <a:lnTo>
                      <a:pt x="1027" y="2865"/>
                    </a:lnTo>
                    <a:lnTo>
                      <a:pt x="1027" y="2865"/>
                    </a:lnTo>
                    <a:lnTo>
                      <a:pt x="1027" y="2865"/>
                    </a:lnTo>
                    <a:cubicBezTo>
                      <a:pt x="1045" y="2865"/>
                      <a:pt x="1054" y="2847"/>
                      <a:pt x="1063" y="2838"/>
                    </a:cubicBezTo>
                    <a:lnTo>
                      <a:pt x="1063" y="2838"/>
                    </a:lnTo>
                    <a:cubicBezTo>
                      <a:pt x="1063" y="2820"/>
                      <a:pt x="1045" y="2802"/>
                      <a:pt x="1027" y="2802"/>
                    </a:cubicBezTo>
                    <a:lnTo>
                      <a:pt x="1027" y="2802"/>
                    </a:lnTo>
                    <a:cubicBezTo>
                      <a:pt x="848" y="2784"/>
                      <a:pt x="679" y="2668"/>
                      <a:pt x="608" y="2508"/>
                    </a:cubicBezTo>
                    <a:lnTo>
                      <a:pt x="608" y="2508"/>
                    </a:lnTo>
                    <a:cubicBezTo>
                      <a:pt x="527" y="2347"/>
                      <a:pt x="545" y="2142"/>
                      <a:pt x="652" y="1999"/>
                    </a:cubicBezTo>
                    <a:lnTo>
                      <a:pt x="652" y="1999"/>
                    </a:lnTo>
                    <a:cubicBezTo>
                      <a:pt x="652" y="1999"/>
                      <a:pt x="652" y="1999"/>
                      <a:pt x="652" y="1999"/>
                    </a:cubicBezTo>
                    <a:lnTo>
                      <a:pt x="652" y="1999"/>
                    </a:lnTo>
                    <a:cubicBezTo>
                      <a:pt x="768" y="1848"/>
                      <a:pt x="947" y="1714"/>
                      <a:pt x="1125" y="1580"/>
                    </a:cubicBezTo>
                    <a:lnTo>
                      <a:pt x="1125" y="1580"/>
                    </a:lnTo>
                    <a:cubicBezTo>
                      <a:pt x="1303" y="1446"/>
                      <a:pt x="1500" y="1312"/>
                      <a:pt x="1616" y="1152"/>
                    </a:cubicBezTo>
                    <a:lnTo>
                      <a:pt x="1616" y="1152"/>
                    </a:lnTo>
                    <a:cubicBezTo>
                      <a:pt x="1767" y="1152"/>
                      <a:pt x="1919" y="1232"/>
                      <a:pt x="2008" y="1357"/>
                    </a:cubicBezTo>
                    <a:lnTo>
                      <a:pt x="2008" y="1357"/>
                    </a:lnTo>
                    <a:cubicBezTo>
                      <a:pt x="2097" y="1491"/>
                      <a:pt x="2115" y="1678"/>
                      <a:pt x="2044" y="1821"/>
                    </a:cubicBezTo>
                    <a:lnTo>
                      <a:pt x="2044" y="1821"/>
                    </a:lnTo>
                    <a:cubicBezTo>
                      <a:pt x="2035" y="1839"/>
                      <a:pt x="2044" y="1856"/>
                      <a:pt x="2062" y="1865"/>
                    </a:cubicBezTo>
                    <a:lnTo>
                      <a:pt x="2062" y="1865"/>
                    </a:lnTo>
                    <a:cubicBezTo>
                      <a:pt x="2062" y="1865"/>
                      <a:pt x="2071" y="1865"/>
                      <a:pt x="2071" y="1865"/>
                    </a:cubicBezTo>
                    <a:lnTo>
                      <a:pt x="2071" y="1865"/>
                    </a:lnTo>
                    <a:cubicBezTo>
                      <a:pt x="2088" y="1865"/>
                      <a:pt x="2097" y="1856"/>
                      <a:pt x="2097" y="1848"/>
                    </a:cubicBezTo>
                    <a:lnTo>
                      <a:pt x="2097" y="1848"/>
                    </a:lnTo>
                    <a:cubicBezTo>
                      <a:pt x="2178" y="1687"/>
                      <a:pt x="2160" y="1473"/>
                      <a:pt x="2062" y="1321"/>
                    </a:cubicBezTo>
                    <a:lnTo>
                      <a:pt x="2062" y="1321"/>
                    </a:lnTo>
                    <a:cubicBezTo>
                      <a:pt x="1972" y="1187"/>
                      <a:pt x="1821" y="1098"/>
                      <a:pt x="1660" y="1089"/>
                    </a:cubicBezTo>
                    <a:lnTo>
                      <a:pt x="1660" y="1089"/>
                    </a:lnTo>
                    <a:cubicBezTo>
                      <a:pt x="1678" y="1054"/>
                      <a:pt x="1696" y="1018"/>
                      <a:pt x="1714" y="982"/>
                    </a:cubicBezTo>
                    <a:lnTo>
                      <a:pt x="1714" y="982"/>
                    </a:lnTo>
                    <a:cubicBezTo>
                      <a:pt x="1821" y="706"/>
                      <a:pt x="2062" y="456"/>
                      <a:pt x="2365" y="295"/>
                    </a:cubicBezTo>
                    <a:lnTo>
                      <a:pt x="2365" y="295"/>
                    </a:lnTo>
                    <a:cubicBezTo>
                      <a:pt x="2303" y="474"/>
                      <a:pt x="2338" y="679"/>
                      <a:pt x="2445" y="848"/>
                    </a:cubicBezTo>
                    <a:lnTo>
                      <a:pt x="2445" y="848"/>
                    </a:lnTo>
                    <a:cubicBezTo>
                      <a:pt x="2472" y="884"/>
                      <a:pt x="2508" y="920"/>
                      <a:pt x="2552" y="947"/>
                    </a:cubicBezTo>
                    <a:lnTo>
                      <a:pt x="2552" y="947"/>
                    </a:lnTo>
                    <a:cubicBezTo>
                      <a:pt x="2570" y="947"/>
                      <a:pt x="2579" y="947"/>
                      <a:pt x="2597" y="947"/>
                    </a:cubicBezTo>
                    <a:lnTo>
                      <a:pt x="2597" y="947"/>
                    </a:lnTo>
                    <a:cubicBezTo>
                      <a:pt x="2642" y="947"/>
                      <a:pt x="2686" y="929"/>
                      <a:pt x="2704" y="893"/>
                    </a:cubicBezTo>
                    <a:lnTo>
                      <a:pt x="2704" y="893"/>
                    </a:lnTo>
                    <a:cubicBezTo>
                      <a:pt x="2713" y="875"/>
                      <a:pt x="2704" y="857"/>
                      <a:pt x="2686" y="848"/>
                    </a:cubicBezTo>
                    <a:lnTo>
                      <a:pt x="2686" y="848"/>
                    </a:lnTo>
                    <a:cubicBezTo>
                      <a:pt x="2668" y="839"/>
                      <a:pt x="2650" y="848"/>
                      <a:pt x="2642" y="866"/>
                    </a:cubicBezTo>
                    <a:lnTo>
                      <a:pt x="2642" y="866"/>
                    </a:lnTo>
                    <a:cubicBezTo>
                      <a:pt x="2642" y="875"/>
                      <a:pt x="2615" y="884"/>
                      <a:pt x="2597" y="884"/>
                    </a:cubicBezTo>
                    <a:lnTo>
                      <a:pt x="2597" y="884"/>
                    </a:lnTo>
                    <a:cubicBezTo>
                      <a:pt x="2588" y="884"/>
                      <a:pt x="2579" y="884"/>
                      <a:pt x="2579" y="884"/>
                    </a:cubicBezTo>
                    <a:moveTo>
                      <a:pt x="6701" y="1589"/>
                    </a:moveTo>
                    <a:cubicBezTo>
                      <a:pt x="6710" y="1571"/>
                      <a:pt x="6710" y="1553"/>
                      <a:pt x="6701" y="1544"/>
                    </a:cubicBezTo>
                    <a:lnTo>
                      <a:pt x="6701" y="1544"/>
                    </a:lnTo>
                    <a:cubicBezTo>
                      <a:pt x="6656" y="1500"/>
                      <a:pt x="6594" y="1286"/>
                      <a:pt x="6611" y="1250"/>
                    </a:cubicBezTo>
                    <a:lnTo>
                      <a:pt x="6611" y="1250"/>
                    </a:lnTo>
                    <a:cubicBezTo>
                      <a:pt x="6629" y="1205"/>
                      <a:pt x="6683" y="1170"/>
                      <a:pt x="6736" y="1170"/>
                    </a:cubicBezTo>
                    <a:lnTo>
                      <a:pt x="6736" y="1170"/>
                    </a:lnTo>
                    <a:cubicBezTo>
                      <a:pt x="6736" y="1170"/>
                      <a:pt x="6736" y="1170"/>
                      <a:pt x="6745" y="1170"/>
                    </a:cubicBezTo>
                    <a:lnTo>
                      <a:pt x="6745" y="1170"/>
                    </a:lnTo>
                    <a:cubicBezTo>
                      <a:pt x="6870" y="1161"/>
                      <a:pt x="6995" y="1223"/>
                      <a:pt x="7111" y="1286"/>
                    </a:cubicBezTo>
                    <a:lnTo>
                      <a:pt x="7111" y="1286"/>
                    </a:lnTo>
                    <a:cubicBezTo>
                      <a:pt x="7254" y="1357"/>
                      <a:pt x="7405" y="1437"/>
                      <a:pt x="7575" y="1384"/>
                    </a:cubicBezTo>
                    <a:lnTo>
                      <a:pt x="7575" y="1384"/>
                    </a:lnTo>
                    <a:cubicBezTo>
                      <a:pt x="7843" y="1303"/>
                      <a:pt x="8155" y="1232"/>
                      <a:pt x="8449" y="1303"/>
                    </a:cubicBezTo>
                    <a:lnTo>
                      <a:pt x="8449" y="1303"/>
                    </a:lnTo>
                    <a:cubicBezTo>
                      <a:pt x="8467" y="1303"/>
                      <a:pt x="8494" y="1312"/>
                      <a:pt x="8521" y="1321"/>
                    </a:cubicBezTo>
                    <a:lnTo>
                      <a:pt x="8521" y="1321"/>
                    </a:lnTo>
                    <a:cubicBezTo>
                      <a:pt x="8592" y="1410"/>
                      <a:pt x="8628" y="1535"/>
                      <a:pt x="8601" y="1642"/>
                    </a:cubicBezTo>
                    <a:lnTo>
                      <a:pt x="8601" y="1642"/>
                    </a:lnTo>
                    <a:cubicBezTo>
                      <a:pt x="8574" y="1749"/>
                      <a:pt x="8494" y="1848"/>
                      <a:pt x="8387" y="1892"/>
                    </a:cubicBezTo>
                    <a:lnTo>
                      <a:pt x="8387" y="1892"/>
                    </a:lnTo>
                    <a:cubicBezTo>
                      <a:pt x="8378" y="1901"/>
                      <a:pt x="8369" y="1919"/>
                      <a:pt x="8378" y="1937"/>
                    </a:cubicBezTo>
                    <a:lnTo>
                      <a:pt x="8378" y="1937"/>
                    </a:lnTo>
                    <a:cubicBezTo>
                      <a:pt x="8378" y="1946"/>
                      <a:pt x="8387" y="1955"/>
                      <a:pt x="8405" y="1955"/>
                    </a:cubicBezTo>
                    <a:lnTo>
                      <a:pt x="8405" y="1955"/>
                    </a:lnTo>
                    <a:cubicBezTo>
                      <a:pt x="8405" y="1955"/>
                      <a:pt x="8413" y="1955"/>
                      <a:pt x="8413" y="1955"/>
                    </a:cubicBezTo>
                    <a:lnTo>
                      <a:pt x="8413" y="1955"/>
                    </a:lnTo>
                    <a:cubicBezTo>
                      <a:pt x="8538" y="1901"/>
                      <a:pt x="8636" y="1785"/>
                      <a:pt x="8663" y="1651"/>
                    </a:cubicBezTo>
                    <a:lnTo>
                      <a:pt x="8663" y="1651"/>
                    </a:lnTo>
                    <a:cubicBezTo>
                      <a:pt x="8681" y="1562"/>
                      <a:pt x="8672" y="1464"/>
                      <a:pt x="8628" y="1375"/>
                    </a:cubicBezTo>
                    <a:lnTo>
                      <a:pt x="8628" y="1375"/>
                    </a:lnTo>
                    <a:cubicBezTo>
                      <a:pt x="9011" y="1607"/>
                      <a:pt x="9243" y="2195"/>
                      <a:pt x="9270" y="2677"/>
                    </a:cubicBezTo>
                    <a:lnTo>
                      <a:pt x="9270" y="2677"/>
                    </a:lnTo>
                    <a:cubicBezTo>
                      <a:pt x="9199" y="2775"/>
                      <a:pt x="9047" y="2784"/>
                      <a:pt x="8931" y="2757"/>
                    </a:cubicBezTo>
                    <a:lnTo>
                      <a:pt x="8931" y="2757"/>
                    </a:lnTo>
                    <a:cubicBezTo>
                      <a:pt x="8886" y="2749"/>
                      <a:pt x="8833" y="2731"/>
                      <a:pt x="8788" y="2713"/>
                    </a:cubicBezTo>
                    <a:lnTo>
                      <a:pt x="8788" y="2713"/>
                    </a:lnTo>
                    <a:cubicBezTo>
                      <a:pt x="8699" y="2686"/>
                      <a:pt x="8610" y="2659"/>
                      <a:pt x="8521" y="2650"/>
                    </a:cubicBezTo>
                    <a:lnTo>
                      <a:pt x="8521" y="2650"/>
                    </a:lnTo>
                    <a:cubicBezTo>
                      <a:pt x="8351" y="2642"/>
                      <a:pt x="8182" y="2731"/>
                      <a:pt x="8083" y="2865"/>
                    </a:cubicBezTo>
                    <a:lnTo>
                      <a:pt x="8083" y="2865"/>
                    </a:lnTo>
                    <a:cubicBezTo>
                      <a:pt x="8074" y="2882"/>
                      <a:pt x="8074" y="2900"/>
                      <a:pt x="8092" y="2909"/>
                    </a:cubicBezTo>
                    <a:lnTo>
                      <a:pt x="8092" y="2909"/>
                    </a:lnTo>
                    <a:cubicBezTo>
                      <a:pt x="8101" y="2918"/>
                      <a:pt x="8101" y="2918"/>
                      <a:pt x="8110" y="2918"/>
                    </a:cubicBezTo>
                    <a:lnTo>
                      <a:pt x="8110" y="2918"/>
                    </a:lnTo>
                    <a:cubicBezTo>
                      <a:pt x="8119" y="2918"/>
                      <a:pt x="8128" y="2909"/>
                      <a:pt x="8137" y="2900"/>
                    </a:cubicBezTo>
                    <a:lnTo>
                      <a:pt x="8137" y="2900"/>
                    </a:lnTo>
                    <a:cubicBezTo>
                      <a:pt x="8217" y="2784"/>
                      <a:pt x="8369" y="2713"/>
                      <a:pt x="8521" y="2713"/>
                    </a:cubicBezTo>
                    <a:lnTo>
                      <a:pt x="8521" y="2713"/>
                    </a:lnTo>
                    <a:cubicBezTo>
                      <a:pt x="8601" y="2722"/>
                      <a:pt x="8681" y="2749"/>
                      <a:pt x="8761" y="2775"/>
                    </a:cubicBezTo>
                    <a:lnTo>
                      <a:pt x="8761" y="2775"/>
                    </a:lnTo>
                    <a:cubicBezTo>
                      <a:pt x="8815" y="2784"/>
                      <a:pt x="8868" y="2802"/>
                      <a:pt x="8922" y="2820"/>
                    </a:cubicBezTo>
                    <a:lnTo>
                      <a:pt x="8922" y="2820"/>
                    </a:lnTo>
                    <a:cubicBezTo>
                      <a:pt x="9029" y="2847"/>
                      <a:pt x="9172" y="2838"/>
                      <a:pt x="9270" y="2757"/>
                    </a:cubicBezTo>
                    <a:lnTo>
                      <a:pt x="9270" y="2757"/>
                    </a:lnTo>
                    <a:cubicBezTo>
                      <a:pt x="9270" y="2820"/>
                      <a:pt x="9270" y="2882"/>
                      <a:pt x="9261" y="2945"/>
                    </a:cubicBezTo>
                    <a:lnTo>
                      <a:pt x="9261" y="2945"/>
                    </a:lnTo>
                    <a:cubicBezTo>
                      <a:pt x="9199" y="3400"/>
                      <a:pt x="8904" y="3792"/>
                      <a:pt x="8645" y="4140"/>
                    </a:cubicBezTo>
                    <a:lnTo>
                      <a:pt x="8645" y="4140"/>
                    </a:lnTo>
                    <a:cubicBezTo>
                      <a:pt x="8574" y="4229"/>
                      <a:pt x="8503" y="4319"/>
                      <a:pt x="8431" y="4408"/>
                    </a:cubicBezTo>
                    <a:lnTo>
                      <a:pt x="8431" y="4408"/>
                    </a:lnTo>
                    <a:cubicBezTo>
                      <a:pt x="8396" y="4212"/>
                      <a:pt x="8262" y="3962"/>
                      <a:pt x="8119" y="3864"/>
                    </a:cubicBezTo>
                    <a:lnTo>
                      <a:pt x="8119" y="3864"/>
                    </a:lnTo>
                    <a:cubicBezTo>
                      <a:pt x="7950" y="3757"/>
                      <a:pt x="7727" y="3730"/>
                      <a:pt x="7530" y="3801"/>
                    </a:cubicBezTo>
                    <a:lnTo>
                      <a:pt x="7530" y="3801"/>
                    </a:lnTo>
                    <a:cubicBezTo>
                      <a:pt x="7530" y="3801"/>
                      <a:pt x="7521" y="3810"/>
                      <a:pt x="7512" y="3819"/>
                    </a:cubicBezTo>
                    <a:lnTo>
                      <a:pt x="7512" y="3819"/>
                    </a:lnTo>
                    <a:cubicBezTo>
                      <a:pt x="7512" y="3828"/>
                      <a:pt x="7512" y="3837"/>
                      <a:pt x="7512" y="3846"/>
                    </a:cubicBezTo>
                    <a:lnTo>
                      <a:pt x="7512" y="3846"/>
                    </a:lnTo>
                    <a:cubicBezTo>
                      <a:pt x="7539" y="3899"/>
                      <a:pt x="7611" y="3926"/>
                      <a:pt x="7664" y="3908"/>
                    </a:cubicBezTo>
                    <a:lnTo>
                      <a:pt x="7664" y="3908"/>
                    </a:lnTo>
                    <a:cubicBezTo>
                      <a:pt x="7682" y="3899"/>
                      <a:pt x="7691" y="3882"/>
                      <a:pt x="7682" y="3864"/>
                    </a:cubicBezTo>
                    <a:lnTo>
                      <a:pt x="7682" y="3864"/>
                    </a:lnTo>
                    <a:cubicBezTo>
                      <a:pt x="7673" y="3846"/>
                      <a:pt x="7655" y="3837"/>
                      <a:pt x="7637" y="3846"/>
                    </a:cubicBezTo>
                    <a:lnTo>
                      <a:pt x="7637" y="3846"/>
                    </a:lnTo>
                    <a:cubicBezTo>
                      <a:pt x="7628" y="3846"/>
                      <a:pt x="7619" y="3846"/>
                      <a:pt x="7611" y="3846"/>
                    </a:cubicBezTo>
                    <a:lnTo>
                      <a:pt x="7611" y="3846"/>
                    </a:lnTo>
                    <a:cubicBezTo>
                      <a:pt x="7762" y="3801"/>
                      <a:pt x="7941" y="3828"/>
                      <a:pt x="8083" y="3917"/>
                    </a:cubicBezTo>
                    <a:lnTo>
                      <a:pt x="8083" y="3917"/>
                    </a:lnTo>
                    <a:cubicBezTo>
                      <a:pt x="8226" y="4015"/>
                      <a:pt x="8360" y="4292"/>
                      <a:pt x="8378" y="4479"/>
                    </a:cubicBezTo>
                    <a:lnTo>
                      <a:pt x="8378" y="4479"/>
                    </a:lnTo>
                    <a:cubicBezTo>
                      <a:pt x="8280" y="4595"/>
                      <a:pt x="8173" y="4720"/>
                      <a:pt x="8048" y="4818"/>
                    </a:cubicBezTo>
                    <a:lnTo>
                      <a:pt x="8048" y="4818"/>
                    </a:lnTo>
                    <a:cubicBezTo>
                      <a:pt x="7869" y="4979"/>
                      <a:pt x="7664" y="5104"/>
                      <a:pt x="7459" y="5229"/>
                    </a:cubicBezTo>
                    <a:lnTo>
                      <a:pt x="7459" y="5229"/>
                    </a:lnTo>
                    <a:cubicBezTo>
                      <a:pt x="7423" y="5246"/>
                      <a:pt x="7396" y="5273"/>
                      <a:pt x="7361" y="5291"/>
                    </a:cubicBezTo>
                    <a:lnTo>
                      <a:pt x="7361" y="5291"/>
                    </a:lnTo>
                    <a:cubicBezTo>
                      <a:pt x="7396" y="4881"/>
                      <a:pt x="7120" y="4470"/>
                      <a:pt x="6718" y="4372"/>
                    </a:cubicBezTo>
                    <a:lnTo>
                      <a:pt x="6718" y="4372"/>
                    </a:lnTo>
                    <a:cubicBezTo>
                      <a:pt x="6576" y="4328"/>
                      <a:pt x="6424" y="4328"/>
                      <a:pt x="6272" y="4328"/>
                    </a:cubicBezTo>
                    <a:lnTo>
                      <a:pt x="6272" y="4328"/>
                    </a:lnTo>
                    <a:cubicBezTo>
                      <a:pt x="6049" y="4328"/>
                      <a:pt x="5844" y="4328"/>
                      <a:pt x="5675" y="4212"/>
                    </a:cubicBezTo>
                    <a:lnTo>
                      <a:pt x="5675" y="4212"/>
                    </a:lnTo>
                    <a:cubicBezTo>
                      <a:pt x="5657" y="4203"/>
                      <a:pt x="5639" y="4203"/>
                      <a:pt x="5630" y="4221"/>
                    </a:cubicBezTo>
                    <a:lnTo>
                      <a:pt x="5630" y="4221"/>
                    </a:lnTo>
                    <a:cubicBezTo>
                      <a:pt x="5621" y="4229"/>
                      <a:pt x="5621" y="4256"/>
                      <a:pt x="5639" y="4265"/>
                    </a:cubicBezTo>
                    <a:lnTo>
                      <a:pt x="5639" y="4265"/>
                    </a:lnTo>
                    <a:cubicBezTo>
                      <a:pt x="5826" y="4390"/>
                      <a:pt x="6049" y="4390"/>
                      <a:pt x="6272" y="4390"/>
                    </a:cubicBezTo>
                    <a:lnTo>
                      <a:pt x="6272" y="4390"/>
                    </a:lnTo>
                    <a:cubicBezTo>
                      <a:pt x="6415" y="4390"/>
                      <a:pt x="6567" y="4390"/>
                      <a:pt x="6701" y="4435"/>
                    </a:cubicBezTo>
                    <a:lnTo>
                      <a:pt x="6701" y="4435"/>
                    </a:lnTo>
                    <a:cubicBezTo>
                      <a:pt x="7075" y="4533"/>
                      <a:pt x="7343" y="4934"/>
                      <a:pt x="7298" y="5318"/>
                    </a:cubicBezTo>
                    <a:lnTo>
                      <a:pt x="7298" y="5318"/>
                    </a:lnTo>
                    <a:cubicBezTo>
                      <a:pt x="7289" y="5318"/>
                      <a:pt x="7298" y="5327"/>
                      <a:pt x="7298" y="5327"/>
                    </a:cubicBezTo>
                    <a:lnTo>
                      <a:pt x="7298" y="5327"/>
                    </a:lnTo>
                    <a:cubicBezTo>
                      <a:pt x="7227" y="5371"/>
                      <a:pt x="7156" y="5416"/>
                      <a:pt x="7084" y="5469"/>
                    </a:cubicBezTo>
                    <a:lnTo>
                      <a:pt x="7084" y="5469"/>
                    </a:lnTo>
                    <a:cubicBezTo>
                      <a:pt x="6843" y="5639"/>
                      <a:pt x="6620" y="5835"/>
                      <a:pt x="6406" y="6031"/>
                    </a:cubicBezTo>
                    <a:lnTo>
                      <a:pt x="6406" y="6031"/>
                    </a:lnTo>
                    <a:cubicBezTo>
                      <a:pt x="6397" y="6040"/>
                      <a:pt x="6379" y="6049"/>
                      <a:pt x="6371" y="6058"/>
                    </a:cubicBezTo>
                    <a:lnTo>
                      <a:pt x="6371" y="6058"/>
                    </a:lnTo>
                    <a:cubicBezTo>
                      <a:pt x="6379" y="5898"/>
                      <a:pt x="6299" y="5737"/>
                      <a:pt x="6139" y="5585"/>
                    </a:cubicBezTo>
                    <a:lnTo>
                      <a:pt x="6139" y="5585"/>
                    </a:lnTo>
                    <a:cubicBezTo>
                      <a:pt x="5987" y="5434"/>
                      <a:pt x="5791" y="5345"/>
                      <a:pt x="5612" y="5273"/>
                    </a:cubicBezTo>
                    <a:lnTo>
                      <a:pt x="5612" y="5273"/>
                    </a:lnTo>
                    <a:cubicBezTo>
                      <a:pt x="5568" y="5255"/>
                      <a:pt x="5523" y="5238"/>
                      <a:pt x="5470" y="5229"/>
                    </a:cubicBezTo>
                    <a:lnTo>
                      <a:pt x="5470" y="5229"/>
                    </a:lnTo>
                    <a:cubicBezTo>
                      <a:pt x="5336" y="5175"/>
                      <a:pt x="5193" y="5122"/>
                      <a:pt x="5059" y="5050"/>
                    </a:cubicBezTo>
                    <a:lnTo>
                      <a:pt x="5059" y="5050"/>
                    </a:lnTo>
                    <a:cubicBezTo>
                      <a:pt x="5006" y="5023"/>
                      <a:pt x="4943" y="4979"/>
                      <a:pt x="4907" y="4925"/>
                    </a:cubicBezTo>
                    <a:lnTo>
                      <a:pt x="4907" y="4925"/>
                    </a:lnTo>
                    <a:cubicBezTo>
                      <a:pt x="4881" y="4881"/>
                      <a:pt x="4863" y="4809"/>
                      <a:pt x="4899" y="4765"/>
                    </a:cubicBezTo>
                    <a:lnTo>
                      <a:pt x="4899" y="4765"/>
                    </a:lnTo>
                    <a:cubicBezTo>
                      <a:pt x="4916" y="4738"/>
                      <a:pt x="4943" y="4720"/>
                      <a:pt x="4970" y="4720"/>
                    </a:cubicBezTo>
                    <a:lnTo>
                      <a:pt x="4970" y="4720"/>
                    </a:lnTo>
                    <a:cubicBezTo>
                      <a:pt x="4988" y="4720"/>
                      <a:pt x="5015" y="4720"/>
                      <a:pt x="5032" y="4738"/>
                    </a:cubicBezTo>
                    <a:lnTo>
                      <a:pt x="5032" y="4738"/>
                    </a:lnTo>
                    <a:cubicBezTo>
                      <a:pt x="5041" y="4756"/>
                      <a:pt x="5059" y="4756"/>
                      <a:pt x="5077" y="4747"/>
                    </a:cubicBezTo>
                    <a:lnTo>
                      <a:pt x="5077" y="4747"/>
                    </a:lnTo>
                    <a:cubicBezTo>
                      <a:pt x="5086" y="4729"/>
                      <a:pt x="5086" y="4711"/>
                      <a:pt x="5077" y="4702"/>
                    </a:cubicBezTo>
                    <a:lnTo>
                      <a:pt x="5077" y="4702"/>
                    </a:lnTo>
                    <a:cubicBezTo>
                      <a:pt x="5050" y="4667"/>
                      <a:pt x="5015" y="4658"/>
                      <a:pt x="4970" y="4658"/>
                    </a:cubicBezTo>
                    <a:lnTo>
                      <a:pt x="4970" y="4658"/>
                    </a:lnTo>
                    <a:cubicBezTo>
                      <a:pt x="4916" y="4658"/>
                      <a:pt x="4872" y="4684"/>
                      <a:pt x="4845" y="4729"/>
                    </a:cubicBezTo>
                    <a:lnTo>
                      <a:pt x="4845" y="4729"/>
                    </a:lnTo>
                    <a:cubicBezTo>
                      <a:pt x="4800" y="4800"/>
                      <a:pt x="4818" y="4899"/>
                      <a:pt x="4854" y="4961"/>
                    </a:cubicBezTo>
                    <a:lnTo>
                      <a:pt x="4854" y="4961"/>
                    </a:lnTo>
                    <a:cubicBezTo>
                      <a:pt x="4899" y="5023"/>
                      <a:pt x="4970" y="5068"/>
                      <a:pt x="5032" y="5104"/>
                    </a:cubicBezTo>
                    <a:lnTo>
                      <a:pt x="5032" y="5104"/>
                    </a:lnTo>
                    <a:cubicBezTo>
                      <a:pt x="5166" y="5175"/>
                      <a:pt x="5309" y="5229"/>
                      <a:pt x="5452" y="5282"/>
                    </a:cubicBezTo>
                    <a:lnTo>
                      <a:pt x="5452" y="5282"/>
                    </a:lnTo>
                    <a:cubicBezTo>
                      <a:pt x="5496" y="5300"/>
                      <a:pt x="5541" y="5318"/>
                      <a:pt x="5594" y="5336"/>
                    </a:cubicBezTo>
                    <a:lnTo>
                      <a:pt x="5594" y="5336"/>
                    </a:lnTo>
                    <a:cubicBezTo>
                      <a:pt x="5755" y="5398"/>
                      <a:pt x="5951" y="5487"/>
                      <a:pt x="6094" y="5630"/>
                    </a:cubicBezTo>
                    <a:lnTo>
                      <a:pt x="6094" y="5630"/>
                    </a:lnTo>
                    <a:cubicBezTo>
                      <a:pt x="6263" y="5782"/>
                      <a:pt x="6326" y="5951"/>
                      <a:pt x="6308" y="6112"/>
                    </a:cubicBezTo>
                    <a:lnTo>
                      <a:pt x="6308" y="6112"/>
                    </a:lnTo>
                    <a:cubicBezTo>
                      <a:pt x="6308" y="6112"/>
                      <a:pt x="6308" y="6112"/>
                      <a:pt x="6308" y="6121"/>
                    </a:cubicBezTo>
                    <a:lnTo>
                      <a:pt x="6308" y="6121"/>
                    </a:lnTo>
                    <a:cubicBezTo>
                      <a:pt x="6156" y="6255"/>
                      <a:pt x="5996" y="6388"/>
                      <a:pt x="5835" y="6513"/>
                    </a:cubicBezTo>
                    <a:lnTo>
                      <a:pt x="5835" y="6513"/>
                    </a:lnTo>
                    <a:cubicBezTo>
                      <a:pt x="5505" y="6754"/>
                      <a:pt x="5006" y="7031"/>
                      <a:pt x="4479" y="7013"/>
                    </a:cubicBezTo>
                    <a:lnTo>
                      <a:pt x="4479" y="7013"/>
                    </a:lnTo>
                    <a:cubicBezTo>
                      <a:pt x="4702" y="6897"/>
                      <a:pt x="4854" y="6692"/>
                      <a:pt x="4890" y="6442"/>
                    </a:cubicBezTo>
                    <a:lnTo>
                      <a:pt x="4890" y="6442"/>
                    </a:lnTo>
                    <a:cubicBezTo>
                      <a:pt x="4934" y="6147"/>
                      <a:pt x="4792" y="5826"/>
                      <a:pt x="4542" y="5666"/>
                    </a:cubicBezTo>
                    <a:lnTo>
                      <a:pt x="4542" y="5666"/>
                    </a:lnTo>
                    <a:cubicBezTo>
                      <a:pt x="4524" y="5657"/>
                      <a:pt x="4506" y="5657"/>
                      <a:pt x="4497" y="5675"/>
                    </a:cubicBezTo>
                    <a:lnTo>
                      <a:pt x="4497" y="5675"/>
                    </a:lnTo>
                    <a:cubicBezTo>
                      <a:pt x="4488" y="5684"/>
                      <a:pt x="4497" y="5710"/>
                      <a:pt x="4506" y="5719"/>
                    </a:cubicBezTo>
                    <a:lnTo>
                      <a:pt x="4506" y="5719"/>
                    </a:lnTo>
                    <a:cubicBezTo>
                      <a:pt x="4738" y="5862"/>
                      <a:pt x="4872" y="6156"/>
                      <a:pt x="4827" y="6433"/>
                    </a:cubicBezTo>
                    <a:lnTo>
                      <a:pt x="4827" y="6433"/>
                    </a:lnTo>
                    <a:cubicBezTo>
                      <a:pt x="4792" y="6701"/>
                      <a:pt x="4604" y="6915"/>
                      <a:pt x="4345" y="6995"/>
                    </a:cubicBezTo>
                    <a:lnTo>
                      <a:pt x="4345" y="6995"/>
                    </a:lnTo>
                    <a:cubicBezTo>
                      <a:pt x="4149" y="6968"/>
                      <a:pt x="3962" y="6897"/>
                      <a:pt x="3783" y="6825"/>
                    </a:cubicBezTo>
                    <a:lnTo>
                      <a:pt x="3783" y="6825"/>
                    </a:lnTo>
                    <a:cubicBezTo>
                      <a:pt x="3676" y="6781"/>
                      <a:pt x="3560" y="6736"/>
                      <a:pt x="3444" y="6701"/>
                    </a:cubicBezTo>
                    <a:lnTo>
                      <a:pt x="3444" y="6701"/>
                    </a:lnTo>
                    <a:cubicBezTo>
                      <a:pt x="3293" y="6656"/>
                      <a:pt x="3141" y="6629"/>
                      <a:pt x="2998" y="6602"/>
                    </a:cubicBezTo>
                    <a:lnTo>
                      <a:pt x="2998" y="6602"/>
                    </a:lnTo>
                    <a:cubicBezTo>
                      <a:pt x="3097" y="6576"/>
                      <a:pt x="3186" y="6540"/>
                      <a:pt x="3266" y="6478"/>
                    </a:cubicBezTo>
                    <a:lnTo>
                      <a:pt x="3266" y="6478"/>
                    </a:lnTo>
                    <a:cubicBezTo>
                      <a:pt x="3409" y="6370"/>
                      <a:pt x="3507" y="6192"/>
                      <a:pt x="3516" y="6014"/>
                    </a:cubicBezTo>
                    <a:lnTo>
                      <a:pt x="3516" y="6014"/>
                    </a:lnTo>
                    <a:cubicBezTo>
                      <a:pt x="3516" y="5996"/>
                      <a:pt x="3507" y="5978"/>
                      <a:pt x="3489" y="5978"/>
                    </a:cubicBezTo>
                    <a:lnTo>
                      <a:pt x="3489" y="5978"/>
                    </a:lnTo>
                    <a:cubicBezTo>
                      <a:pt x="3471" y="5978"/>
                      <a:pt x="3453" y="5987"/>
                      <a:pt x="3453" y="6005"/>
                    </a:cubicBezTo>
                    <a:lnTo>
                      <a:pt x="3453" y="6005"/>
                    </a:lnTo>
                    <a:cubicBezTo>
                      <a:pt x="3444" y="6165"/>
                      <a:pt x="3355" y="6326"/>
                      <a:pt x="3221" y="6424"/>
                    </a:cubicBezTo>
                    <a:lnTo>
                      <a:pt x="3221" y="6424"/>
                    </a:lnTo>
                    <a:cubicBezTo>
                      <a:pt x="3097" y="6531"/>
                      <a:pt x="2918" y="6576"/>
                      <a:pt x="2758" y="6549"/>
                    </a:cubicBezTo>
                    <a:lnTo>
                      <a:pt x="2758" y="6549"/>
                    </a:lnTo>
                    <a:cubicBezTo>
                      <a:pt x="2749" y="6549"/>
                      <a:pt x="2749" y="6549"/>
                      <a:pt x="2740" y="6549"/>
                    </a:cubicBezTo>
                    <a:lnTo>
                      <a:pt x="2740" y="6549"/>
                    </a:lnTo>
                    <a:cubicBezTo>
                      <a:pt x="2597" y="6513"/>
                      <a:pt x="2454" y="6478"/>
                      <a:pt x="2320" y="6415"/>
                    </a:cubicBezTo>
                    <a:lnTo>
                      <a:pt x="2320" y="6415"/>
                    </a:lnTo>
                    <a:cubicBezTo>
                      <a:pt x="2106" y="6308"/>
                      <a:pt x="1919" y="6147"/>
                      <a:pt x="1776" y="5951"/>
                    </a:cubicBezTo>
                    <a:lnTo>
                      <a:pt x="1776" y="5951"/>
                    </a:lnTo>
                    <a:cubicBezTo>
                      <a:pt x="1812" y="5960"/>
                      <a:pt x="1856" y="5969"/>
                      <a:pt x="1892" y="5969"/>
                    </a:cubicBezTo>
                    <a:lnTo>
                      <a:pt x="1892" y="5969"/>
                    </a:lnTo>
                    <a:cubicBezTo>
                      <a:pt x="1990" y="5969"/>
                      <a:pt x="2080" y="5933"/>
                      <a:pt x="2160" y="5880"/>
                    </a:cubicBezTo>
                    <a:lnTo>
                      <a:pt x="2160" y="5880"/>
                    </a:lnTo>
                    <a:cubicBezTo>
                      <a:pt x="2267" y="5800"/>
                      <a:pt x="2338" y="5657"/>
                      <a:pt x="2338" y="5514"/>
                    </a:cubicBezTo>
                    <a:lnTo>
                      <a:pt x="2338" y="5514"/>
                    </a:lnTo>
                    <a:cubicBezTo>
                      <a:pt x="2329" y="5496"/>
                      <a:pt x="2320" y="5478"/>
                      <a:pt x="2303" y="5487"/>
                    </a:cubicBezTo>
                    <a:lnTo>
                      <a:pt x="2303" y="5487"/>
                    </a:lnTo>
                    <a:cubicBezTo>
                      <a:pt x="2285" y="5487"/>
                      <a:pt x="2267" y="5496"/>
                      <a:pt x="2267" y="5514"/>
                    </a:cubicBezTo>
                    <a:lnTo>
                      <a:pt x="2267" y="5514"/>
                    </a:lnTo>
                    <a:cubicBezTo>
                      <a:pt x="2276" y="5639"/>
                      <a:pt x="2213" y="5755"/>
                      <a:pt x="2115" y="5826"/>
                    </a:cubicBezTo>
                    <a:lnTo>
                      <a:pt x="2115" y="5826"/>
                    </a:lnTo>
                    <a:cubicBezTo>
                      <a:pt x="2017" y="5907"/>
                      <a:pt x="1892" y="5924"/>
                      <a:pt x="1776" y="5880"/>
                    </a:cubicBezTo>
                    <a:lnTo>
                      <a:pt x="1776" y="5880"/>
                    </a:lnTo>
                    <a:cubicBezTo>
                      <a:pt x="1758" y="5880"/>
                      <a:pt x="1741" y="5880"/>
                      <a:pt x="1741" y="5898"/>
                    </a:cubicBezTo>
                    <a:lnTo>
                      <a:pt x="1741" y="5898"/>
                    </a:lnTo>
                    <a:cubicBezTo>
                      <a:pt x="1482" y="5514"/>
                      <a:pt x="1366" y="5015"/>
                      <a:pt x="1473" y="4542"/>
                    </a:cubicBezTo>
                    <a:lnTo>
                      <a:pt x="1473" y="4542"/>
                    </a:lnTo>
                    <a:cubicBezTo>
                      <a:pt x="1500" y="4399"/>
                      <a:pt x="1544" y="4265"/>
                      <a:pt x="1607" y="4131"/>
                    </a:cubicBezTo>
                    <a:lnTo>
                      <a:pt x="1607" y="4131"/>
                    </a:lnTo>
                    <a:cubicBezTo>
                      <a:pt x="1616" y="4194"/>
                      <a:pt x="1642" y="4247"/>
                      <a:pt x="1714" y="4292"/>
                    </a:cubicBezTo>
                    <a:lnTo>
                      <a:pt x="1714" y="4292"/>
                    </a:lnTo>
                    <a:cubicBezTo>
                      <a:pt x="1776" y="4337"/>
                      <a:pt x="1856" y="4363"/>
                      <a:pt x="1928" y="4363"/>
                    </a:cubicBezTo>
                    <a:lnTo>
                      <a:pt x="1928" y="4363"/>
                    </a:lnTo>
                    <a:cubicBezTo>
                      <a:pt x="1972" y="4363"/>
                      <a:pt x="2017" y="4354"/>
                      <a:pt x="2053" y="4337"/>
                    </a:cubicBezTo>
                    <a:lnTo>
                      <a:pt x="2053" y="4337"/>
                    </a:lnTo>
                    <a:cubicBezTo>
                      <a:pt x="2071" y="4337"/>
                      <a:pt x="2080" y="4319"/>
                      <a:pt x="2071" y="4301"/>
                    </a:cubicBezTo>
                    <a:lnTo>
                      <a:pt x="2071" y="4301"/>
                    </a:lnTo>
                    <a:cubicBezTo>
                      <a:pt x="2071" y="4283"/>
                      <a:pt x="2053" y="4274"/>
                      <a:pt x="2035" y="4283"/>
                    </a:cubicBezTo>
                    <a:lnTo>
                      <a:pt x="2035" y="4283"/>
                    </a:lnTo>
                    <a:cubicBezTo>
                      <a:pt x="1937" y="4319"/>
                      <a:pt x="1830" y="4301"/>
                      <a:pt x="1749" y="4238"/>
                    </a:cubicBezTo>
                    <a:lnTo>
                      <a:pt x="1749" y="4238"/>
                    </a:lnTo>
                    <a:cubicBezTo>
                      <a:pt x="1669" y="4194"/>
                      <a:pt x="1660" y="4122"/>
                      <a:pt x="1660" y="4024"/>
                    </a:cubicBezTo>
                    <a:lnTo>
                      <a:pt x="1660" y="4024"/>
                    </a:lnTo>
                    <a:cubicBezTo>
                      <a:pt x="1830" y="3685"/>
                      <a:pt x="2106" y="3382"/>
                      <a:pt x="2445" y="3141"/>
                    </a:cubicBezTo>
                    <a:lnTo>
                      <a:pt x="2445" y="3141"/>
                    </a:lnTo>
                    <a:lnTo>
                      <a:pt x="2445" y="3141"/>
                    </a:lnTo>
                    <a:cubicBezTo>
                      <a:pt x="2570" y="3043"/>
                      <a:pt x="2713" y="2963"/>
                      <a:pt x="2865" y="2891"/>
                    </a:cubicBezTo>
                    <a:lnTo>
                      <a:pt x="2865" y="2891"/>
                    </a:lnTo>
                    <a:cubicBezTo>
                      <a:pt x="2936" y="2856"/>
                      <a:pt x="2989" y="2811"/>
                      <a:pt x="3043" y="2766"/>
                    </a:cubicBezTo>
                    <a:lnTo>
                      <a:pt x="3043" y="2766"/>
                    </a:lnTo>
                    <a:cubicBezTo>
                      <a:pt x="3230" y="2882"/>
                      <a:pt x="3346" y="3070"/>
                      <a:pt x="3400" y="3320"/>
                    </a:cubicBezTo>
                    <a:lnTo>
                      <a:pt x="3400" y="3320"/>
                    </a:lnTo>
                    <a:cubicBezTo>
                      <a:pt x="3444" y="3560"/>
                      <a:pt x="3391" y="3819"/>
                      <a:pt x="3248" y="4015"/>
                    </a:cubicBezTo>
                    <a:lnTo>
                      <a:pt x="3248" y="4015"/>
                    </a:lnTo>
                    <a:cubicBezTo>
                      <a:pt x="3186" y="4105"/>
                      <a:pt x="3114" y="4176"/>
                      <a:pt x="3043" y="4247"/>
                    </a:cubicBezTo>
                    <a:lnTo>
                      <a:pt x="3043" y="4247"/>
                    </a:lnTo>
                    <a:cubicBezTo>
                      <a:pt x="2998" y="4292"/>
                      <a:pt x="2954" y="4337"/>
                      <a:pt x="2909" y="4390"/>
                    </a:cubicBezTo>
                    <a:lnTo>
                      <a:pt x="2909" y="4390"/>
                    </a:lnTo>
                    <a:cubicBezTo>
                      <a:pt x="2766" y="4551"/>
                      <a:pt x="2695" y="4702"/>
                      <a:pt x="2704" y="4854"/>
                    </a:cubicBezTo>
                    <a:lnTo>
                      <a:pt x="2704" y="4854"/>
                    </a:lnTo>
                    <a:cubicBezTo>
                      <a:pt x="2704" y="4961"/>
                      <a:pt x="2758" y="5068"/>
                      <a:pt x="2838" y="5130"/>
                    </a:cubicBezTo>
                    <a:lnTo>
                      <a:pt x="2838" y="5130"/>
                    </a:lnTo>
                    <a:cubicBezTo>
                      <a:pt x="2891" y="5175"/>
                      <a:pt x="2963" y="5202"/>
                      <a:pt x="3025" y="5202"/>
                    </a:cubicBezTo>
                    <a:lnTo>
                      <a:pt x="3025" y="5202"/>
                    </a:lnTo>
                    <a:cubicBezTo>
                      <a:pt x="3034" y="5202"/>
                      <a:pt x="3043" y="5202"/>
                      <a:pt x="3061" y="5202"/>
                    </a:cubicBezTo>
                    <a:lnTo>
                      <a:pt x="3061" y="5202"/>
                    </a:lnTo>
                    <a:cubicBezTo>
                      <a:pt x="3079" y="5202"/>
                      <a:pt x="3088" y="5184"/>
                      <a:pt x="3088" y="5166"/>
                    </a:cubicBezTo>
                    <a:lnTo>
                      <a:pt x="3088" y="5166"/>
                    </a:lnTo>
                    <a:cubicBezTo>
                      <a:pt x="3079" y="5148"/>
                      <a:pt x="3070" y="5139"/>
                      <a:pt x="3052" y="5139"/>
                    </a:cubicBezTo>
                    <a:lnTo>
                      <a:pt x="3052" y="5139"/>
                    </a:lnTo>
                    <a:cubicBezTo>
                      <a:pt x="2989" y="5148"/>
                      <a:pt x="2927" y="5130"/>
                      <a:pt x="2882" y="5086"/>
                    </a:cubicBezTo>
                    <a:lnTo>
                      <a:pt x="2882" y="5086"/>
                    </a:lnTo>
                    <a:cubicBezTo>
                      <a:pt x="2811" y="5023"/>
                      <a:pt x="2766" y="4943"/>
                      <a:pt x="2766" y="4854"/>
                    </a:cubicBezTo>
                    <a:lnTo>
                      <a:pt x="2766" y="4854"/>
                    </a:lnTo>
                    <a:cubicBezTo>
                      <a:pt x="2758" y="4720"/>
                      <a:pt x="2820" y="4577"/>
                      <a:pt x="2954" y="4426"/>
                    </a:cubicBezTo>
                    <a:lnTo>
                      <a:pt x="2954" y="4426"/>
                    </a:lnTo>
                    <a:cubicBezTo>
                      <a:pt x="2998" y="4381"/>
                      <a:pt x="3043" y="4337"/>
                      <a:pt x="3088" y="4292"/>
                    </a:cubicBezTo>
                    <a:lnTo>
                      <a:pt x="3088" y="4292"/>
                    </a:lnTo>
                    <a:cubicBezTo>
                      <a:pt x="3159" y="4221"/>
                      <a:pt x="3239" y="4140"/>
                      <a:pt x="3302" y="4060"/>
                    </a:cubicBezTo>
                    <a:lnTo>
                      <a:pt x="3302" y="4060"/>
                    </a:lnTo>
                    <a:cubicBezTo>
                      <a:pt x="3453" y="3846"/>
                      <a:pt x="3516" y="3560"/>
                      <a:pt x="3462" y="3302"/>
                    </a:cubicBezTo>
                    <a:lnTo>
                      <a:pt x="3462" y="3302"/>
                    </a:lnTo>
                    <a:cubicBezTo>
                      <a:pt x="3409" y="3043"/>
                      <a:pt x="3284" y="2847"/>
                      <a:pt x="3088" y="2722"/>
                    </a:cubicBezTo>
                    <a:lnTo>
                      <a:pt x="3088" y="2722"/>
                    </a:lnTo>
                    <a:cubicBezTo>
                      <a:pt x="3168" y="2633"/>
                      <a:pt x="3230" y="2526"/>
                      <a:pt x="3293" y="2418"/>
                    </a:cubicBezTo>
                    <a:lnTo>
                      <a:pt x="3293" y="2418"/>
                    </a:lnTo>
                    <a:cubicBezTo>
                      <a:pt x="3364" y="2294"/>
                      <a:pt x="3436" y="2169"/>
                      <a:pt x="3543" y="2053"/>
                    </a:cubicBezTo>
                    <a:lnTo>
                      <a:pt x="3543" y="2053"/>
                    </a:lnTo>
                    <a:cubicBezTo>
                      <a:pt x="3596" y="2008"/>
                      <a:pt x="3659" y="1964"/>
                      <a:pt x="3730" y="1919"/>
                    </a:cubicBezTo>
                    <a:lnTo>
                      <a:pt x="3730" y="1919"/>
                    </a:lnTo>
                    <a:cubicBezTo>
                      <a:pt x="3855" y="1910"/>
                      <a:pt x="3980" y="1972"/>
                      <a:pt x="4042" y="2017"/>
                    </a:cubicBezTo>
                    <a:lnTo>
                      <a:pt x="4042" y="2017"/>
                    </a:lnTo>
                    <a:cubicBezTo>
                      <a:pt x="4399" y="2240"/>
                      <a:pt x="4595" y="2659"/>
                      <a:pt x="4551" y="3070"/>
                    </a:cubicBezTo>
                    <a:lnTo>
                      <a:pt x="4551" y="3070"/>
                    </a:lnTo>
                    <a:cubicBezTo>
                      <a:pt x="4551" y="3079"/>
                      <a:pt x="4560" y="3096"/>
                      <a:pt x="4568" y="3096"/>
                    </a:cubicBezTo>
                    <a:lnTo>
                      <a:pt x="4568" y="3096"/>
                    </a:lnTo>
                    <a:cubicBezTo>
                      <a:pt x="4577" y="3105"/>
                      <a:pt x="4577" y="3105"/>
                      <a:pt x="4586" y="3105"/>
                    </a:cubicBezTo>
                    <a:lnTo>
                      <a:pt x="4586" y="3105"/>
                    </a:lnTo>
                    <a:cubicBezTo>
                      <a:pt x="4586" y="3105"/>
                      <a:pt x="4595" y="3105"/>
                      <a:pt x="4604" y="3096"/>
                    </a:cubicBezTo>
                    <a:lnTo>
                      <a:pt x="4604" y="3096"/>
                    </a:lnTo>
                    <a:lnTo>
                      <a:pt x="4667" y="3061"/>
                    </a:lnTo>
                    <a:cubicBezTo>
                      <a:pt x="4676" y="3052"/>
                      <a:pt x="4684" y="3034"/>
                      <a:pt x="4676" y="3016"/>
                    </a:cubicBezTo>
                    <a:lnTo>
                      <a:pt x="4676" y="3016"/>
                    </a:lnTo>
                    <a:cubicBezTo>
                      <a:pt x="4667" y="2998"/>
                      <a:pt x="4640" y="2998"/>
                      <a:pt x="4631" y="3007"/>
                    </a:cubicBezTo>
                    <a:lnTo>
                      <a:pt x="4631" y="3007"/>
                    </a:lnTo>
                    <a:lnTo>
                      <a:pt x="4622" y="3007"/>
                    </a:lnTo>
                    <a:cubicBezTo>
                      <a:pt x="4640" y="2597"/>
                      <a:pt x="4426" y="2187"/>
                      <a:pt x="4078" y="1964"/>
                    </a:cubicBezTo>
                    <a:lnTo>
                      <a:pt x="4078" y="1964"/>
                    </a:lnTo>
                    <a:cubicBezTo>
                      <a:pt x="3998" y="1910"/>
                      <a:pt x="3917" y="1883"/>
                      <a:pt x="3837" y="1865"/>
                    </a:cubicBezTo>
                    <a:lnTo>
                      <a:pt x="3837" y="1865"/>
                    </a:lnTo>
                    <a:cubicBezTo>
                      <a:pt x="3935" y="1821"/>
                      <a:pt x="4033" y="1776"/>
                      <a:pt x="4140" y="1732"/>
                    </a:cubicBezTo>
                    <a:lnTo>
                      <a:pt x="4140" y="1732"/>
                    </a:lnTo>
                    <a:cubicBezTo>
                      <a:pt x="4310" y="1669"/>
                      <a:pt x="4470" y="1598"/>
                      <a:pt x="4595" y="1517"/>
                    </a:cubicBezTo>
                    <a:lnTo>
                      <a:pt x="4595" y="1517"/>
                    </a:lnTo>
                    <a:cubicBezTo>
                      <a:pt x="4747" y="1410"/>
                      <a:pt x="4943" y="1357"/>
                      <a:pt x="5175" y="1357"/>
                    </a:cubicBezTo>
                    <a:lnTo>
                      <a:pt x="5175" y="1357"/>
                    </a:lnTo>
                    <a:cubicBezTo>
                      <a:pt x="5273" y="1357"/>
                      <a:pt x="5371" y="1366"/>
                      <a:pt x="5478" y="1384"/>
                    </a:cubicBezTo>
                    <a:lnTo>
                      <a:pt x="5478" y="1384"/>
                    </a:lnTo>
                    <a:cubicBezTo>
                      <a:pt x="5273" y="1491"/>
                      <a:pt x="5122" y="1705"/>
                      <a:pt x="5113" y="1937"/>
                    </a:cubicBezTo>
                    <a:lnTo>
                      <a:pt x="5113" y="1937"/>
                    </a:lnTo>
                    <a:cubicBezTo>
                      <a:pt x="5113" y="1955"/>
                      <a:pt x="5122" y="1972"/>
                      <a:pt x="5139" y="1972"/>
                    </a:cubicBezTo>
                    <a:lnTo>
                      <a:pt x="5139" y="1972"/>
                    </a:lnTo>
                    <a:lnTo>
                      <a:pt x="5202" y="1981"/>
                    </a:lnTo>
                    <a:cubicBezTo>
                      <a:pt x="5211" y="1981"/>
                      <a:pt x="5211" y="1981"/>
                      <a:pt x="5211" y="1981"/>
                    </a:cubicBezTo>
                    <a:lnTo>
                      <a:pt x="5211" y="1981"/>
                    </a:lnTo>
                    <a:cubicBezTo>
                      <a:pt x="5229" y="1981"/>
                      <a:pt x="5238" y="1972"/>
                      <a:pt x="5238" y="1955"/>
                    </a:cubicBezTo>
                    <a:lnTo>
                      <a:pt x="5238" y="1955"/>
                    </a:lnTo>
                    <a:cubicBezTo>
                      <a:pt x="5246" y="1937"/>
                      <a:pt x="5229" y="1919"/>
                      <a:pt x="5211" y="1919"/>
                    </a:cubicBezTo>
                    <a:lnTo>
                      <a:pt x="5211" y="1919"/>
                    </a:lnTo>
                    <a:lnTo>
                      <a:pt x="5175" y="1910"/>
                    </a:lnTo>
                    <a:cubicBezTo>
                      <a:pt x="5193" y="1714"/>
                      <a:pt x="5336" y="1517"/>
                      <a:pt x="5514" y="1437"/>
                    </a:cubicBezTo>
                    <a:lnTo>
                      <a:pt x="5514" y="1437"/>
                    </a:lnTo>
                    <a:cubicBezTo>
                      <a:pt x="5532" y="1428"/>
                      <a:pt x="5541" y="1410"/>
                      <a:pt x="5532" y="1393"/>
                    </a:cubicBezTo>
                    <a:lnTo>
                      <a:pt x="5532" y="1393"/>
                    </a:lnTo>
                    <a:cubicBezTo>
                      <a:pt x="5559" y="1401"/>
                      <a:pt x="5585" y="1401"/>
                      <a:pt x="5621" y="1410"/>
                    </a:cubicBezTo>
                    <a:lnTo>
                      <a:pt x="5621" y="1410"/>
                    </a:lnTo>
                    <a:cubicBezTo>
                      <a:pt x="5826" y="1455"/>
                      <a:pt x="6049" y="1375"/>
                      <a:pt x="6272" y="1294"/>
                    </a:cubicBezTo>
                    <a:lnTo>
                      <a:pt x="6272" y="1294"/>
                    </a:lnTo>
                    <a:cubicBezTo>
                      <a:pt x="6371" y="1250"/>
                      <a:pt x="6469" y="1214"/>
                      <a:pt x="6576" y="1187"/>
                    </a:cubicBezTo>
                    <a:lnTo>
                      <a:pt x="6576" y="1187"/>
                    </a:lnTo>
                    <a:cubicBezTo>
                      <a:pt x="6567" y="1205"/>
                      <a:pt x="6558" y="1214"/>
                      <a:pt x="6558" y="1223"/>
                    </a:cubicBezTo>
                    <a:lnTo>
                      <a:pt x="6558" y="1223"/>
                    </a:lnTo>
                    <a:cubicBezTo>
                      <a:pt x="6522" y="1294"/>
                      <a:pt x="6602" y="1535"/>
                      <a:pt x="6656" y="1589"/>
                    </a:cubicBezTo>
                    <a:lnTo>
                      <a:pt x="6656" y="1589"/>
                    </a:lnTo>
                    <a:cubicBezTo>
                      <a:pt x="6656" y="1589"/>
                      <a:pt x="6665" y="1598"/>
                      <a:pt x="6674" y="1598"/>
                    </a:cubicBezTo>
                    <a:lnTo>
                      <a:pt x="6674" y="1598"/>
                    </a:lnTo>
                    <a:cubicBezTo>
                      <a:pt x="6683" y="1598"/>
                      <a:pt x="6692" y="1589"/>
                      <a:pt x="6701" y="158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7" name="Google Shape;817;p73"/>
            <p:cNvSpPr/>
            <p:nvPr/>
          </p:nvSpPr>
          <p:spPr>
            <a:xfrm>
              <a:off x="3186425" y="4160625"/>
              <a:ext cx="533679" cy="414643"/>
            </a:xfrm>
            <a:custGeom>
              <a:rect b="b" l="l" r="r" t="t"/>
              <a:pathLst>
                <a:path extrusionOk="0" h="8886" w="11437">
                  <a:moveTo>
                    <a:pt x="2855" y="18"/>
                  </a:moveTo>
                  <a:lnTo>
                    <a:pt x="2061" y="1223"/>
                  </a:lnTo>
                  <a:cubicBezTo>
                    <a:pt x="2052" y="1223"/>
                    <a:pt x="2043" y="1223"/>
                    <a:pt x="2034" y="1223"/>
                  </a:cubicBezTo>
                  <a:lnTo>
                    <a:pt x="2034" y="1223"/>
                  </a:lnTo>
                  <a:cubicBezTo>
                    <a:pt x="1981" y="1223"/>
                    <a:pt x="1936" y="1267"/>
                    <a:pt x="1936" y="1321"/>
                  </a:cubicBezTo>
                  <a:lnTo>
                    <a:pt x="1936" y="1321"/>
                  </a:lnTo>
                  <a:cubicBezTo>
                    <a:pt x="1936" y="1339"/>
                    <a:pt x="1945" y="1357"/>
                    <a:pt x="1954" y="1365"/>
                  </a:cubicBezTo>
                  <a:lnTo>
                    <a:pt x="1954" y="1365"/>
                  </a:lnTo>
                  <a:lnTo>
                    <a:pt x="437" y="2900"/>
                  </a:lnTo>
                  <a:cubicBezTo>
                    <a:pt x="428" y="2900"/>
                    <a:pt x="411" y="2900"/>
                    <a:pt x="402" y="2900"/>
                  </a:cubicBezTo>
                  <a:lnTo>
                    <a:pt x="402" y="2900"/>
                  </a:lnTo>
                  <a:cubicBezTo>
                    <a:pt x="348" y="2900"/>
                    <a:pt x="303" y="2944"/>
                    <a:pt x="303" y="2998"/>
                  </a:cubicBezTo>
                  <a:lnTo>
                    <a:pt x="303" y="2998"/>
                  </a:lnTo>
                  <a:cubicBezTo>
                    <a:pt x="303" y="3034"/>
                    <a:pt x="321" y="3060"/>
                    <a:pt x="357" y="3078"/>
                  </a:cubicBezTo>
                  <a:lnTo>
                    <a:pt x="357" y="3078"/>
                  </a:lnTo>
                  <a:lnTo>
                    <a:pt x="63" y="4827"/>
                  </a:lnTo>
                  <a:cubicBezTo>
                    <a:pt x="27" y="4845"/>
                    <a:pt x="0" y="4880"/>
                    <a:pt x="0" y="4925"/>
                  </a:cubicBezTo>
                  <a:lnTo>
                    <a:pt x="0" y="4925"/>
                  </a:lnTo>
                  <a:cubicBezTo>
                    <a:pt x="0" y="4970"/>
                    <a:pt x="36" y="5014"/>
                    <a:pt x="89" y="5023"/>
                  </a:cubicBezTo>
                  <a:lnTo>
                    <a:pt x="89" y="5023"/>
                  </a:lnTo>
                  <a:lnTo>
                    <a:pt x="660" y="6227"/>
                  </a:lnTo>
                  <a:cubicBezTo>
                    <a:pt x="634" y="6245"/>
                    <a:pt x="625" y="6272"/>
                    <a:pt x="625" y="6308"/>
                  </a:cubicBezTo>
                  <a:lnTo>
                    <a:pt x="625" y="6308"/>
                  </a:lnTo>
                  <a:cubicBezTo>
                    <a:pt x="625" y="6361"/>
                    <a:pt x="669" y="6406"/>
                    <a:pt x="723" y="6406"/>
                  </a:cubicBezTo>
                  <a:lnTo>
                    <a:pt x="723" y="6406"/>
                  </a:lnTo>
                  <a:cubicBezTo>
                    <a:pt x="741" y="6406"/>
                    <a:pt x="758" y="6397"/>
                    <a:pt x="767" y="6388"/>
                  </a:cubicBezTo>
                  <a:lnTo>
                    <a:pt x="767" y="6388"/>
                  </a:lnTo>
                  <a:cubicBezTo>
                    <a:pt x="1338" y="6745"/>
                    <a:pt x="2177" y="7280"/>
                    <a:pt x="2409" y="7467"/>
                  </a:cubicBezTo>
                  <a:lnTo>
                    <a:pt x="2409" y="7467"/>
                  </a:lnTo>
                  <a:cubicBezTo>
                    <a:pt x="2400" y="7476"/>
                    <a:pt x="2400" y="7494"/>
                    <a:pt x="2400" y="7512"/>
                  </a:cubicBezTo>
                  <a:lnTo>
                    <a:pt x="2400" y="7512"/>
                  </a:lnTo>
                  <a:cubicBezTo>
                    <a:pt x="2400" y="7566"/>
                    <a:pt x="2445" y="7610"/>
                    <a:pt x="2498" y="7610"/>
                  </a:cubicBezTo>
                  <a:lnTo>
                    <a:pt x="2498" y="7610"/>
                  </a:lnTo>
                  <a:cubicBezTo>
                    <a:pt x="2525" y="7610"/>
                    <a:pt x="2552" y="7592"/>
                    <a:pt x="2569" y="7574"/>
                  </a:cubicBezTo>
                  <a:lnTo>
                    <a:pt x="2569" y="7574"/>
                  </a:lnTo>
                  <a:lnTo>
                    <a:pt x="3934" y="8065"/>
                  </a:lnTo>
                  <a:cubicBezTo>
                    <a:pt x="3943" y="8119"/>
                    <a:pt x="3979" y="8163"/>
                    <a:pt x="4032" y="8163"/>
                  </a:cubicBezTo>
                  <a:lnTo>
                    <a:pt x="4032" y="8163"/>
                  </a:lnTo>
                  <a:cubicBezTo>
                    <a:pt x="4068" y="8163"/>
                    <a:pt x="4095" y="8145"/>
                    <a:pt x="4113" y="8128"/>
                  </a:cubicBezTo>
                  <a:lnTo>
                    <a:pt x="4113" y="8128"/>
                  </a:lnTo>
                  <a:lnTo>
                    <a:pt x="5915" y="8788"/>
                  </a:lnTo>
                  <a:lnTo>
                    <a:pt x="5915" y="8788"/>
                  </a:lnTo>
                  <a:lnTo>
                    <a:pt x="5915" y="8788"/>
                  </a:lnTo>
                  <a:cubicBezTo>
                    <a:pt x="5915" y="8841"/>
                    <a:pt x="5959" y="8886"/>
                    <a:pt x="6013" y="8886"/>
                  </a:cubicBezTo>
                  <a:lnTo>
                    <a:pt x="6013" y="8886"/>
                  </a:lnTo>
                  <a:cubicBezTo>
                    <a:pt x="6075" y="8886"/>
                    <a:pt x="6120" y="8841"/>
                    <a:pt x="6120" y="8788"/>
                  </a:cubicBezTo>
                  <a:lnTo>
                    <a:pt x="6120" y="8788"/>
                  </a:lnTo>
                  <a:cubicBezTo>
                    <a:pt x="6120" y="8779"/>
                    <a:pt x="6111" y="8770"/>
                    <a:pt x="6111" y="8761"/>
                  </a:cubicBezTo>
                  <a:lnTo>
                    <a:pt x="6111" y="8761"/>
                  </a:lnTo>
                  <a:lnTo>
                    <a:pt x="8636" y="6861"/>
                  </a:lnTo>
                  <a:cubicBezTo>
                    <a:pt x="8645" y="6870"/>
                    <a:pt x="8671" y="6879"/>
                    <a:pt x="8689" y="6879"/>
                  </a:cubicBezTo>
                  <a:lnTo>
                    <a:pt x="8689" y="6879"/>
                  </a:lnTo>
                  <a:cubicBezTo>
                    <a:pt x="8743" y="6879"/>
                    <a:pt x="8787" y="6834"/>
                    <a:pt x="8787" y="6780"/>
                  </a:cubicBezTo>
                  <a:lnTo>
                    <a:pt x="8787" y="6780"/>
                  </a:lnTo>
                  <a:cubicBezTo>
                    <a:pt x="8787" y="6763"/>
                    <a:pt x="8787" y="6754"/>
                    <a:pt x="8778" y="6736"/>
                  </a:cubicBezTo>
                  <a:lnTo>
                    <a:pt x="8778" y="6736"/>
                  </a:lnTo>
                  <a:lnTo>
                    <a:pt x="10438" y="5210"/>
                  </a:lnTo>
                  <a:cubicBezTo>
                    <a:pt x="10447" y="5219"/>
                    <a:pt x="10465" y="5228"/>
                    <a:pt x="10482" y="5228"/>
                  </a:cubicBezTo>
                  <a:lnTo>
                    <a:pt x="10482" y="5228"/>
                  </a:lnTo>
                  <a:cubicBezTo>
                    <a:pt x="10536" y="5228"/>
                    <a:pt x="10580" y="5184"/>
                    <a:pt x="10580" y="5130"/>
                  </a:cubicBezTo>
                  <a:lnTo>
                    <a:pt x="10580" y="5130"/>
                  </a:lnTo>
                  <a:cubicBezTo>
                    <a:pt x="10580" y="5103"/>
                    <a:pt x="10572" y="5077"/>
                    <a:pt x="10554" y="5059"/>
                  </a:cubicBezTo>
                  <a:lnTo>
                    <a:pt x="10554" y="5059"/>
                  </a:lnTo>
                  <a:lnTo>
                    <a:pt x="11330" y="3506"/>
                  </a:lnTo>
                  <a:cubicBezTo>
                    <a:pt x="11330" y="3506"/>
                    <a:pt x="11330" y="3506"/>
                    <a:pt x="11339" y="3506"/>
                  </a:cubicBezTo>
                  <a:lnTo>
                    <a:pt x="11339" y="3506"/>
                  </a:lnTo>
                  <a:cubicBezTo>
                    <a:pt x="11392" y="3506"/>
                    <a:pt x="11437" y="3462"/>
                    <a:pt x="11437" y="3408"/>
                  </a:cubicBezTo>
                  <a:lnTo>
                    <a:pt x="11437" y="3408"/>
                  </a:lnTo>
                  <a:cubicBezTo>
                    <a:pt x="11437" y="3364"/>
                    <a:pt x="11410" y="3328"/>
                    <a:pt x="11374" y="3310"/>
                  </a:cubicBezTo>
                  <a:lnTo>
                    <a:pt x="11374" y="3310"/>
                  </a:lnTo>
                  <a:cubicBezTo>
                    <a:pt x="11321" y="3052"/>
                    <a:pt x="11053" y="2418"/>
                    <a:pt x="10812" y="1856"/>
                  </a:cubicBezTo>
                  <a:lnTo>
                    <a:pt x="10812" y="1856"/>
                  </a:lnTo>
                  <a:cubicBezTo>
                    <a:pt x="10830" y="1838"/>
                    <a:pt x="10839" y="1811"/>
                    <a:pt x="10839" y="1785"/>
                  </a:cubicBezTo>
                  <a:lnTo>
                    <a:pt x="10839" y="1785"/>
                  </a:lnTo>
                  <a:cubicBezTo>
                    <a:pt x="10839" y="1731"/>
                    <a:pt x="10795" y="1687"/>
                    <a:pt x="10741" y="1687"/>
                  </a:cubicBezTo>
                  <a:lnTo>
                    <a:pt x="10741" y="1687"/>
                  </a:lnTo>
                  <a:cubicBezTo>
                    <a:pt x="10723" y="1687"/>
                    <a:pt x="10705" y="1696"/>
                    <a:pt x="10688" y="1704"/>
                  </a:cubicBezTo>
                  <a:lnTo>
                    <a:pt x="10688" y="1704"/>
                  </a:lnTo>
                  <a:lnTo>
                    <a:pt x="8877" y="536"/>
                  </a:lnTo>
                  <a:cubicBezTo>
                    <a:pt x="8877" y="527"/>
                    <a:pt x="8886" y="518"/>
                    <a:pt x="8886" y="509"/>
                  </a:cubicBezTo>
                  <a:lnTo>
                    <a:pt x="8886" y="509"/>
                  </a:lnTo>
                  <a:cubicBezTo>
                    <a:pt x="8886" y="456"/>
                    <a:pt x="8841" y="411"/>
                    <a:pt x="8778" y="411"/>
                  </a:cubicBezTo>
                  <a:lnTo>
                    <a:pt x="8778" y="411"/>
                  </a:lnTo>
                  <a:cubicBezTo>
                    <a:pt x="8752" y="411"/>
                    <a:pt x="8716" y="429"/>
                    <a:pt x="8698" y="456"/>
                  </a:cubicBezTo>
                  <a:lnTo>
                    <a:pt x="8698" y="456"/>
                  </a:lnTo>
                  <a:lnTo>
                    <a:pt x="7440" y="143"/>
                  </a:lnTo>
                  <a:cubicBezTo>
                    <a:pt x="7431" y="99"/>
                    <a:pt x="7387" y="63"/>
                    <a:pt x="7342" y="63"/>
                  </a:cubicBezTo>
                  <a:lnTo>
                    <a:pt x="7342" y="63"/>
                  </a:lnTo>
                  <a:cubicBezTo>
                    <a:pt x="7298" y="63"/>
                    <a:pt x="7262" y="90"/>
                    <a:pt x="7253" y="125"/>
                  </a:cubicBezTo>
                  <a:lnTo>
                    <a:pt x="7253" y="125"/>
                  </a:lnTo>
                  <a:cubicBezTo>
                    <a:pt x="7083" y="117"/>
                    <a:pt x="6736" y="117"/>
                    <a:pt x="5977" y="117"/>
                  </a:cubicBezTo>
                  <a:lnTo>
                    <a:pt x="5977" y="117"/>
                  </a:lnTo>
                  <a:cubicBezTo>
                    <a:pt x="5460" y="125"/>
                    <a:pt x="4942" y="125"/>
                    <a:pt x="4719" y="125"/>
                  </a:cubicBezTo>
                  <a:lnTo>
                    <a:pt x="4719" y="125"/>
                  </a:lnTo>
                  <a:cubicBezTo>
                    <a:pt x="4702" y="99"/>
                    <a:pt x="4666" y="81"/>
                    <a:pt x="4630" y="81"/>
                  </a:cubicBezTo>
                  <a:lnTo>
                    <a:pt x="4630" y="81"/>
                  </a:lnTo>
                  <a:cubicBezTo>
                    <a:pt x="4594" y="81"/>
                    <a:pt x="4568" y="99"/>
                    <a:pt x="4550" y="125"/>
                  </a:cubicBezTo>
                  <a:lnTo>
                    <a:pt x="4550" y="125"/>
                  </a:lnTo>
                  <a:lnTo>
                    <a:pt x="2891" y="1"/>
                  </a:lnTo>
                  <a:cubicBezTo>
                    <a:pt x="2891" y="1"/>
                    <a:pt x="2882" y="1"/>
                    <a:pt x="2882" y="1"/>
                  </a:cubicBezTo>
                  <a:lnTo>
                    <a:pt x="2882" y="1"/>
                  </a:lnTo>
                  <a:cubicBezTo>
                    <a:pt x="2873" y="1"/>
                    <a:pt x="2864" y="9"/>
                    <a:pt x="2855" y="18"/>
                  </a:cubicBezTo>
                  <a:moveTo>
                    <a:pt x="2132" y="1330"/>
                  </a:moveTo>
                  <a:cubicBezTo>
                    <a:pt x="2132" y="1330"/>
                    <a:pt x="2132" y="1330"/>
                    <a:pt x="2132" y="1321"/>
                  </a:cubicBezTo>
                  <a:lnTo>
                    <a:pt x="2132" y="1321"/>
                  </a:lnTo>
                  <a:cubicBezTo>
                    <a:pt x="2132" y="1303"/>
                    <a:pt x="2123" y="1276"/>
                    <a:pt x="2114" y="1258"/>
                  </a:cubicBezTo>
                  <a:lnTo>
                    <a:pt x="2114" y="1258"/>
                  </a:lnTo>
                  <a:lnTo>
                    <a:pt x="2899" y="63"/>
                  </a:lnTo>
                  <a:lnTo>
                    <a:pt x="4532" y="188"/>
                  </a:lnTo>
                  <a:cubicBezTo>
                    <a:pt x="4541" y="232"/>
                    <a:pt x="4586" y="277"/>
                    <a:pt x="4630" y="277"/>
                  </a:cubicBezTo>
                  <a:lnTo>
                    <a:pt x="4630" y="277"/>
                  </a:lnTo>
                  <a:lnTo>
                    <a:pt x="5719" y="2088"/>
                  </a:lnTo>
                  <a:cubicBezTo>
                    <a:pt x="5710" y="2097"/>
                    <a:pt x="5701" y="2106"/>
                    <a:pt x="5701" y="2115"/>
                  </a:cubicBezTo>
                  <a:lnTo>
                    <a:pt x="5701" y="2115"/>
                  </a:lnTo>
                  <a:lnTo>
                    <a:pt x="4755" y="2008"/>
                  </a:lnTo>
                  <a:cubicBezTo>
                    <a:pt x="4746" y="1963"/>
                    <a:pt x="4710" y="1936"/>
                    <a:pt x="4666" y="1936"/>
                  </a:cubicBezTo>
                  <a:lnTo>
                    <a:pt x="4666" y="1936"/>
                  </a:lnTo>
                  <a:cubicBezTo>
                    <a:pt x="4630" y="1936"/>
                    <a:pt x="4594" y="1945"/>
                    <a:pt x="4577" y="1972"/>
                  </a:cubicBezTo>
                  <a:lnTo>
                    <a:pt x="4577" y="1972"/>
                  </a:lnTo>
                  <a:close/>
                  <a:moveTo>
                    <a:pt x="4764" y="188"/>
                  </a:moveTo>
                  <a:cubicBezTo>
                    <a:pt x="5674" y="179"/>
                    <a:pt x="6869" y="179"/>
                    <a:pt x="7244" y="188"/>
                  </a:cubicBezTo>
                  <a:lnTo>
                    <a:pt x="7244" y="188"/>
                  </a:lnTo>
                  <a:cubicBezTo>
                    <a:pt x="7253" y="215"/>
                    <a:pt x="7271" y="232"/>
                    <a:pt x="7298" y="250"/>
                  </a:cubicBezTo>
                  <a:lnTo>
                    <a:pt x="7298" y="250"/>
                  </a:lnTo>
                  <a:cubicBezTo>
                    <a:pt x="7244" y="384"/>
                    <a:pt x="7155" y="634"/>
                    <a:pt x="7039" y="1000"/>
                  </a:cubicBezTo>
                  <a:lnTo>
                    <a:pt x="7039" y="1000"/>
                  </a:lnTo>
                  <a:cubicBezTo>
                    <a:pt x="7012" y="1000"/>
                    <a:pt x="6985" y="1018"/>
                    <a:pt x="6967" y="1035"/>
                  </a:cubicBezTo>
                  <a:lnTo>
                    <a:pt x="6967" y="1035"/>
                  </a:lnTo>
                  <a:close/>
                  <a:moveTo>
                    <a:pt x="7449" y="3132"/>
                  </a:moveTo>
                  <a:lnTo>
                    <a:pt x="7092" y="1187"/>
                  </a:lnTo>
                  <a:cubicBezTo>
                    <a:pt x="7119" y="1169"/>
                    <a:pt x="7146" y="1134"/>
                    <a:pt x="7146" y="1098"/>
                  </a:cubicBezTo>
                  <a:lnTo>
                    <a:pt x="7146" y="1098"/>
                  </a:lnTo>
                  <a:cubicBezTo>
                    <a:pt x="7146" y="1062"/>
                    <a:pt x="7128" y="1035"/>
                    <a:pt x="7101" y="1018"/>
                  </a:cubicBezTo>
                  <a:lnTo>
                    <a:pt x="7101" y="1018"/>
                  </a:lnTo>
                  <a:cubicBezTo>
                    <a:pt x="7191" y="750"/>
                    <a:pt x="7298" y="411"/>
                    <a:pt x="7351" y="259"/>
                  </a:cubicBezTo>
                  <a:lnTo>
                    <a:pt x="7351" y="259"/>
                  </a:lnTo>
                  <a:cubicBezTo>
                    <a:pt x="7387" y="250"/>
                    <a:pt x="7414" y="232"/>
                    <a:pt x="7422" y="206"/>
                  </a:cubicBezTo>
                  <a:lnTo>
                    <a:pt x="7422" y="206"/>
                  </a:lnTo>
                  <a:lnTo>
                    <a:pt x="8680" y="518"/>
                  </a:lnTo>
                  <a:cubicBezTo>
                    <a:pt x="8689" y="563"/>
                    <a:pt x="8725" y="598"/>
                    <a:pt x="8770" y="607"/>
                  </a:cubicBezTo>
                  <a:lnTo>
                    <a:pt x="8770" y="607"/>
                  </a:lnTo>
                  <a:lnTo>
                    <a:pt x="8912" y="1535"/>
                  </a:lnTo>
                  <a:cubicBezTo>
                    <a:pt x="8886" y="1553"/>
                    <a:pt x="8868" y="1580"/>
                    <a:pt x="8868" y="1615"/>
                  </a:cubicBezTo>
                  <a:lnTo>
                    <a:pt x="8868" y="1615"/>
                  </a:lnTo>
                  <a:cubicBezTo>
                    <a:pt x="8868" y="1633"/>
                    <a:pt x="8868" y="1651"/>
                    <a:pt x="8877" y="1660"/>
                  </a:cubicBezTo>
                  <a:lnTo>
                    <a:pt x="8877" y="1660"/>
                  </a:lnTo>
                  <a:lnTo>
                    <a:pt x="7485" y="3141"/>
                  </a:lnTo>
                  <a:cubicBezTo>
                    <a:pt x="7476" y="3132"/>
                    <a:pt x="7467" y="3132"/>
                    <a:pt x="7449" y="3132"/>
                  </a:cubicBezTo>
                  <a:close/>
                  <a:moveTo>
                    <a:pt x="4693" y="259"/>
                  </a:moveTo>
                  <a:cubicBezTo>
                    <a:pt x="4702" y="250"/>
                    <a:pt x="4710" y="241"/>
                    <a:pt x="4710" y="232"/>
                  </a:cubicBezTo>
                  <a:lnTo>
                    <a:pt x="4710" y="232"/>
                  </a:lnTo>
                  <a:lnTo>
                    <a:pt x="6950" y="1098"/>
                  </a:lnTo>
                  <a:cubicBezTo>
                    <a:pt x="6950" y="1098"/>
                    <a:pt x="6950" y="1098"/>
                    <a:pt x="6950" y="1098"/>
                  </a:cubicBezTo>
                  <a:lnTo>
                    <a:pt x="6950" y="1098"/>
                  </a:lnTo>
                  <a:cubicBezTo>
                    <a:pt x="6950" y="1107"/>
                    <a:pt x="6950" y="1125"/>
                    <a:pt x="6950" y="1134"/>
                  </a:cubicBezTo>
                  <a:lnTo>
                    <a:pt x="6950" y="1134"/>
                  </a:lnTo>
                  <a:lnTo>
                    <a:pt x="5835" y="2070"/>
                  </a:lnTo>
                  <a:cubicBezTo>
                    <a:pt x="5826" y="2061"/>
                    <a:pt x="5808" y="2061"/>
                    <a:pt x="5790" y="2061"/>
                  </a:cubicBezTo>
                  <a:lnTo>
                    <a:pt x="5790" y="2061"/>
                  </a:lnTo>
                  <a:cubicBezTo>
                    <a:pt x="5781" y="2061"/>
                    <a:pt x="5772" y="2061"/>
                    <a:pt x="5772" y="2061"/>
                  </a:cubicBezTo>
                  <a:lnTo>
                    <a:pt x="5772" y="2061"/>
                  </a:lnTo>
                  <a:close/>
                  <a:moveTo>
                    <a:pt x="9055" y="1588"/>
                  </a:moveTo>
                  <a:cubicBezTo>
                    <a:pt x="9046" y="1553"/>
                    <a:pt x="9019" y="1526"/>
                    <a:pt x="8975" y="1517"/>
                  </a:cubicBezTo>
                  <a:lnTo>
                    <a:pt x="8975" y="1517"/>
                  </a:lnTo>
                  <a:lnTo>
                    <a:pt x="8832" y="598"/>
                  </a:lnTo>
                  <a:cubicBezTo>
                    <a:pt x="8832" y="589"/>
                    <a:pt x="8841" y="589"/>
                    <a:pt x="8841" y="589"/>
                  </a:cubicBezTo>
                  <a:lnTo>
                    <a:pt x="8841" y="589"/>
                  </a:lnTo>
                  <a:lnTo>
                    <a:pt x="10598" y="1713"/>
                  </a:lnTo>
                  <a:cubicBezTo>
                    <a:pt x="10411" y="1696"/>
                    <a:pt x="9992" y="1660"/>
                    <a:pt x="9055" y="1588"/>
                  </a:cubicBezTo>
                  <a:close/>
                  <a:moveTo>
                    <a:pt x="5888" y="2159"/>
                  </a:moveTo>
                  <a:cubicBezTo>
                    <a:pt x="5888" y="2142"/>
                    <a:pt x="5888" y="2133"/>
                    <a:pt x="5879" y="2115"/>
                  </a:cubicBezTo>
                  <a:lnTo>
                    <a:pt x="5879" y="2115"/>
                  </a:lnTo>
                  <a:lnTo>
                    <a:pt x="6994" y="1178"/>
                  </a:lnTo>
                  <a:cubicBezTo>
                    <a:pt x="7003" y="1187"/>
                    <a:pt x="7021" y="1196"/>
                    <a:pt x="7030" y="1196"/>
                  </a:cubicBezTo>
                  <a:lnTo>
                    <a:pt x="7030" y="1196"/>
                  </a:lnTo>
                  <a:lnTo>
                    <a:pt x="7396" y="3141"/>
                  </a:lnTo>
                  <a:cubicBezTo>
                    <a:pt x="7360" y="3159"/>
                    <a:pt x="7342" y="3194"/>
                    <a:pt x="7342" y="3230"/>
                  </a:cubicBezTo>
                  <a:lnTo>
                    <a:pt x="7342" y="3230"/>
                  </a:lnTo>
                  <a:cubicBezTo>
                    <a:pt x="7342" y="3230"/>
                    <a:pt x="7342" y="3239"/>
                    <a:pt x="7342" y="3239"/>
                  </a:cubicBezTo>
                  <a:lnTo>
                    <a:pt x="7342" y="3239"/>
                  </a:lnTo>
                  <a:lnTo>
                    <a:pt x="4764" y="4488"/>
                  </a:lnTo>
                  <a:cubicBezTo>
                    <a:pt x="4746" y="4479"/>
                    <a:pt x="4728" y="4470"/>
                    <a:pt x="4710" y="4470"/>
                  </a:cubicBezTo>
                  <a:lnTo>
                    <a:pt x="4710" y="4470"/>
                  </a:lnTo>
                  <a:cubicBezTo>
                    <a:pt x="4710" y="4470"/>
                    <a:pt x="4710" y="4470"/>
                    <a:pt x="4710" y="4470"/>
                  </a:cubicBezTo>
                  <a:lnTo>
                    <a:pt x="4710" y="4470"/>
                  </a:lnTo>
                  <a:lnTo>
                    <a:pt x="4728" y="4274"/>
                  </a:lnTo>
                  <a:cubicBezTo>
                    <a:pt x="4773" y="4265"/>
                    <a:pt x="4809" y="4220"/>
                    <a:pt x="4809" y="4176"/>
                  </a:cubicBezTo>
                  <a:lnTo>
                    <a:pt x="4809" y="4176"/>
                  </a:lnTo>
                  <a:cubicBezTo>
                    <a:pt x="4809" y="4149"/>
                    <a:pt x="4791" y="4122"/>
                    <a:pt x="4773" y="4104"/>
                  </a:cubicBezTo>
                  <a:lnTo>
                    <a:pt x="4773" y="4104"/>
                  </a:lnTo>
                  <a:lnTo>
                    <a:pt x="5772" y="2249"/>
                  </a:lnTo>
                  <a:cubicBezTo>
                    <a:pt x="5772" y="2258"/>
                    <a:pt x="5781" y="2258"/>
                    <a:pt x="5790" y="2258"/>
                  </a:cubicBezTo>
                  <a:lnTo>
                    <a:pt x="5790" y="2258"/>
                  </a:lnTo>
                  <a:cubicBezTo>
                    <a:pt x="5843" y="2258"/>
                    <a:pt x="5888" y="2213"/>
                    <a:pt x="5888" y="2159"/>
                  </a:cubicBezTo>
                  <a:close/>
                  <a:moveTo>
                    <a:pt x="2132" y="1392"/>
                  </a:moveTo>
                  <a:lnTo>
                    <a:pt x="4568" y="2035"/>
                  </a:lnTo>
                  <a:cubicBezTo>
                    <a:pt x="4568" y="2052"/>
                    <a:pt x="4568" y="2061"/>
                    <a:pt x="4577" y="2070"/>
                  </a:cubicBezTo>
                  <a:lnTo>
                    <a:pt x="4577" y="2070"/>
                  </a:lnTo>
                  <a:lnTo>
                    <a:pt x="3711" y="2909"/>
                  </a:lnTo>
                  <a:cubicBezTo>
                    <a:pt x="3702" y="2900"/>
                    <a:pt x="3693" y="2900"/>
                    <a:pt x="3676" y="2900"/>
                  </a:cubicBezTo>
                  <a:lnTo>
                    <a:pt x="3676" y="2900"/>
                  </a:lnTo>
                  <a:cubicBezTo>
                    <a:pt x="3667" y="2900"/>
                    <a:pt x="3649" y="2900"/>
                    <a:pt x="3640" y="2900"/>
                  </a:cubicBezTo>
                  <a:lnTo>
                    <a:pt x="3640" y="2900"/>
                  </a:lnTo>
                  <a:close/>
                  <a:moveTo>
                    <a:pt x="500" y="2998"/>
                  </a:moveTo>
                  <a:lnTo>
                    <a:pt x="500" y="2998"/>
                  </a:lnTo>
                  <a:lnTo>
                    <a:pt x="500" y="2998"/>
                  </a:lnTo>
                  <a:cubicBezTo>
                    <a:pt x="500" y="2980"/>
                    <a:pt x="500" y="2962"/>
                    <a:pt x="482" y="2944"/>
                  </a:cubicBezTo>
                  <a:lnTo>
                    <a:pt x="482" y="2944"/>
                  </a:lnTo>
                  <a:lnTo>
                    <a:pt x="1998" y="1410"/>
                  </a:lnTo>
                  <a:cubicBezTo>
                    <a:pt x="2007" y="1419"/>
                    <a:pt x="2025" y="1419"/>
                    <a:pt x="2034" y="1419"/>
                  </a:cubicBezTo>
                  <a:lnTo>
                    <a:pt x="2034" y="1419"/>
                  </a:lnTo>
                  <a:cubicBezTo>
                    <a:pt x="2043" y="1419"/>
                    <a:pt x="2052" y="1419"/>
                    <a:pt x="2061" y="1419"/>
                  </a:cubicBezTo>
                  <a:lnTo>
                    <a:pt x="2061" y="1419"/>
                  </a:lnTo>
                  <a:lnTo>
                    <a:pt x="3595" y="2944"/>
                  </a:lnTo>
                  <a:cubicBezTo>
                    <a:pt x="3586" y="2962"/>
                    <a:pt x="3577" y="2980"/>
                    <a:pt x="3577" y="2998"/>
                  </a:cubicBezTo>
                  <a:lnTo>
                    <a:pt x="3577" y="2998"/>
                  </a:lnTo>
                  <a:cubicBezTo>
                    <a:pt x="3577" y="3025"/>
                    <a:pt x="3586" y="3052"/>
                    <a:pt x="3613" y="3069"/>
                  </a:cubicBezTo>
                  <a:lnTo>
                    <a:pt x="3613" y="3069"/>
                  </a:lnTo>
                  <a:lnTo>
                    <a:pt x="3140" y="4193"/>
                  </a:lnTo>
                  <a:cubicBezTo>
                    <a:pt x="3131" y="4193"/>
                    <a:pt x="3123" y="4193"/>
                    <a:pt x="3114" y="4193"/>
                  </a:cubicBezTo>
                  <a:lnTo>
                    <a:pt x="3114" y="4193"/>
                  </a:lnTo>
                  <a:cubicBezTo>
                    <a:pt x="3105" y="4193"/>
                    <a:pt x="3087" y="4193"/>
                    <a:pt x="3078" y="4193"/>
                  </a:cubicBezTo>
                  <a:lnTo>
                    <a:pt x="3078" y="4193"/>
                  </a:lnTo>
                  <a:close/>
                  <a:moveTo>
                    <a:pt x="9055" y="1651"/>
                  </a:moveTo>
                  <a:cubicBezTo>
                    <a:pt x="9626" y="1696"/>
                    <a:pt x="10384" y="1749"/>
                    <a:pt x="10643" y="1785"/>
                  </a:cubicBezTo>
                  <a:lnTo>
                    <a:pt x="10643" y="1785"/>
                  </a:lnTo>
                  <a:lnTo>
                    <a:pt x="10643" y="1785"/>
                  </a:lnTo>
                  <a:lnTo>
                    <a:pt x="10643" y="1785"/>
                  </a:lnTo>
                  <a:cubicBezTo>
                    <a:pt x="10643" y="1811"/>
                    <a:pt x="10652" y="1838"/>
                    <a:pt x="10670" y="1856"/>
                  </a:cubicBezTo>
                  <a:lnTo>
                    <a:pt x="10670" y="1856"/>
                  </a:lnTo>
                  <a:lnTo>
                    <a:pt x="9751" y="3979"/>
                  </a:lnTo>
                  <a:cubicBezTo>
                    <a:pt x="9742" y="3979"/>
                    <a:pt x="9742" y="3979"/>
                    <a:pt x="9742" y="3979"/>
                  </a:cubicBezTo>
                  <a:lnTo>
                    <a:pt x="9742" y="3979"/>
                  </a:lnTo>
                  <a:cubicBezTo>
                    <a:pt x="9706" y="3979"/>
                    <a:pt x="9679" y="3988"/>
                    <a:pt x="9662" y="4015"/>
                  </a:cubicBezTo>
                  <a:lnTo>
                    <a:pt x="9662" y="4015"/>
                  </a:lnTo>
                  <a:lnTo>
                    <a:pt x="7538" y="3230"/>
                  </a:lnTo>
                  <a:cubicBezTo>
                    <a:pt x="7538" y="3230"/>
                    <a:pt x="7538" y="3230"/>
                    <a:pt x="7538" y="3230"/>
                  </a:cubicBezTo>
                  <a:lnTo>
                    <a:pt x="7538" y="3230"/>
                  </a:lnTo>
                  <a:cubicBezTo>
                    <a:pt x="7538" y="3212"/>
                    <a:pt x="7530" y="3194"/>
                    <a:pt x="7530" y="3185"/>
                  </a:cubicBezTo>
                  <a:lnTo>
                    <a:pt x="7530" y="3185"/>
                  </a:lnTo>
                  <a:lnTo>
                    <a:pt x="8921" y="1704"/>
                  </a:lnTo>
                  <a:cubicBezTo>
                    <a:pt x="8930" y="1713"/>
                    <a:pt x="8948" y="1713"/>
                    <a:pt x="8966" y="1713"/>
                  </a:cubicBezTo>
                  <a:lnTo>
                    <a:pt x="8966" y="1713"/>
                  </a:lnTo>
                  <a:cubicBezTo>
                    <a:pt x="9001" y="1713"/>
                    <a:pt x="9037" y="1687"/>
                    <a:pt x="9055" y="1651"/>
                  </a:cubicBezTo>
                  <a:moveTo>
                    <a:pt x="10759" y="1883"/>
                  </a:moveTo>
                  <a:cubicBezTo>
                    <a:pt x="10759" y="1883"/>
                    <a:pt x="10759" y="1883"/>
                    <a:pt x="10759" y="1883"/>
                  </a:cubicBezTo>
                  <a:lnTo>
                    <a:pt x="10759" y="1883"/>
                  </a:lnTo>
                  <a:cubicBezTo>
                    <a:pt x="10857" y="2133"/>
                    <a:pt x="11098" y="2811"/>
                    <a:pt x="11276" y="3328"/>
                  </a:cubicBezTo>
                  <a:lnTo>
                    <a:pt x="11276" y="3328"/>
                  </a:lnTo>
                  <a:cubicBezTo>
                    <a:pt x="11258" y="3337"/>
                    <a:pt x="11250" y="3364"/>
                    <a:pt x="11241" y="3382"/>
                  </a:cubicBezTo>
                  <a:lnTo>
                    <a:pt x="11241" y="3382"/>
                  </a:lnTo>
                  <a:cubicBezTo>
                    <a:pt x="10928" y="3453"/>
                    <a:pt x="10126" y="3845"/>
                    <a:pt x="9813" y="4006"/>
                  </a:cubicBezTo>
                  <a:lnTo>
                    <a:pt x="9813" y="4006"/>
                  </a:lnTo>
                  <a:cubicBezTo>
                    <a:pt x="9804" y="4006"/>
                    <a:pt x="9804" y="4006"/>
                    <a:pt x="9804" y="4006"/>
                  </a:cubicBezTo>
                  <a:lnTo>
                    <a:pt x="9804" y="4006"/>
                  </a:lnTo>
                  <a:lnTo>
                    <a:pt x="10732" y="1883"/>
                  </a:lnTo>
                  <a:cubicBezTo>
                    <a:pt x="10732" y="1883"/>
                    <a:pt x="10741" y="1883"/>
                    <a:pt x="10741" y="1883"/>
                  </a:cubicBezTo>
                  <a:lnTo>
                    <a:pt x="10741" y="1883"/>
                  </a:lnTo>
                  <a:cubicBezTo>
                    <a:pt x="10750" y="1883"/>
                    <a:pt x="10750" y="1883"/>
                    <a:pt x="10759" y="1883"/>
                  </a:cubicBezTo>
                  <a:close/>
                  <a:moveTo>
                    <a:pt x="4755" y="2070"/>
                  </a:moveTo>
                  <a:lnTo>
                    <a:pt x="5692" y="2177"/>
                  </a:lnTo>
                  <a:cubicBezTo>
                    <a:pt x="5692" y="2195"/>
                    <a:pt x="5701" y="2213"/>
                    <a:pt x="5719" y="2222"/>
                  </a:cubicBezTo>
                  <a:lnTo>
                    <a:pt x="5719" y="2222"/>
                  </a:lnTo>
                  <a:lnTo>
                    <a:pt x="4719" y="4077"/>
                  </a:lnTo>
                  <a:cubicBezTo>
                    <a:pt x="4719" y="4077"/>
                    <a:pt x="4710" y="4077"/>
                    <a:pt x="4710" y="4077"/>
                  </a:cubicBezTo>
                  <a:lnTo>
                    <a:pt x="4710" y="4077"/>
                  </a:lnTo>
                  <a:cubicBezTo>
                    <a:pt x="4693" y="4077"/>
                    <a:pt x="4684" y="4077"/>
                    <a:pt x="4666" y="4086"/>
                  </a:cubicBezTo>
                  <a:lnTo>
                    <a:pt x="4666" y="4086"/>
                  </a:lnTo>
                  <a:lnTo>
                    <a:pt x="3765" y="3043"/>
                  </a:lnTo>
                  <a:cubicBezTo>
                    <a:pt x="3774" y="3025"/>
                    <a:pt x="3774" y="3007"/>
                    <a:pt x="3774" y="2998"/>
                  </a:cubicBezTo>
                  <a:lnTo>
                    <a:pt x="3774" y="2998"/>
                  </a:lnTo>
                  <a:cubicBezTo>
                    <a:pt x="3774" y="2980"/>
                    <a:pt x="3774" y="2962"/>
                    <a:pt x="3765" y="2944"/>
                  </a:cubicBezTo>
                  <a:lnTo>
                    <a:pt x="3765" y="2944"/>
                  </a:lnTo>
                  <a:lnTo>
                    <a:pt x="4621" y="2115"/>
                  </a:lnTo>
                  <a:cubicBezTo>
                    <a:pt x="4630" y="2124"/>
                    <a:pt x="4648" y="2133"/>
                    <a:pt x="4666" y="2133"/>
                  </a:cubicBezTo>
                  <a:lnTo>
                    <a:pt x="4666" y="2133"/>
                  </a:lnTo>
                  <a:cubicBezTo>
                    <a:pt x="4702" y="2133"/>
                    <a:pt x="4737" y="2106"/>
                    <a:pt x="4755" y="2070"/>
                  </a:cubicBezTo>
                  <a:close/>
                  <a:moveTo>
                    <a:pt x="1017" y="4862"/>
                  </a:moveTo>
                  <a:lnTo>
                    <a:pt x="464" y="3069"/>
                  </a:lnTo>
                  <a:cubicBezTo>
                    <a:pt x="473" y="3069"/>
                    <a:pt x="473" y="3060"/>
                    <a:pt x="482" y="3052"/>
                  </a:cubicBezTo>
                  <a:lnTo>
                    <a:pt x="482" y="3052"/>
                  </a:lnTo>
                  <a:lnTo>
                    <a:pt x="3024" y="4238"/>
                  </a:lnTo>
                  <a:cubicBezTo>
                    <a:pt x="3024" y="4247"/>
                    <a:pt x="3015" y="4265"/>
                    <a:pt x="3015" y="4274"/>
                  </a:cubicBezTo>
                  <a:lnTo>
                    <a:pt x="3015" y="4274"/>
                  </a:lnTo>
                  <a:lnTo>
                    <a:pt x="1089" y="4898"/>
                  </a:lnTo>
                  <a:cubicBezTo>
                    <a:pt x="1071" y="4871"/>
                    <a:pt x="1044" y="4862"/>
                    <a:pt x="1017" y="4862"/>
                  </a:cubicBezTo>
                  <a:close/>
                  <a:moveTo>
                    <a:pt x="3720" y="3087"/>
                  </a:moveTo>
                  <a:lnTo>
                    <a:pt x="4621" y="4131"/>
                  </a:lnTo>
                  <a:cubicBezTo>
                    <a:pt x="4612" y="4140"/>
                    <a:pt x="4612" y="4158"/>
                    <a:pt x="4612" y="4176"/>
                  </a:cubicBezTo>
                  <a:lnTo>
                    <a:pt x="4612" y="4176"/>
                  </a:lnTo>
                  <a:cubicBezTo>
                    <a:pt x="4612" y="4211"/>
                    <a:pt x="4630" y="4247"/>
                    <a:pt x="4666" y="4265"/>
                  </a:cubicBezTo>
                  <a:lnTo>
                    <a:pt x="4666" y="4265"/>
                  </a:lnTo>
                  <a:lnTo>
                    <a:pt x="4639" y="4497"/>
                  </a:lnTo>
                  <a:cubicBezTo>
                    <a:pt x="4621" y="4515"/>
                    <a:pt x="4612" y="4541"/>
                    <a:pt x="4612" y="4568"/>
                  </a:cubicBezTo>
                  <a:lnTo>
                    <a:pt x="4612" y="4568"/>
                  </a:lnTo>
                  <a:cubicBezTo>
                    <a:pt x="4612" y="4568"/>
                    <a:pt x="4612" y="4568"/>
                    <a:pt x="4612" y="4568"/>
                  </a:cubicBezTo>
                  <a:lnTo>
                    <a:pt x="4612" y="4568"/>
                  </a:lnTo>
                  <a:lnTo>
                    <a:pt x="2418" y="6156"/>
                  </a:lnTo>
                  <a:lnTo>
                    <a:pt x="3131" y="4390"/>
                  </a:lnTo>
                  <a:cubicBezTo>
                    <a:pt x="3176" y="4381"/>
                    <a:pt x="3212" y="4336"/>
                    <a:pt x="3212" y="4292"/>
                  </a:cubicBezTo>
                  <a:lnTo>
                    <a:pt x="3212" y="4292"/>
                  </a:lnTo>
                  <a:cubicBezTo>
                    <a:pt x="3212" y="4265"/>
                    <a:pt x="3203" y="4247"/>
                    <a:pt x="3194" y="4229"/>
                  </a:cubicBezTo>
                  <a:lnTo>
                    <a:pt x="3194" y="4229"/>
                  </a:lnTo>
                  <a:lnTo>
                    <a:pt x="3667" y="3096"/>
                  </a:lnTo>
                  <a:cubicBezTo>
                    <a:pt x="3667" y="3096"/>
                    <a:pt x="3676" y="3096"/>
                    <a:pt x="3676" y="3096"/>
                  </a:cubicBezTo>
                  <a:lnTo>
                    <a:pt x="3676" y="3096"/>
                  </a:lnTo>
                  <a:cubicBezTo>
                    <a:pt x="3693" y="3096"/>
                    <a:pt x="3711" y="3087"/>
                    <a:pt x="3720" y="3087"/>
                  </a:cubicBezTo>
                  <a:moveTo>
                    <a:pt x="187" y="4889"/>
                  </a:moveTo>
                  <a:cubicBezTo>
                    <a:pt x="179" y="4862"/>
                    <a:pt x="152" y="4836"/>
                    <a:pt x="125" y="4827"/>
                  </a:cubicBezTo>
                  <a:lnTo>
                    <a:pt x="125" y="4827"/>
                  </a:lnTo>
                  <a:lnTo>
                    <a:pt x="411" y="3123"/>
                  </a:lnTo>
                  <a:lnTo>
                    <a:pt x="955" y="4880"/>
                  </a:lnTo>
                  <a:cubicBezTo>
                    <a:pt x="946" y="4889"/>
                    <a:pt x="928" y="4907"/>
                    <a:pt x="919" y="4916"/>
                  </a:cubicBezTo>
                  <a:lnTo>
                    <a:pt x="919" y="4916"/>
                  </a:lnTo>
                  <a:close/>
                  <a:moveTo>
                    <a:pt x="7512" y="3292"/>
                  </a:moveTo>
                  <a:lnTo>
                    <a:pt x="9608" y="4060"/>
                  </a:lnTo>
                  <a:lnTo>
                    <a:pt x="7654" y="4345"/>
                  </a:lnTo>
                  <a:cubicBezTo>
                    <a:pt x="7637" y="4318"/>
                    <a:pt x="7610" y="4300"/>
                    <a:pt x="7574" y="4300"/>
                  </a:cubicBezTo>
                  <a:lnTo>
                    <a:pt x="7574" y="4300"/>
                  </a:lnTo>
                  <a:cubicBezTo>
                    <a:pt x="7530" y="4300"/>
                    <a:pt x="7494" y="4327"/>
                    <a:pt x="7476" y="4363"/>
                  </a:cubicBezTo>
                  <a:lnTo>
                    <a:pt x="7476" y="4363"/>
                  </a:lnTo>
                  <a:lnTo>
                    <a:pt x="4826" y="4532"/>
                  </a:lnTo>
                  <a:lnTo>
                    <a:pt x="7369" y="3292"/>
                  </a:lnTo>
                  <a:cubicBezTo>
                    <a:pt x="7387" y="3310"/>
                    <a:pt x="7414" y="3328"/>
                    <a:pt x="7440" y="3328"/>
                  </a:cubicBezTo>
                  <a:lnTo>
                    <a:pt x="7440" y="3328"/>
                  </a:lnTo>
                  <a:cubicBezTo>
                    <a:pt x="7467" y="3328"/>
                    <a:pt x="7494" y="3310"/>
                    <a:pt x="7512" y="3292"/>
                  </a:cubicBezTo>
                  <a:close/>
                  <a:moveTo>
                    <a:pt x="9822" y="4131"/>
                  </a:moveTo>
                  <a:cubicBezTo>
                    <a:pt x="9831" y="4122"/>
                    <a:pt x="9840" y="4095"/>
                    <a:pt x="9840" y="4077"/>
                  </a:cubicBezTo>
                  <a:lnTo>
                    <a:pt x="9840" y="4077"/>
                  </a:lnTo>
                  <a:cubicBezTo>
                    <a:pt x="9840" y="4069"/>
                    <a:pt x="9840" y="4069"/>
                    <a:pt x="9840" y="4060"/>
                  </a:cubicBezTo>
                  <a:lnTo>
                    <a:pt x="9840" y="4060"/>
                  </a:lnTo>
                  <a:cubicBezTo>
                    <a:pt x="10420" y="3774"/>
                    <a:pt x="11027" y="3498"/>
                    <a:pt x="11250" y="3444"/>
                  </a:cubicBezTo>
                  <a:lnTo>
                    <a:pt x="11250" y="3444"/>
                  </a:lnTo>
                  <a:cubicBezTo>
                    <a:pt x="11250" y="3453"/>
                    <a:pt x="11258" y="3462"/>
                    <a:pt x="11267" y="3471"/>
                  </a:cubicBezTo>
                  <a:lnTo>
                    <a:pt x="11267" y="3471"/>
                  </a:lnTo>
                  <a:lnTo>
                    <a:pt x="10500" y="5032"/>
                  </a:lnTo>
                  <a:cubicBezTo>
                    <a:pt x="10491" y="5032"/>
                    <a:pt x="10491" y="5032"/>
                    <a:pt x="10482" y="5032"/>
                  </a:cubicBezTo>
                  <a:lnTo>
                    <a:pt x="10482" y="5032"/>
                  </a:lnTo>
                  <a:cubicBezTo>
                    <a:pt x="10473" y="5032"/>
                    <a:pt x="10465" y="5032"/>
                    <a:pt x="10456" y="5032"/>
                  </a:cubicBezTo>
                  <a:lnTo>
                    <a:pt x="10456" y="5032"/>
                  </a:lnTo>
                  <a:close/>
                  <a:moveTo>
                    <a:pt x="7672" y="4408"/>
                  </a:moveTo>
                  <a:lnTo>
                    <a:pt x="9260" y="4176"/>
                  </a:lnTo>
                  <a:lnTo>
                    <a:pt x="9564" y="4131"/>
                  </a:lnTo>
                  <a:lnTo>
                    <a:pt x="6843" y="5567"/>
                  </a:lnTo>
                  <a:lnTo>
                    <a:pt x="7530" y="4488"/>
                  </a:lnTo>
                  <a:cubicBezTo>
                    <a:pt x="7547" y="4488"/>
                    <a:pt x="7556" y="4497"/>
                    <a:pt x="7574" y="4497"/>
                  </a:cubicBezTo>
                  <a:lnTo>
                    <a:pt x="7574" y="4497"/>
                  </a:lnTo>
                  <a:cubicBezTo>
                    <a:pt x="7619" y="4497"/>
                    <a:pt x="7663" y="4452"/>
                    <a:pt x="7672" y="4408"/>
                  </a:cubicBezTo>
                  <a:moveTo>
                    <a:pt x="6860" y="5674"/>
                  </a:moveTo>
                  <a:cubicBezTo>
                    <a:pt x="6860" y="5674"/>
                    <a:pt x="6860" y="5665"/>
                    <a:pt x="6860" y="5656"/>
                  </a:cubicBezTo>
                  <a:lnTo>
                    <a:pt x="6860" y="5656"/>
                  </a:lnTo>
                  <a:cubicBezTo>
                    <a:pt x="6860" y="5648"/>
                    <a:pt x="6860" y="5639"/>
                    <a:pt x="6860" y="5630"/>
                  </a:cubicBezTo>
                  <a:lnTo>
                    <a:pt x="6860" y="5630"/>
                  </a:lnTo>
                  <a:lnTo>
                    <a:pt x="9671" y="4149"/>
                  </a:lnTo>
                  <a:cubicBezTo>
                    <a:pt x="9671" y="4149"/>
                    <a:pt x="9679" y="4149"/>
                    <a:pt x="9679" y="4149"/>
                  </a:cubicBezTo>
                  <a:lnTo>
                    <a:pt x="9679" y="4149"/>
                  </a:lnTo>
                  <a:lnTo>
                    <a:pt x="8689" y="6682"/>
                  </a:lnTo>
                  <a:cubicBezTo>
                    <a:pt x="8689" y="6682"/>
                    <a:pt x="8689" y="6682"/>
                    <a:pt x="8689" y="6682"/>
                  </a:cubicBezTo>
                  <a:lnTo>
                    <a:pt x="8689" y="6682"/>
                  </a:lnTo>
                  <a:cubicBezTo>
                    <a:pt x="8662" y="6682"/>
                    <a:pt x="8645" y="6691"/>
                    <a:pt x="8627" y="6700"/>
                  </a:cubicBezTo>
                  <a:lnTo>
                    <a:pt x="8627" y="6700"/>
                  </a:lnTo>
                  <a:close/>
                  <a:moveTo>
                    <a:pt x="9769" y="4167"/>
                  </a:moveTo>
                  <a:lnTo>
                    <a:pt x="10402" y="5068"/>
                  </a:lnTo>
                  <a:cubicBezTo>
                    <a:pt x="10393" y="5086"/>
                    <a:pt x="10384" y="5103"/>
                    <a:pt x="10384" y="5130"/>
                  </a:cubicBezTo>
                  <a:lnTo>
                    <a:pt x="10384" y="5130"/>
                  </a:lnTo>
                  <a:cubicBezTo>
                    <a:pt x="10384" y="5139"/>
                    <a:pt x="10384" y="5157"/>
                    <a:pt x="10393" y="5166"/>
                  </a:cubicBezTo>
                  <a:lnTo>
                    <a:pt x="10393" y="5166"/>
                  </a:lnTo>
                  <a:lnTo>
                    <a:pt x="8770" y="6665"/>
                  </a:lnTo>
                  <a:lnTo>
                    <a:pt x="9733" y="4176"/>
                  </a:lnTo>
                  <a:cubicBezTo>
                    <a:pt x="9733" y="4176"/>
                    <a:pt x="9742" y="4176"/>
                    <a:pt x="9742" y="4176"/>
                  </a:cubicBezTo>
                  <a:lnTo>
                    <a:pt x="9742" y="4176"/>
                  </a:lnTo>
                  <a:cubicBezTo>
                    <a:pt x="9751" y="4176"/>
                    <a:pt x="9760" y="4176"/>
                    <a:pt x="9769" y="4167"/>
                  </a:cubicBezTo>
                  <a:moveTo>
                    <a:pt x="812" y="6343"/>
                  </a:moveTo>
                  <a:cubicBezTo>
                    <a:pt x="821" y="6334"/>
                    <a:pt x="821" y="6317"/>
                    <a:pt x="821" y="6308"/>
                  </a:cubicBezTo>
                  <a:lnTo>
                    <a:pt x="821" y="6308"/>
                  </a:lnTo>
                  <a:cubicBezTo>
                    <a:pt x="821" y="6272"/>
                    <a:pt x="812" y="6254"/>
                    <a:pt x="794" y="6236"/>
                  </a:cubicBezTo>
                  <a:lnTo>
                    <a:pt x="794" y="6236"/>
                  </a:lnTo>
                  <a:lnTo>
                    <a:pt x="1026" y="5059"/>
                  </a:lnTo>
                  <a:cubicBezTo>
                    <a:pt x="1071" y="5050"/>
                    <a:pt x="1115" y="5014"/>
                    <a:pt x="1115" y="4961"/>
                  </a:cubicBezTo>
                  <a:lnTo>
                    <a:pt x="1115" y="4961"/>
                  </a:lnTo>
                  <a:cubicBezTo>
                    <a:pt x="1115" y="4961"/>
                    <a:pt x="1115" y="4961"/>
                    <a:pt x="1115" y="4952"/>
                  </a:cubicBezTo>
                  <a:lnTo>
                    <a:pt x="1115" y="4952"/>
                  </a:lnTo>
                  <a:lnTo>
                    <a:pt x="3024" y="4336"/>
                  </a:lnTo>
                  <a:cubicBezTo>
                    <a:pt x="3033" y="4354"/>
                    <a:pt x="3051" y="4363"/>
                    <a:pt x="3069" y="4372"/>
                  </a:cubicBezTo>
                  <a:lnTo>
                    <a:pt x="3069" y="4372"/>
                  </a:lnTo>
                  <a:lnTo>
                    <a:pt x="2355" y="6138"/>
                  </a:lnTo>
                  <a:cubicBezTo>
                    <a:pt x="2346" y="6138"/>
                    <a:pt x="2346" y="6138"/>
                    <a:pt x="2346" y="6138"/>
                  </a:cubicBezTo>
                  <a:lnTo>
                    <a:pt x="2346" y="6138"/>
                  </a:lnTo>
                  <a:cubicBezTo>
                    <a:pt x="2293" y="6138"/>
                    <a:pt x="2248" y="6183"/>
                    <a:pt x="2248" y="6236"/>
                  </a:cubicBezTo>
                  <a:lnTo>
                    <a:pt x="2248" y="6236"/>
                  </a:lnTo>
                  <a:cubicBezTo>
                    <a:pt x="2248" y="6281"/>
                    <a:pt x="2275" y="6326"/>
                    <a:pt x="2320" y="6334"/>
                  </a:cubicBezTo>
                  <a:lnTo>
                    <a:pt x="2320" y="6334"/>
                  </a:lnTo>
                  <a:lnTo>
                    <a:pt x="2453" y="7423"/>
                  </a:lnTo>
                  <a:cubicBezTo>
                    <a:pt x="2453" y="7423"/>
                    <a:pt x="2453" y="7423"/>
                    <a:pt x="2453" y="7423"/>
                  </a:cubicBezTo>
                  <a:lnTo>
                    <a:pt x="2453" y="7423"/>
                  </a:lnTo>
                  <a:cubicBezTo>
                    <a:pt x="2195" y="7209"/>
                    <a:pt x="1374" y="6691"/>
                    <a:pt x="812" y="6343"/>
                  </a:cubicBezTo>
                  <a:moveTo>
                    <a:pt x="4800" y="4604"/>
                  </a:moveTo>
                  <a:cubicBezTo>
                    <a:pt x="4800" y="4604"/>
                    <a:pt x="4800" y="4595"/>
                    <a:pt x="4800" y="4595"/>
                  </a:cubicBezTo>
                  <a:lnTo>
                    <a:pt x="4800" y="4595"/>
                  </a:lnTo>
                  <a:lnTo>
                    <a:pt x="7476" y="4425"/>
                  </a:lnTo>
                  <a:cubicBezTo>
                    <a:pt x="7476" y="4434"/>
                    <a:pt x="7485" y="4443"/>
                    <a:pt x="7485" y="4443"/>
                  </a:cubicBezTo>
                  <a:lnTo>
                    <a:pt x="7485" y="4443"/>
                  </a:lnTo>
                  <a:lnTo>
                    <a:pt x="6771" y="5558"/>
                  </a:lnTo>
                  <a:cubicBezTo>
                    <a:pt x="6771" y="5558"/>
                    <a:pt x="6762" y="5558"/>
                    <a:pt x="6762" y="5558"/>
                  </a:cubicBezTo>
                  <a:lnTo>
                    <a:pt x="6762" y="5558"/>
                  </a:lnTo>
                  <a:cubicBezTo>
                    <a:pt x="6736" y="5558"/>
                    <a:pt x="6709" y="5567"/>
                    <a:pt x="6691" y="5585"/>
                  </a:cubicBezTo>
                  <a:lnTo>
                    <a:pt x="6691" y="5585"/>
                  </a:lnTo>
                  <a:close/>
                  <a:moveTo>
                    <a:pt x="2445" y="6236"/>
                  </a:moveTo>
                  <a:cubicBezTo>
                    <a:pt x="2445" y="6236"/>
                    <a:pt x="2445" y="6236"/>
                    <a:pt x="2445" y="6236"/>
                  </a:cubicBezTo>
                  <a:lnTo>
                    <a:pt x="2445" y="6236"/>
                  </a:lnTo>
                  <a:cubicBezTo>
                    <a:pt x="2445" y="6227"/>
                    <a:pt x="2445" y="6227"/>
                    <a:pt x="2445" y="6218"/>
                  </a:cubicBezTo>
                  <a:lnTo>
                    <a:pt x="2445" y="6218"/>
                  </a:lnTo>
                  <a:lnTo>
                    <a:pt x="4630" y="4631"/>
                  </a:lnTo>
                  <a:cubicBezTo>
                    <a:pt x="4648" y="4648"/>
                    <a:pt x="4666" y="4657"/>
                    <a:pt x="4693" y="4666"/>
                  </a:cubicBezTo>
                  <a:lnTo>
                    <a:pt x="4693" y="4666"/>
                  </a:lnTo>
                  <a:lnTo>
                    <a:pt x="6343" y="7048"/>
                  </a:lnTo>
                  <a:cubicBezTo>
                    <a:pt x="6343" y="7048"/>
                    <a:pt x="6343" y="7057"/>
                    <a:pt x="6334" y="7057"/>
                  </a:cubicBezTo>
                  <a:lnTo>
                    <a:pt x="6334" y="7057"/>
                  </a:lnTo>
                  <a:close/>
                  <a:moveTo>
                    <a:pt x="4764" y="4657"/>
                  </a:moveTo>
                  <a:lnTo>
                    <a:pt x="6664" y="5639"/>
                  </a:lnTo>
                  <a:cubicBezTo>
                    <a:pt x="6664" y="5648"/>
                    <a:pt x="6664" y="5656"/>
                    <a:pt x="6664" y="5656"/>
                  </a:cubicBezTo>
                  <a:lnTo>
                    <a:pt x="6664" y="5656"/>
                  </a:lnTo>
                  <a:cubicBezTo>
                    <a:pt x="6664" y="5692"/>
                    <a:pt x="6682" y="5719"/>
                    <a:pt x="6700" y="5737"/>
                  </a:cubicBezTo>
                  <a:lnTo>
                    <a:pt x="6700" y="5737"/>
                  </a:lnTo>
                  <a:lnTo>
                    <a:pt x="6397" y="7012"/>
                  </a:lnTo>
                  <a:cubicBezTo>
                    <a:pt x="6397" y="7012"/>
                    <a:pt x="6397" y="7012"/>
                    <a:pt x="6397" y="7012"/>
                  </a:cubicBezTo>
                  <a:lnTo>
                    <a:pt x="6397" y="7012"/>
                  </a:lnTo>
                  <a:close/>
                  <a:moveTo>
                    <a:pt x="152" y="5005"/>
                  </a:moveTo>
                  <a:cubicBezTo>
                    <a:pt x="170" y="4987"/>
                    <a:pt x="179" y="4970"/>
                    <a:pt x="187" y="4952"/>
                  </a:cubicBezTo>
                  <a:lnTo>
                    <a:pt x="187" y="4952"/>
                  </a:lnTo>
                  <a:lnTo>
                    <a:pt x="919" y="4978"/>
                  </a:lnTo>
                  <a:cubicBezTo>
                    <a:pt x="919" y="5005"/>
                    <a:pt x="937" y="5032"/>
                    <a:pt x="964" y="5041"/>
                  </a:cubicBezTo>
                  <a:lnTo>
                    <a:pt x="964" y="5041"/>
                  </a:lnTo>
                  <a:lnTo>
                    <a:pt x="732" y="6210"/>
                  </a:lnTo>
                  <a:cubicBezTo>
                    <a:pt x="732" y="6210"/>
                    <a:pt x="723" y="6201"/>
                    <a:pt x="723" y="6201"/>
                  </a:cubicBezTo>
                  <a:lnTo>
                    <a:pt x="723" y="6201"/>
                  </a:lnTo>
                  <a:cubicBezTo>
                    <a:pt x="723" y="6201"/>
                    <a:pt x="714" y="6201"/>
                    <a:pt x="714" y="6210"/>
                  </a:cubicBezTo>
                  <a:lnTo>
                    <a:pt x="714" y="6210"/>
                  </a:lnTo>
                  <a:close/>
                  <a:moveTo>
                    <a:pt x="6825" y="5728"/>
                  </a:moveTo>
                  <a:lnTo>
                    <a:pt x="8591" y="6763"/>
                  </a:lnTo>
                  <a:cubicBezTo>
                    <a:pt x="8591" y="6763"/>
                    <a:pt x="8591" y="6772"/>
                    <a:pt x="8591" y="6780"/>
                  </a:cubicBezTo>
                  <a:lnTo>
                    <a:pt x="8591" y="6780"/>
                  </a:lnTo>
                  <a:cubicBezTo>
                    <a:pt x="8591" y="6789"/>
                    <a:pt x="8591" y="6798"/>
                    <a:pt x="8591" y="6807"/>
                  </a:cubicBezTo>
                  <a:lnTo>
                    <a:pt x="8591" y="6807"/>
                  </a:lnTo>
                  <a:lnTo>
                    <a:pt x="6075" y="8707"/>
                  </a:lnTo>
                  <a:cubicBezTo>
                    <a:pt x="6075" y="8707"/>
                    <a:pt x="6066" y="8707"/>
                    <a:pt x="6066" y="8707"/>
                  </a:cubicBezTo>
                  <a:lnTo>
                    <a:pt x="6066" y="8707"/>
                  </a:lnTo>
                  <a:lnTo>
                    <a:pt x="6423" y="7209"/>
                  </a:lnTo>
                  <a:cubicBezTo>
                    <a:pt x="6423" y="7209"/>
                    <a:pt x="6423" y="7209"/>
                    <a:pt x="6423" y="7209"/>
                  </a:cubicBezTo>
                  <a:lnTo>
                    <a:pt x="6423" y="7209"/>
                  </a:lnTo>
                  <a:cubicBezTo>
                    <a:pt x="6477" y="7209"/>
                    <a:pt x="6521" y="7164"/>
                    <a:pt x="6521" y="7111"/>
                  </a:cubicBezTo>
                  <a:lnTo>
                    <a:pt x="6521" y="7111"/>
                  </a:lnTo>
                  <a:cubicBezTo>
                    <a:pt x="6521" y="7075"/>
                    <a:pt x="6504" y="7039"/>
                    <a:pt x="6477" y="7021"/>
                  </a:cubicBezTo>
                  <a:lnTo>
                    <a:pt x="6477" y="7021"/>
                  </a:lnTo>
                  <a:lnTo>
                    <a:pt x="6762" y="5755"/>
                  </a:lnTo>
                  <a:cubicBezTo>
                    <a:pt x="6762" y="5755"/>
                    <a:pt x="6762" y="5755"/>
                    <a:pt x="6762" y="5755"/>
                  </a:cubicBezTo>
                  <a:lnTo>
                    <a:pt x="6762" y="5755"/>
                  </a:lnTo>
                  <a:cubicBezTo>
                    <a:pt x="6789" y="5755"/>
                    <a:pt x="6807" y="5746"/>
                    <a:pt x="6825" y="5728"/>
                  </a:cubicBezTo>
                  <a:moveTo>
                    <a:pt x="2596" y="7512"/>
                  </a:moveTo>
                  <a:cubicBezTo>
                    <a:pt x="2596" y="7512"/>
                    <a:pt x="2596" y="7512"/>
                    <a:pt x="2596" y="7512"/>
                  </a:cubicBezTo>
                  <a:lnTo>
                    <a:pt x="2596" y="7512"/>
                  </a:lnTo>
                  <a:cubicBezTo>
                    <a:pt x="2596" y="7458"/>
                    <a:pt x="2560" y="7423"/>
                    <a:pt x="2516" y="7414"/>
                  </a:cubicBezTo>
                  <a:lnTo>
                    <a:pt x="2516" y="7414"/>
                  </a:lnTo>
                  <a:lnTo>
                    <a:pt x="2382" y="6326"/>
                  </a:lnTo>
                  <a:cubicBezTo>
                    <a:pt x="2400" y="6317"/>
                    <a:pt x="2409" y="6308"/>
                    <a:pt x="2418" y="6299"/>
                  </a:cubicBezTo>
                  <a:lnTo>
                    <a:pt x="2418" y="6299"/>
                  </a:lnTo>
                  <a:lnTo>
                    <a:pt x="6316" y="7119"/>
                  </a:lnTo>
                  <a:lnTo>
                    <a:pt x="4113" y="8003"/>
                  </a:lnTo>
                  <a:cubicBezTo>
                    <a:pt x="4095" y="7976"/>
                    <a:pt x="4068" y="7967"/>
                    <a:pt x="4032" y="7967"/>
                  </a:cubicBezTo>
                  <a:lnTo>
                    <a:pt x="4032" y="7967"/>
                  </a:lnTo>
                  <a:cubicBezTo>
                    <a:pt x="4006" y="7967"/>
                    <a:pt x="3979" y="7976"/>
                    <a:pt x="3961" y="8003"/>
                  </a:cubicBezTo>
                  <a:lnTo>
                    <a:pt x="3961" y="8003"/>
                  </a:lnTo>
                  <a:close/>
                  <a:moveTo>
                    <a:pt x="4131" y="8074"/>
                  </a:moveTo>
                  <a:cubicBezTo>
                    <a:pt x="4131" y="8065"/>
                    <a:pt x="4131" y="8065"/>
                    <a:pt x="4131" y="8065"/>
                  </a:cubicBezTo>
                  <a:lnTo>
                    <a:pt x="4131" y="8065"/>
                  </a:lnTo>
                  <a:cubicBezTo>
                    <a:pt x="4131" y="8065"/>
                    <a:pt x="4131" y="8056"/>
                    <a:pt x="4131" y="8056"/>
                  </a:cubicBezTo>
                  <a:lnTo>
                    <a:pt x="4131" y="8056"/>
                  </a:lnTo>
                  <a:lnTo>
                    <a:pt x="6343" y="7173"/>
                  </a:lnTo>
                  <a:cubicBezTo>
                    <a:pt x="6352" y="7173"/>
                    <a:pt x="6352" y="7182"/>
                    <a:pt x="6361" y="7182"/>
                  </a:cubicBezTo>
                  <a:lnTo>
                    <a:pt x="6361" y="7182"/>
                  </a:lnTo>
                  <a:lnTo>
                    <a:pt x="6004" y="8690"/>
                  </a:lnTo>
                  <a:cubicBezTo>
                    <a:pt x="5977" y="8699"/>
                    <a:pt x="5959" y="8707"/>
                    <a:pt x="5942" y="8725"/>
                  </a:cubicBezTo>
                  <a:lnTo>
                    <a:pt x="5942" y="8725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8" name="Google Shape;818;p73"/>
          <p:cNvSpPr/>
          <p:nvPr/>
        </p:nvSpPr>
        <p:spPr>
          <a:xfrm>
            <a:off x="7464915" y="1230392"/>
            <a:ext cx="660023" cy="660100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73"/>
          <p:cNvSpPr/>
          <p:nvPr/>
        </p:nvSpPr>
        <p:spPr>
          <a:xfrm>
            <a:off x="5062740" y="3110817"/>
            <a:ext cx="660023" cy="660100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73"/>
          <p:cNvSpPr/>
          <p:nvPr/>
        </p:nvSpPr>
        <p:spPr>
          <a:xfrm>
            <a:off x="7063573" y="3110827"/>
            <a:ext cx="327012" cy="327044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73"/>
          <p:cNvSpPr/>
          <p:nvPr/>
        </p:nvSpPr>
        <p:spPr>
          <a:xfrm>
            <a:off x="5260079" y="372478"/>
            <a:ext cx="945630" cy="945730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73"/>
          <p:cNvSpPr/>
          <p:nvPr/>
        </p:nvSpPr>
        <p:spPr>
          <a:xfrm>
            <a:off x="5062747" y="1480390"/>
            <a:ext cx="238346" cy="238372"/>
          </a:xfrm>
          <a:custGeom>
            <a:rect b="b" l="l" r="r" t="t"/>
            <a:pathLst>
              <a:path extrusionOk="0" h="4810" w="4809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3" name="Google Shape;82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250" y="2986625"/>
            <a:ext cx="3118700" cy="1427029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 App Pitch Deck Blue Variant by Slidesgo">
  <a:themeElements>
    <a:clrScheme name="Simple Light">
      <a:dk1>
        <a:srgbClr val="FFFFFF"/>
      </a:dk1>
      <a:lt1>
        <a:srgbClr val="191D30"/>
      </a:lt1>
      <a:dk2>
        <a:srgbClr val="B5C4FC"/>
      </a:dk2>
      <a:lt2>
        <a:srgbClr val="4B6EF8"/>
      </a:lt2>
      <a:accent1>
        <a:srgbClr val="131E4B"/>
      </a:accent1>
      <a:accent2>
        <a:srgbClr val="3327CF"/>
      </a:accent2>
      <a:accent3>
        <a:srgbClr val="68CAFB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